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 id="2147483702" r:id="rId2"/>
    <p:sldMasterId id="2147483705" r:id="rId3"/>
  </p:sldMasterIdLst>
  <p:notesMasterIdLst>
    <p:notesMasterId r:id="rId38"/>
  </p:notesMasterIdLst>
  <p:sldIdLst>
    <p:sldId id="256" r:id="rId4"/>
    <p:sldId id="257" r:id="rId5"/>
    <p:sldId id="282" r:id="rId6"/>
    <p:sldId id="259" r:id="rId7"/>
    <p:sldId id="260" r:id="rId8"/>
    <p:sldId id="261"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 id="285" r:id="rId29"/>
    <p:sldId id="286" r:id="rId30"/>
    <p:sldId id="287" r:id="rId31"/>
    <p:sldId id="288" r:id="rId32"/>
    <p:sldId id="289" r:id="rId33"/>
    <p:sldId id="290" r:id="rId34"/>
    <p:sldId id="291" r:id="rId35"/>
    <p:sldId id="292" r:id="rId36"/>
    <p:sldId id="293" r:id="rId3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75" autoAdjust="0"/>
    <p:restoredTop sz="94610"/>
  </p:normalViewPr>
  <p:slideViewPr>
    <p:cSldViewPr snapToGrid="0" snapToObjects="1">
      <p:cViewPr varScale="1">
        <p:scale>
          <a:sx n="60" d="100"/>
          <a:sy n="60" d="100"/>
        </p:scale>
        <p:origin x="72"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78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075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426769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267437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583667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989380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115584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036504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373888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4646152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244699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67352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06776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801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7/18/2026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3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2937604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35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14.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7/18/2026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12789278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7/18/2026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25929944"/>
      </p:ext>
    </p:extLst>
  </p:cSld>
  <p:clrMap bg1="lt1" tx1="dk1" bg2="lt2" tx2="dk2" accent1="accent1" accent2="accent2" accent3="accent3" accent4="accent4" accent5="accent5" accent6="accent6" hlink="hlink" folHlink="folHlink"/>
  <p:sldLayoutIdLst>
    <p:sldLayoutId id="2147483703" r:id="rId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7/18/2026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75104789"/>
      </p:ext>
    </p:extLst>
  </p:cSld>
  <p:clrMap bg1="lt1" tx1="dk1" bg2="lt2" tx2="dk2" accent1="accent1" accent2="accent2" accent3="accent3" accent4="accent4" accent5="accent5" accent6="accent6" hlink="hlink" folHlink="folHlink"/>
  <p:sldLayoutIdLst>
    <p:sldLayoutId id="2147483706" r:id="rId1"/>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jpeg"/><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18.jpeg"/><Relationship Id="rId5" Type="http://schemas.openxmlformats.org/officeDocument/2006/relationships/image" Target="../media/image17.sv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982712" y="0"/>
            <a:ext cx="4206240" cy="6858000"/>
          </a:xfrm>
          <a:prstGeom prst="rect">
            <a:avLst/>
          </a:prstGeom>
          <a:solidFill>
            <a:srgbClr val="111111"/>
          </a:solidFill>
          <a:ln/>
        </p:spPr>
      </p:sp>
      <p:sp>
        <p:nvSpPr>
          <p:cNvPr id="3" name="Text 1"/>
          <p:cNvSpPr/>
          <p:nvPr/>
        </p:nvSpPr>
        <p:spPr>
          <a:xfrm>
            <a:off x="7982712" y="2331720"/>
            <a:ext cx="420624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2020</a:t>
            </a:r>
            <a:endParaRPr lang="en-US" sz="4000" dirty="0"/>
          </a:p>
        </p:txBody>
      </p:sp>
      <p:sp>
        <p:nvSpPr>
          <p:cNvPr id="4" name="Text 2"/>
          <p:cNvSpPr/>
          <p:nvPr/>
        </p:nvSpPr>
        <p:spPr>
          <a:xfrm>
            <a:off x="7982712" y="3063240"/>
            <a:ext cx="4206240" cy="457200"/>
          </a:xfrm>
          <a:prstGeom prst="rect">
            <a:avLst/>
          </a:prstGeom>
          <a:noFill/>
          <a:ln/>
        </p:spPr>
        <p:txBody>
          <a:bodyPr wrap="square" lIns="0" tIns="0" rIns="0" bIns="0" rtlCol="0" anchor="ctr"/>
          <a:lstStyle/>
          <a:p>
            <a:pPr marL="0" indent="0" algn="ctr">
              <a:buNone/>
            </a:pPr>
            <a:r>
              <a:rPr lang="en-US" sz="1600" b="1" kern="0" spc="400" dirty="0">
                <a:solidFill>
                  <a:srgbClr val="9A9A9A"/>
                </a:solidFill>
                <a:latin typeface="Arial" pitchFamily="34" charset="0"/>
                <a:ea typeface="Arial" pitchFamily="34" charset="-122"/>
                <a:cs typeface="Arial" pitchFamily="34" charset="-120"/>
              </a:rPr>
              <a:t>VS</a:t>
            </a:r>
            <a:endParaRPr lang="en-US" sz="1600" dirty="0"/>
          </a:p>
        </p:txBody>
      </p:sp>
      <p:sp>
        <p:nvSpPr>
          <p:cNvPr id="5" name="Text 3"/>
          <p:cNvSpPr/>
          <p:nvPr/>
        </p:nvSpPr>
        <p:spPr>
          <a:xfrm>
            <a:off x="7982712" y="3520440"/>
            <a:ext cx="420624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2021</a:t>
            </a:r>
            <a:endParaRPr lang="en-US" sz="4000" dirty="0"/>
          </a:p>
        </p:txBody>
      </p:sp>
      <p:sp>
        <p:nvSpPr>
          <p:cNvPr id="6" name="Text 4"/>
          <p:cNvSpPr/>
          <p:nvPr/>
        </p:nvSpPr>
        <p:spPr>
          <a:xfrm>
            <a:off x="822960" y="2148840"/>
            <a:ext cx="6519672" cy="365760"/>
          </a:xfrm>
          <a:prstGeom prst="rect">
            <a:avLst/>
          </a:prstGeom>
          <a:noFill/>
          <a:ln/>
        </p:spPr>
        <p:txBody>
          <a:bodyPr wrap="square" lIns="0" tIns="0" rIns="0" bIns="0" rtlCol="0" anchor="ctr"/>
          <a:lstStyle/>
          <a:p>
            <a:pPr marL="0" indent="0" algn="l">
              <a:buNone/>
            </a:pPr>
            <a:r>
              <a:rPr lang="en-US" sz="1300" b="1" kern="0" spc="300" dirty="0">
                <a:solidFill>
                  <a:srgbClr val="6B6B6B"/>
                </a:solidFill>
                <a:latin typeface="Arial" pitchFamily="34" charset="0"/>
                <a:ea typeface="Arial" pitchFamily="34" charset="-122"/>
                <a:cs typeface="Arial" pitchFamily="34" charset="-120"/>
              </a:rPr>
              <a:t>SALES PERFORMANCE REPORT</a:t>
            </a:r>
            <a:endParaRPr lang="en-US" sz="1300" dirty="0"/>
          </a:p>
        </p:txBody>
      </p:sp>
      <p:sp>
        <p:nvSpPr>
          <p:cNvPr id="7" name="Text 5"/>
          <p:cNvSpPr/>
          <p:nvPr/>
        </p:nvSpPr>
        <p:spPr>
          <a:xfrm>
            <a:off x="822960" y="2514600"/>
            <a:ext cx="6519672" cy="1005840"/>
          </a:xfrm>
          <a:prstGeom prst="rect">
            <a:avLst/>
          </a:prstGeom>
          <a:noFill/>
          <a:ln/>
        </p:spPr>
        <p:txBody>
          <a:bodyPr wrap="square" lIns="0" tIns="0" rIns="0" bIns="0" rtlCol="0" anchor="ctr"/>
          <a:lstStyle/>
          <a:p>
            <a:pPr marL="0" indent="0" algn="l">
              <a:buNone/>
            </a:pPr>
            <a:r>
              <a:rPr lang="en-US" sz="5400" b="1" dirty="0">
                <a:solidFill>
                  <a:srgbClr val="111111"/>
                </a:solidFill>
                <a:latin typeface="Georgia" pitchFamily="34" charset="0"/>
                <a:ea typeface="Georgia" pitchFamily="34" charset="-122"/>
                <a:cs typeface="Georgia" pitchFamily="34" charset="-120"/>
              </a:rPr>
              <a:t>Adidas</a:t>
            </a:r>
            <a:endParaRPr lang="en-US" sz="5400" dirty="0"/>
          </a:p>
        </p:txBody>
      </p:sp>
      <p:sp>
        <p:nvSpPr>
          <p:cNvPr id="8" name="Text 6"/>
          <p:cNvSpPr/>
          <p:nvPr/>
        </p:nvSpPr>
        <p:spPr>
          <a:xfrm>
            <a:off x="822960" y="3429000"/>
            <a:ext cx="6519672" cy="548640"/>
          </a:xfrm>
          <a:prstGeom prst="rect">
            <a:avLst/>
          </a:prstGeom>
          <a:noFill/>
          <a:ln/>
        </p:spPr>
        <p:txBody>
          <a:bodyPr wrap="square" lIns="0" tIns="0" rIns="0" bIns="0" rtlCol="0" anchor="ctr"/>
          <a:lstStyle/>
          <a:p>
            <a:pPr marL="0" indent="0" algn="l">
              <a:buNone/>
            </a:pPr>
            <a:r>
              <a:rPr lang="en-US" sz="2000" dirty="0">
                <a:solidFill>
                  <a:srgbClr val="333333"/>
                </a:solidFill>
                <a:latin typeface="Arial" pitchFamily="34" charset="0"/>
                <a:ea typeface="Arial" pitchFamily="34" charset="-122"/>
                <a:cs typeface="Arial" pitchFamily="34" charset="-120"/>
              </a:rPr>
              <a:t>A Comparative Sales Analysis: 2020 vs. 2021</a:t>
            </a:r>
            <a:endParaRPr lang="en-US" sz="2000" dirty="0"/>
          </a:p>
        </p:txBody>
      </p:sp>
      <p:sp>
        <p:nvSpPr>
          <p:cNvPr id="9" name="Text 7"/>
          <p:cNvSpPr/>
          <p:nvPr/>
        </p:nvSpPr>
        <p:spPr>
          <a:xfrm>
            <a:off x="822960" y="5989320"/>
            <a:ext cx="6519672" cy="320040"/>
          </a:xfrm>
          <a:prstGeom prst="rect">
            <a:avLst/>
          </a:prstGeom>
          <a:noFill/>
          <a:ln/>
        </p:spPr>
        <p:txBody>
          <a:bodyPr wrap="square" lIns="0" tIns="0" rIns="0" bIns="0" rtlCol="0" anchor="ctr"/>
          <a:lstStyle/>
          <a:p>
            <a:pPr marL="0" indent="0" algn="l">
              <a:buNone/>
            </a:pPr>
            <a:r>
              <a:rPr lang="en-US" sz="1300" i="1" dirty="0">
                <a:solidFill>
                  <a:srgbClr val="6B6B6B"/>
                </a:solidFill>
                <a:latin typeface="Arial" pitchFamily="34" charset="0"/>
                <a:ea typeface="Arial" pitchFamily="34" charset="-122"/>
                <a:cs typeface="Arial" pitchFamily="34" charset="-120"/>
              </a:rPr>
              <a:t>Prepared by Beatrice Wambui</a:t>
            </a:r>
            <a:endParaRPr lang="en-US" sz="1300" dirty="0"/>
          </a:p>
        </p:txBody>
      </p:sp>
      <p:sp>
        <p:nvSpPr>
          <p:cNvPr id="10" name="Text 8"/>
          <p:cNvSpPr/>
          <p:nvPr/>
        </p:nvSpPr>
        <p:spPr>
          <a:xfrm>
            <a:off x="822960" y="6309360"/>
            <a:ext cx="6519672" cy="320040"/>
          </a:xfrm>
          <a:prstGeom prst="rect">
            <a:avLst/>
          </a:prstGeom>
          <a:noFill/>
          <a:ln/>
        </p:spPr>
        <p:txBody>
          <a:bodyPr wrap="square" lIns="0" tIns="0" rIns="0" bIns="0" rtlCol="0" anchor="ctr"/>
          <a:lstStyle/>
          <a:p>
            <a:pPr marL="0" indent="0" algn="l">
              <a:buNone/>
            </a:pPr>
            <a:r>
              <a:rPr lang="en-US" sz="1200" dirty="0">
                <a:solidFill>
                  <a:srgbClr val="6B6B6B"/>
                </a:solidFill>
                <a:latin typeface="Arial" pitchFamily="34" charset="0"/>
                <a:ea typeface="Arial" pitchFamily="34" charset="-122"/>
                <a:cs typeface="Arial" pitchFamily="34" charset="-120"/>
              </a:rPr>
              <a:t>July 2026  |  Internal Use Only</a:t>
            </a:r>
            <a:endParaRPr lang="en-US" sz="1200" dirty="0"/>
          </a:p>
        </p:txBody>
      </p:sp>
      <p:pic>
        <p:nvPicPr>
          <p:cNvPr id="12" name="Picture 11">
            <a:extLst>
              <a:ext uri="{FF2B5EF4-FFF2-40B4-BE49-F238E27FC236}">
                <a16:creationId xmlns:a16="http://schemas.microsoft.com/office/drawing/2014/main" id="{1280DDF9-1601-5239-3C39-A9E39C651944}"/>
              </a:ext>
            </a:extLst>
          </p:cNvPr>
          <p:cNvPicPr>
            <a:picLocks noChangeAspect="1"/>
          </p:cNvPicPr>
          <p:nvPr/>
        </p:nvPicPr>
        <p:blipFill>
          <a:blip r:embed="rId3"/>
          <a:stretch>
            <a:fillRect/>
          </a:stretch>
        </p:blipFill>
        <p:spPr>
          <a:xfrm>
            <a:off x="3642359" y="2531363"/>
            <a:ext cx="880873" cy="8808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6">
            <a:extLst>
              <a:ext uri="{FF2B5EF4-FFF2-40B4-BE49-F238E27FC236}">
                <a16:creationId xmlns:a16="http://schemas.microsoft.com/office/drawing/2014/main" id="{FFB89E6B-566E-8D05-E8F9-0B734962B64F}"/>
              </a:ext>
            </a:extLst>
          </p:cNvPr>
          <p:cNvSpPr/>
          <p:nvPr/>
        </p:nvSpPr>
        <p:spPr>
          <a:xfrm>
            <a:off x="8366760" y="2880360"/>
            <a:ext cx="3822192" cy="1051560"/>
          </a:xfrm>
          <a:prstGeom prst="rect">
            <a:avLst/>
          </a:prstGeom>
          <a:solidFill>
            <a:srgbClr val="111111"/>
          </a:solidFill>
          <a:ln/>
        </p:spPr>
      </p:sp>
      <p:sp>
        <p:nvSpPr>
          <p:cNvPr id="3" name="Text 17">
            <a:extLst>
              <a:ext uri="{FF2B5EF4-FFF2-40B4-BE49-F238E27FC236}">
                <a16:creationId xmlns:a16="http://schemas.microsoft.com/office/drawing/2014/main" id="{26C8611E-2916-78B5-D03B-FEF4ADFC3667}"/>
              </a:ext>
            </a:extLst>
          </p:cNvPr>
          <p:cNvSpPr/>
          <p:nvPr/>
        </p:nvSpPr>
        <p:spPr>
          <a:xfrm>
            <a:off x="8366760" y="2880360"/>
            <a:ext cx="3822192" cy="1051560"/>
          </a:xfrm>
          <a:prstGeom prst="rect">
            <a:avLst/>
          </a:prstGeom>
          <a:noFill/>
          <a:ln/>
        </p:spPr>
        <p:txBody>
          <a:bodyPr wrap="square" lIns="0" tIns="0" rIns="0" bIns="0" rtlCol="0" anchor="ctr"/>
          <a:lstStyle/>
          <a:p>
            <a:pPr marL="0" indent="0" algn="ctr">
              <a:buNone/>
            </a:pPr>
            <a:r>
              <a:rPr lang="en-US" sz="2200" b="1" kern="0" spc="500" dirty="0">
                <a:solidFill>
                  <a:srgbClr val="F5E6A8"/>
                </a:solidFill>
                <a:latin typeface="Georgia" pitchFamily="34" charset="0"/>
                <a:ea typeface="Georgia" pitchFamily="34" charset="-122"/>
                <a:cs typeface="Georgia" pitchFamily="34" charset="-120"/>
              </a:rPr>
              <a:t>TABLE OF CONTENT</a:t>
            </a:r>
            <a:endParaRPr lang="en-US" sz="2200" dirty="0"/>
          </a:p>
        </p:txBody>
      </p:sp>
      <p:sp>
        <p:nvSpPr>
          <p:cNvPr id="4" name="Shape 18">
            <a:extLst>
              <a:ext uri="{FF2B5EF4-FFF2-40B4-BE49-F238E27FC236}">
                <a16:creationId xmlns:a16="http://schemas.microsoft.com/office/drawing/2014/main" id="{4B18D92B-97E2-68B1-A647-EC3CE4B43FFD}"/>
              </a:ext>
            </a:extLst>
          </p:cNvPr>
          <p:cNvSpPr/>
          <p:nvPr/>
        </p:nvSpPr>
        <p:spPr>
          <a:xfrm>
            <a:off x="822960" y="1691640"/>
            <a:ext cx="457200" cy="457200"/>
          </a:xfrm>
          <a:prstGeom prst="ellipse">
            <a:avLst/>
          </a:prstGeom>
          <a:solidFill>
            <a:srgbClr val="111111"/>
          </a:solidFill>
          <a:ln/>
        </p:spPr>
      </p:sp>
      <p:sp>
        <p:nvSpPr>
          <p:cNvPr id="5" name="Text 19">
            <a:extLst>
              <a:ext uri="{FF2B5EF4-FFF2-40B4-BE49-F238E27FC236}">
                <a16:creationId xmlns:a16="http://schemas.microsoft.com/office/drawing/2014/main" id="{CE2D36A7-C578-D9C4-30D2-0A590768EC5C}"/>
              </a:ext>
            </a:extLst>
          </p:cNvPr>
          <p:cNvSpPr/>
          <p:nvPr/>
        </p:nvSpPr>
        <p:spPr>
          <a:xfrm>
            <a:off x="822960" y="16916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20">
            <a:extLst>
              <a:ext uri="{FF2B5EF4-FFF2-40B4-BE49-F238E27FC236}">
                <a16:creationId xmlns:a16="http://schemas.microsoft.com/office/drawing/2014/main" id="{0AA59966-2E30-3DF4-7370-AAA157FAC843}"/>
              </a:ext>
            </a:extLst>
          </p:cNvPr>
          <p:cNvSpPr/>
          <p:nvPr/>
        </p:nvSpPr>
        <p:spPr>
          <a:xfrm>
            <a:off x="1463040" y="1581912"/>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Executive Summary</a:t>
            </a:r>
            <a:endParaRPr lang="en-US" sz="1500" dirty="0"/>
          </a:p>
        </p:txBody>
      </p:sp>
      <p:sp>
        <p:nvSpPr>
          <p:cNvPr id="7" name="Shape 21">
            <a:extLst>
              <a:ext uri="{FF2B5EF4-FFF2-40B4-BE49-F238E27FC236}">
                <a16:creationId xmlns:a16="http://schemas.microsoft.com/office/drawing/2014/main" id="{9D06248E-C125-AFAF-26A0-4C7645950377}"/>
              </a:ext>
            </a:extLst>
          </p:cNvPr>
          <p:cNvSpPr/>
          <p:nvPr/>
        </p:nvSpPr>
        <p:spPr>
          <a:xfrm>
            <a:off x="822960" y="2441448"/>
            <a:ext cx="457200" cy="457200"/>
          </a:xfrm>
          <a:prstGeom prst="ellipse">
            <a:avLst/>
          </a:prstGeom>
          <a:solidFill>
            <a:srgbClr val="111111"/>
          </a:solidFill>
          <a:ln/>
        </p:spPr>
      </p:sp>
      <p:sp>
        <p:nvSpPr>
          <p:cNvPr id="8" name="Text 22">
            <a:extLst>
              <a:ext uri="{FF2B5EF4-FFF2-40B4-BE49-F238E27FC236}">
                <a16:creationId xmlns:a16="http://schemas.microsoft.com/office/drawing/2014/main" id="{F544A6CC-C8C1-E674-554B-CD10780A6413}"/>
              </a:ext>
            </a:extLst>
          </p:cNvPr>
          <p:cNvSpPr/>
          <p:nvPr/>
        </p:nvSpPr>
        <p:spPr>
          <a:xfrm>
            <a:off x="822960" y="24414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9" name="Text 23">
            <a:extLst>
              <a:ext uri="{FF2B5EF4-FFF2-40B4-BE49-F238E27FC236}">
                <a16:creationId xmlns:a16="http://schemas.microsoft.com/office/drawing/2014/main" id="{02549F62-D6E1-A922-9D5C-3C1E85CB5D0E}"/>
              </a:ext>
            </a:extLst>
          </p:cNvPr>
          <p:cNvSpPr/>
          <p:nvPr/>
        </p:nvSpPr>
        <p:spPr>
          <a:xfrm>
            <a:off x="1463040" y="2331720"/>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Business Objective</a:t>
            </a:r>
            <a:endParaRPr lang="en-US" sz="1500" dirty="0"/>
          </a:p>
        </p:txBody>
      </p:sp>
      <p:sp>
        <p:nvSpPr>
          <p:cNvPr id="10" name="Shape 24">
            <a:extLst>
              <a:ext uri="{FF2B5EF4-FFF2-40B4-BE49-F238E27FC236}">
                <a16:creationId xmlns:a16="http://schemas.microsoft.com/office/drawing/2014/main" id="{6C64939C-710B-AD85-E187-F55A9BE9CF5C}"/>
              </a:ext>
            </a:extLst>
          </p:cNvPr>
          <p:cNvSpPr/>
          <p:nvPr/>
        </p:nvSpPr>
        <p:spPr>
          <a:xfrm>
            <a:off x="822960" y="3191256"/>
            <a:ext cx="457200" cy="457200"/>
          </a:xfrm>
          <a:prstGeom prst="ellipse">
            <a:avLst/>
          </a:prstGeom>
          <a:solidFill>
            <a:srgbClr val="111111"/>
          </a:solidFill>
          <a:ln/>
        </p:spPr>
      </p:sp>
      <p:sp>
        <p:nvSpPr>
          <p:cNvPr id="11" name="Text 25">
            <a:extLst>
              <a:ext uri="{FF2B5EF4-FFF2-40B4-BE49-F238E27FC236}">
                <a16:creationId xmlns:a16="http://schemas.microsoft.com/office/drawing/2014/main" id="{EEF1A76B-9E42-B4BA-474F-159847A60040}"/>
              </a:ext>
            </a:extLst>
          </p:cNvPr>
          <p:cNvSpPr/>
          <p:nvPr/>
        </p:nvSpPr>
        <p:spPr>
          <a:xfrm>
            <a:off x="822960" y="319125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 name="Text 26">
            <a:extLst>
              <a:ext uri="{FF2B5EF4-FFF2-40B4-BE49-F238E27FC236}">
                <a16:creationId xmlns:a16="http://schemas.microsoft.com/office/drawing/2014/main" id="{773B6380-C1D9-9A5F-CB0E-53716E12C192}"/>
              </a:ext>
            </a:extLst>
          </p:cNvPr>
          <p:cNvSpPr/>
          <p:nvPr/>
        </p:nvSpPr>
        <p:spPr>
          <a:xfrm>
            <a:off x="1463040" y="3081528"/>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Methodology</a:t>
            </a:r>
            <a:endParaRPr lang="en-US" sz="1500" dirty="0"/>
          </a:p>
        </p:txBody>
      </p:sp>
      <p:sp>
        <p:nvSpPr>
          <p:cNvPr id="13" name="Shape 27">
            <a:extLst>
              <a:ext uri="{FF2B5EF4-FFF2-40B4-BE49-F238E27FC236}">
                <a16:creationId xmlns:a16="http://schemas.microsoft.com/office/drawing/2014/main" id="{28E5B8AC-910F-51CA-0703-ECB926B0DE39}"/>
              </a:ext>
            </a:extLst>
          </p:cNvPr>
          <p:cNvSpPr/>
          <p:nvPr/>
        </p:nvSpPr>
        <p:spPr>
          <a:xfrm>
            <a:off x="822960" y="3941064"/>
            <a:ext cx="457200" cy="457200"/>
          </a:xfrm>
          <a:prstGeom prst="ellipse">
            <a:avLst/>
          </a:prstGeom>
          <a:solidFill>
            <a:srgbClr val="111111"/>
          </a:solidFill>
          <a:ln/>
        </p:spPr>
      </p:sp>
      <p:sp>
        <p:nvSpPr>
          <p:cNvPr id="14" name="Text 28">
            <a:extLst>
              <a:ext uri="{FF2B5EF4-FFF2-40B4-BE49-F238E27FC236}">
                <a16:creationId xmlns:a16="http://schemas.microsoft.com/office/drawing/2014/main" id="{83EB875E-68C6-BE2D-23F6-BA21F120AFF9}"/>
              </a:ext>
            </a:extLst>
          </p:cNvPr>
          <p:cNvSpPr/>
          <p:nvPr/>
        </p:nvSpPr>
        <p:spPr>
          <a:xfrm>
            <a:off x="822960" y="39410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Text 29">
            <a:extLst>
              <a:ext uri="{FF2B5EF4-FFF2-40B4-BE49-F238E27FC236}">
                <a16:creationId xmlns:a16="http://schemas.microsoft.com/office/drawing/2014/main" id="{9F4DD358-C83B-1166-90B6-5FD5BA72D112}"/>
              </a:ext>
            </a:extLst>
          </p:cNvPr>
          <p:cNvSpPr/>
          <p:nvPr/>
        </p:nvSpPr>
        <p:spPr>
          <a:xfrm>
            <a:off x="1463040" y="3831336"/>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Key Performance Indicators</a:t>
            </a:r>
            <a:endParaRPr lang="en-US" sz="1500" dirty="0"/>
          </a:p>
        </p:txBody>
      </p:sp>
      <p:sp>
        <p:nvSpPr>
          <p:cNvPr id="16" name="Shape 30">
            <a:extLst>
              <a:ext uri="{FF2B5EF4-FFF2-40B4-BE49-F238E27FC236}">
                <a16:creationId xmlns:a16="http://schemas.microsoft.com/office/drawing/2014/main" id="{27ABC49C-0E95-0745-9E4B-B61522D03041}"/>
              </a:ext>
            </a:extLst>
          </p:cNvPr>
          <p:cNvSpPr/>
          <p:nvPr/>
        </p:nvSpPr>
        <p:spPr>
          <a:xfrm>
            <a:off x="822960" y="4690872"/>
            <a:ext cx="457200" cy="457200"/>
          </a:xfrm>
          <a:prstGeom prst="ellipse">
            <a:avLst/>
          </a:prstGeom>
          <a:solidFill>
            <a:srgbClr val="111111"/>
          </a:solidFill>
          <a:ln/>
        </p:spPr>
      </p:sp>
      <p:sp>
        <p:nvSpPr>
          <p:cNvPr id="17" name="Text 31">
            <a:extLst>
              <a:ext uri="{FF2B5EF4-FFF2-40B4-BE49-F238E27FC236}">
                <a16:creationId xmlns:a16="http://schemas.microsoft.com/office/drawing/2014/main" id="{0BE4066B-F477-A12E-B406-0B67FCA3AEB8}"/>
              </a:ext>
            </a:extLst>
          </p:cNvPr>
          <p:cNvSpPr/>
          <p:nvPr/>
        </p:nvSpPr>
        <p:spPr>
          <a:xfrm>
            <a:off x="822960" y="46908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Text 32">
            <a:extLst>
              <a:ext uri="{FF2B5EF4-FFF2-40B4-BE49-F238E27FC236}">
                <a16:creationId xmlns:a16="http://schemas.microsoft.com/office/drawing/2014/main" id="{D7F9AC3A-68CD-1068-AA6E-6F740D778BE4}"/>
              </a:ext>
            </a:extLst>
          </p:cNvPr>
          <p:cNvSpPr/>
          <p:nvPr/>
        </p:nvSpPr>
        <p:spPr>
          <a:xfrm>
            <a:off x="1463040" y="4581144"/>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Dataset Overview &amp; Data Dictionary</a:t>
            </a:r>
            <a:endParaRPr lang="en-US" sz="1500" dirty="0"/>
          </a:p>
        </p:txBody>
      </p:sp>
      <p:sp>
        <p:nvSpPr>
          <p:cNvPr id="19" name="Shape 33">
            <a:extLst>
              <a:ext uri="{FF2B5EF4-FFF2-40B4-BE49-F238E27FC236}">
                <a16:creationId xmlns:a16="http://schemas.microsoft.com/office/drawing/2014/main" id="{ECE00FD9-216C-6BD8-F2BB-BA160A8DC67F}"/>
              </a:ext>
            </a:extLst>
          </p:cNvPr>
          <p:cNvSpPr/>
          <p:nvPr/>
        </p:nvSpPr>
        <p:spPr>
          <a:xfrm>
            <a:off x="4160520" y="1691640"/>
            <a:ext cx="457200" cy="457200"/>
          </a:xfrm>
          <a:prstGeom prst="ellipse">
            <a:avLst/>
          </a:prstGeom>
          <a:solidFill>
            <a:srgbClr val="111111"/>
          </a:solidFill>
          <a:ln/>
        </p:spPr>
      </p:sp>
      <p:sp>
        <p:nvSpPr>
          <p:cNvPr id="20" name="Text 34">
            <a:extLst>
              <a:ext uri="{FF2B5EF4-FFF2-40B4-BE49-F238E27FC236}">
                <a16:creationId xmlns:a16="http://schemas.microsoft.com/office/drawing/2014/main" id="{291E3AF7-8AA6-6F9E-B05E-28264CD7462F}"/>
              </a:ext>
            </a:extLst>
          </p:cNvPr>
          <p:cNvSpPr/>
          <p:nvPr/>
        </p:nvSpPr>
        <p:spPr>
          <a:xfrm>
            <a:off x="4160520" y="16916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Text 35">
            <a:extLst>
              <a:ext uri="{FF2B5EF4-FFF2-40B4-BE49-F238E27FC236}">
                <a16:creationId xmlns:a16="http://schemas.microsoft.com/office/drawing/2014/main" id="{761083B8-547E-64DB-5295-EB5C68D519D4}"/>
              </a:ext>
            </a:extLst>
          </p:cNvPr>
          <p:cNvSpPr/>
          <p:nvPr/>
        </p:nvSpPr>
        <p:spPr>
          <a:xfrm>
            <a:off x="4800600" y="1581912"/>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SQL Analysis &amp; Findings</a:t>
            </a:r>
            <a:endParaRPr lang="en-US" sz="1500" dirty="0"/>
          </a:p>
        </p:txBody>
      </p:sp>
      <p:sp>
        <p:nvSpPr>
          <p:cNvPr id="22" name="Shape 36">
            <a:extLst>
              <a:ext uri="{FF2B5EF4-FFF2-40B4-BE49-F238E27FC236}">
                <a16:creationId xmlns:a16="http://schemas.microsoft.com/office/drawing/2014/main" id="{C9481E26-B019-6681-5915-29C3D3A89394}"/>
              </a:ext>
            </a:extLst>
          </p:cNvPr>
          <p:cNvSpPr/>
          <p:nvPr/>
        </p:nvSpPr>
        <p:spPr>
          <a:xfrm>
            <a:off x="4160520" y="2441448"/>
            <a:ext cx="457200" cy="457200"/>
          </a:xfrm>
          <a:prstGeom prst="ellipse">
            <a:avLst/>
          </a:prstGeom>
          <a:solidFill>
            <a:srgbClr val="111111"/>
          </a:solidFill>
          <a:ln/>
        </p:spPr>
      </p:sp>
      <p:sp>
        <p:nvSpPr>
          <p:cNvPr id="23" name="Text 37">
            <a:extLst>
              <a:ext uri="{FF2B5EF4-FFF2-40B4-BE49-F238E27FC236}">
                <a16:creationId xmlns:a16="http://schemas.microsoft.com/office/drawing/2014/main" id="{54A12D14-74D0-FDA7-C4D3-E4AC64289F60}"/>
              </a:ext>
            </a:extLst>
          </p:cNvPr>
          <p:cNvSpPr/>
          <p:nvPr/>
        </p:nvSpPr>
        <p:spPr>
          <a:xfrm>
            <a:off x="4160520" y="244144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4" name="Text 38">
            <a:extLst>
              <a:ext uri="{FF2B5EF4-FFF2-40B4-BE49-F238E27FC236}">
                <a16:creationId xmlns:a16="http://schemas.microsoft.com/office/drawing/2014/main" id="{C70C7B0F-200D-2807-B996-2AB7D1FF6684}"/>
              </a:ext>
            </a:extLst>
          </p:cNvPr>
          <p:cNvSpPr/>
          <p:nvPr/>
        </p:nvSpPr>
        <p:spPr>
          <a:xfrm>
            <a:off x="4800600" y="2331720"/>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Key Insights</a:t>
            </a:r>
            <a:endParaRPr lang="en-US" sz="1500" dirty="0"/>
          </a:p>
        </p:txBody>
      </p:sp>
      <p:sp>
        <p:nvSpPr>
          <p:cNvPr id="25" name="Shape 39">
            <a:extLst>
              <a:ext uri="{FF2B5EF4-FFF2-40B4-BE49-F238E27FC236}">
                <a16:creationId xmlns:a16="http://schemas.microsoft.com/office/drawing/2014/main" id="{E30EC907-4C84-DC41-BA0B-E5FF41450BC8}"/>
              </a:ext>
            </a:extLst>
          </p:cNvPr>
          <p:cNvSpPr/>
          <p:nvPr/>
        </p:nvSpPr>
        <p:spPr>
          <a:xfrm>
            <a:off x="4160520" y="3191256"/>
            <a:ext cx="457200" cy="457200"/>
          </a:xfrm>
          <a:prstGeom prst="ellipse">
            <a:avLst/>
          </a:prstGeom>
          <a:solidFill>
            <a:srgbClr val="111111"/>
          </a:solidFill>
          <a:ln/>
        </p:spPr>
      </p:sp>
      <p:sp>
        <p:nvSpPr>
          <p:cNvPr id="26" name="Text 40">
            <a:extLst>
              <a:ext uri="{FF2B5EF4-FFF2-40B4-BE49-F238E27FC236}">
                <a16:creationId xmlns:a16="http://schemas.microsoft.com/office/drawing/2014/main" id="{A500CA69-62E6-2711-03CE-0129EE5B2E0A}"/>
              </a:ext>
            </a:extLst>
          </p:cNvPr>
          <p:cNvSpPr/>
          <p:nvPr/>
        </p:nvSpPr>
        <p:spPr>
          <a:xfrm>
            <a:off x="4160520" y="319125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7" name="Text 41">
            <a:extLst>
              <a:ext uri="{FF2B5EF4-FFF2-40B4-BE49-F238E27FC236}">
                <a16:creationId xmlns:a16="http://schemas.microsoft.com/office/drawing/2014/main" id="{A17B5C71-D485-6743-1B41-E8EE64F898D8}"/>
              </a:ext>
            </a:extLst>
          </p:cNvPr>
          <p:cNvSpPr/>
          <p:nvPr/>
        </p:nvSpPr>
        <p:spPr>
          <a:xfrm>
            <a:off x="4800600" y="3081528"/>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Business Interpretation</a:t>
            </a:r>
            <a:endParaRPr lang="en-US" sz="1500" dirty="0"/>
          </a:p>
        </p:txBody>
      </p:sp>
      <p:sp>
        <p:nvSpPr>
          <p:cNvPr id="28" name="Shape 42">
            <a:extLst>
              <a:ext uri="{FF2B5EF4-FFF2-40B4-BE49-F238E27FC236}">
                <a16:creationId xmlns:a16="http://schemas.microsoft.com/office/drawing/2014/main" id="{B452B2C7-7524-E335-EDF9-E2513A777C62}"/>
              </a:ext>
            </a:extLst>
          </p:cNvPr>
          <p:cNvSpPr/>
          <p:nvPr/>
        </p:nvSpPr>
        <p:spPr>
          <a:xfrm>
            <a:off x="4160520" y="3941064"/>
            <a:ext cx="457200" cy="457200"/>
          </a:xfrm>
          <a:prstGeom prst="ellipse">
            <a:avLst/>
          </a:prstGeom>
          <a:solidFill>
            <a:srgbClr val="111111"/>
          </a:solidFill>
          <a:ln/>
        </p:spPr>
      </p:sp>
      <p:sp>
        <p:nvSpPr>
          <p:cNvPr id="29" name="Text 43">
            <a:extLst>
              <a:ext uri="{FF2B5EF4-FFF2-40B4-BE49-F238E27FC236}">
                <a16:creationId xmlns:a16="http://schemas.microsoft.com/office/drawing/2014/main" id="{68213BF9-05B8-B7B8-7C87-9A7395912D4A}"/>
              </a:ext>
            </a:extLst>
          </p:cNvPr>
          <p:cNvSpPr/>
          <p:nvPr/>
        </p:nvSpPr>
        <p:spPr>
          <a:xfrm>
            <a:off x="4160520" y="394106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30" name="Text 44">
            <a:extLst>
              <a:ext uri="{FF2B5EF4-FFF2-40B4-BE49-F238E27FC236}">
                <a16:creationId xmlns:a16="http://schemas.microsoft.com/office/drawing/2014/main" id="{F0BA5A7E-B7FE-B6CD-991D-2FC1DD988A26}"/>
              </a:ext>
            </a:extLst>
          </p:cNvPr>
          <p:cNvSpPr/>
          <p:nvPr/>
        </p:nvSpPr>
        <p:spPr>
          <a:xfrm>
            <a:off x="4800600" y="3831336"/>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Recommendations</a:t>
            </a:r>
            <a:endParaRPr lang="en-US" sz="1500" dirty="0"/>
          </a:p>
        </p:txBody>
      </p:sp>
      <p:sp>
        <p:nvSpPr>
          <p:cNvPr id="31" name="Shape 45">
            <a:extLst>
              <a:ext uri="{FF2B5EF4-FFF2-40B4-BE49-F238E27FC236}">
                <a16:creationId xmlns:a16="http://schemas.microsoft.com/office/drawing/2014/main" id="{CEFC4C61-F11F-98CB-A2E2-C9DF3BE10FD6}"/>
              </a:ext>
            </a:extLst>
          </p:cNvPr>
          <p:cNvSpPr/>
          <p:nvPr/>
        </p:nvSpPr>
        <p:spPr>
          <a:xfrm>
            <a:off x="4160520" y="4690872"/>
            <a:ext cx="457200" cy="457200"/>
          </a:xfrm>
          <a:prstGeom prst="ellipse">
            <a:avLst/>
          </a:prstGeom>
          <a:solidFill>
            <a:srgbClr val="111111"/>
          </a:solidFill>
          <a:ln/>
        </p:spPr>
      </p:sp>
      <p:sp>
        <p:nvSpPr>
          <p:cNvPr id="32" name="Text 46">
            <a:extLst>
              <a:ext uri="{FF2B5EF4-FFF2-40B4-BE49-F238E27FC236}">
                <a16:creationId xmlns:a16="http://schemas.microsoft.com/office/drawing/2014/main" id="{B5C5AE3B-E8F8-2695-786F-899979D64B4B}"/>
              </a:ext>
            </a:extLst>
          </p:cNvPr>
          <p:cNvSpPr/>
          <p:nvPr/>
        </p:nvSpPr>
        <p:spPr>
          <a:xfrm>
            <a:off x="4160520" y="46908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33" name="Text 47">
            <a:extLst>
              <a:ext uri="{FF2B5EF4-FFF2-40B4-BE49-F238E27FC236}">
                <a16:creationId xmlns:a16="http://schemas.microsoft.com/office/drawing/2014/main" id="{122C9135-7AF0-CC03-1F94-793CC9B11162}"/>
              </a:ext>
            </a:extLst>
          </p:cNvPr>
          <p:cNvSpPr/>
          <p:nvPr/>
        </p:nvSpPr>
        <p:spPr>
          <a:xfrm>
            <a:off x="4800600" y="4581144"/>
            <a:ext cx="2834640" cy="685800"/>
          </a:xfrm>
          <a:prstGeom prst="rect">
            <a:avLst/>
          </a:prstGeom>
          <a:noFill/>
          <a:ln/>
        </p:spPr>
        <p:txBody>
          <a:bodyPr wrap="square" lIns="0" tIns="0" rIns="0" bIns="0" rtlCol="0" anchor="ctr"/>
          <a:lstStyle/>
          <a:p>
            <a:pPr marL="0" indent="0" algn="l">
              <a:buNone/>
            </a:pPr>
            <a:r>
              <a:rPr lang="en-US" sz="1500" dirty="0">
                <a:solidFill>
                  <a:srgbClr val="222222"/>
                </a:solidFill>
                <a:latin typeface="Arial" pitchFamily="34" charset="0"/>
                <a:ea typeface="Arial" pitchFamily="34" charset="-122"/>
                <a:cs typeface="Arial" pitchFamily="34" charset="-120"/>
              </a:rPr>
              <a:t>Conclusion</a:t>
            </a:r>
            <a:endParaRPr lang="en-US" sz="1500" dirty="0"/>
          </a:p>
        </p:txBody>
      </p:sp>
      <p:sp>
        <p:nvSpPr>
          <p:cNvPr id="34" name="Freeform 2">
            <a:extLst>
              <a:ext uri="{FF2B5EF4-FFF2-40B4-BE49-F238E27FC236}">
                <a16:creationId xmlns:a16="http://schemas.microsoft.com/office/drawing/2014/main" id="{921D019F-7C6B-221A-6A0C-63980AC3721B}"/>
              </a:ext>
            </a:extLst>
          </p:cNvPr>
          <p:cNvSpPr/>
          <p:nvPr/>
        </p:nvSpPr>
        <p:spPr>
          <a:xfrm rot="-5400000">
            <a:off x="6316135" y="1089377"/>
            <a:ext cx="6536267" cy="4538134"/>
          </a:xfrm>
          <a:custGeom>
            <a:avLst/>
            <a:gdLst/>
            <a:ahLst/>
            <a:cxnLst/>
            <a:rect l="l" t="t" r="r" b="b"/>
            <a:pathLst>
              <a:path w="19157227" h="6531988">
                <a:moveTo>
                  <a:pt x="0" y="0"/>
                </a:moveTo>
                <a:lnTo>
                  <a:pt x="19157226" y="0"/>
                </a:lnTo>
                <a:lnTo>
                  <a:pt x="19157226" y="6531988"/>
                </a:lnTo>
                <a:lnTo>
                  <a:pt x="0" y="6531988"/>
                </a:lnTo>
                <a:lnTo>
                  <a:pt x="0" y="0"/>
                </a:lnTo>
                <a:close/>
              </a:path>
            </a:pathLst>
          </a:custGeom>
          <a:blipFill>
            <a:blip r:embed="rId2">
              <a:alphaModFix amt="38000"/>
            </a:blip>
            <a:stretch>
              <a:fillRect l="-25617" r="-25617"/>
            </a:stretch>
          </a:blipFill>
        </p:spPr>
        <p:txBody>
          <a:bodyPr/>
          <a:lstStyle/>
          <a:p>
            <a:endParaRPr lang="en-US" dirty="0"/>
          </a:p>
        </p:txBody>
      </p:sp>
    </p:spTree>
    <p:extLst>
      <p:ext uri="{BB962C8B-B14F-4D97-AF65-F5344CB8AC3E}">
        <p14:creationId xmlns:p14="http://schemas.microsoft.com/office/powerpoint/2010/main" val="1527540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02C"/>
        </a:solidFill>
        <a:effectLst/>
      </p:bgPr>
    </p:bg>
    <p:spTree>
      <p:nvGrpSpPr>
        <p:cNvPr id="1" name=""/>
        <p:cNvGrpSpPr/>
        <p:nvPr/>
      </p:nvGrpSpPr>
      <p:grpSpPr>
        <a:xfrm>
          <a:off x="0" y="0"/>
          <a:ext cx="0" cy="0"/>
          <a:chOff x="0" y="0"/>
          <a:chExt cx="0" cy="0"/>
        </a:xfrm>
      </p:grpSpPr>
      <p:grpSp>
        <p:nvGrpSpPr>
          <p:cNvPr id="2" name="Group 2"/>
          <p:cNvGrpSpPr/>
          <p:nvPr/>
        </p:nvGrpSpPr>
        <p:grpSpPr>
          <a:xfrm>
            <a:off x="7535122" y="-6413649"/>
            <a:ext cx="7677345" cy="8933637"/>
            <a:chOff x="0" y="0"/>
            <a:chExt cx="698500" cy="812800"/>
          </a:xfrm>
        </p:grpSpPr>
        <p:sp>
          <p:nvSpPr>
            <p:cNvPr id="3" name="Freeform 3"/>
            <p:cNvSpPr/>
            <p:nvPr/>
          </p:nvSpPr>
          <p:spPr>
            <a:xfrm>
              <a:off x="0" y="6857"/>
              <a:ext cx="698500" cy="799086"/>
            </a:xfrm>
            <a:custGeom>
              <a:avLst/>
              <a:gdLst/>
              <a:ahLst/>
              <a:cxnLst/>
              <a:rect l="l" t="t" r="r" b="b"/>
              <a:pathLst>
                <a:path w="698500" h="799086">
                  <a:moveTo>
                    <a:pt x="371222" y="5927"/>
                  </a:moveTo>
                  <a:lnTo>
                    <a:pt x="676528" y="183559"/>
                  </a:lnTo>
                  <a:cubicBezTo>
                    <a:pt x="690131" y="191474"/>
                    <a:pt x="698500" y="206025"/>
                    <a:pt x="698500" y="221763"/>
                  </a:cubicBezTo>
                  <a:lnTo>
                    <a:pt x="698500" y="577323"/>
                  </a:lnTo>
                  <a:cubicBezTo>
                    <a:pt x="698500" y="593061"/>
                    <a:pt x="690131" y="607612"/>
                    <a:pt x="676528" y="615527"/>
                  </a:cubicBezTo>
                  <a:lnTo>
                    <a:pt x="371222" y="793159"/>
                  </a:lnTo>
                  <a:cubicBezTo>
                    <a:pt x="357640" y="801062"/>
                    <a:pt x="340860" y="801062"/>
                    <a:pt x="327278" y="793159"/>
                  </a:cubicBezTo>
                  <a:lnTo>
                    <a:pt x="21972" y="615527"/>
                  </a:lnTo>
                  <a:cubicBezTo>
                    <a:pt x="8369" y="607612"/>
                    <a:pt x="0" y="593061"/>
                    <a:pt x="0" y="577323"/>
                  </a:cubicBezTo>
                  <a:lnTo>
                    <a:pt x="0" y="221763"/>
                  </a:lnTo>
                  <a:cubicBezTo>
                    <a:pt x="0" y="206025"/>
                    <a:pt x="8369" y="191474"/>
                    <a:pt x="21972" y="183559"/>
                  </a:cubicBezTo>
                  <a:lnTo>
                    <a:pt x="327278" y="5927"/>
                  </a:lnTo>
                  <a:cubicBezTo>
                    <a:pt x="340860" y="-1976"/>
                    <a:pt x="357640" y="-1976"/>
                    <a:pt x="371222" y="5927"/>
                  </a:cubicBezTo>
                  <a:close/>
                </a:path>
              </a:pathLst>
            </a:custGeom>
            <a:solidFill>
              <a:srgbClr val="100F16"/>
            </a:solidFill>
          </p:spPr>
        </p:sp>
        <p:sp>
          <p:nvSpPr>
            <p:cNvPr id="4" name="TextBox 4"/>
            <p:cNvSpPr txBox="1"/>
            <p:nvPr/>
          </p:nvSpPr>
          <p:spPr>
            <a:xfrm>
              <a:off x="0" y="73025"/>
              <a:ext cx="698500" cy="600075"/>
            </a:xfrm>
            <a:prstGeom prst="rect">
              <a:avLst/>
            </a:prstGeom>
          </p:spPr>
          <p:txBody>
            <a:bodyPr lIns="33867" tIns="33867" rIns="33867" bIns="33867" rtlCol="0" anchor="ctr"/>
            <a:lstStyle/>
            <a:p>
              <a:pPr algn="ctr" defTabSz="609630">
                <a:lnSpc>
                  <a:spcPts val="2408"/>
                </a:lnSpc>
              </a:pPr>
              <a:endParaRPr sz="1200">
                <a:solidFill>
                  <a:prstClr val="black"/>
                </a:solidFill>
                <a:latin typeface="Calibri"/>
              </a:endParaRPr>
            </a:p>
          </p:txBody>
        </p:sp>
      </p:grpSp>
      <p:sp>
        <p:nvSpPr>
          <p:cNvPr id="5" name="Freeform 5"/>
          <p:cNvSpPr/>
          <p:nvPr/>
        </p:nvSpPr>
        <p:spPr>
          <a:xfrm rot="-2249463">
            <a:off x="-639640" y="15238"/>
            <a:ext cx="3760941" cy="3760941"/>
          </a:xfrm>
          <a:custGeom>
            <a:avLst/>
            <a:gdLst/>
            <a:ahLst/>
            <a:cxnLst/>
            <a:rect l="l" t="t" r="r" b="b"/>
            <a:pathLst>
              <a:path w="5641412" h="5641412">
                <a:moveTo>
                  <a:pt x="0" y="0"/>
                </a:moveTo>
                <a:lnTo>
                  <a:pt x="5641411" y="0"/>
                </a:lnTo>
                <a:lnTo>
                  <a:pt x="5641411" y="5641412"/>
                </a:lnTo>
                <a:lnTo>
                  <a:pt x="0" y="56414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2249463">
            <a:off x="-937981" y="5789371"/>
            <a:ext cx="2276975" cy="2276975"/>
          </a:xfrm>
          <a:custGeom>
            <a:avLst/>
            <a:gdLst/>
            <a:ahLst/>
            <a:cxnLst/>
            <a:rect l="l" t="t" r="r" b="b"/>
            <a:pathLst>
              <a:path w="3415463" h="3415463">
                <a:moveTo>
                  <a:pt x="0" y="0"/>
                </a:moveTo>
                <a:lnTo>
                  <a:pt x="3415463" y="0"/>
                </a:lnTo>
                <a:lnTo>
                  <a:pt x="3415463" y="3415463"/>
                </a:lnTo>
                <a:lnTo>
                  <a:pt x="0" y="34154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8817922">
            <a:off x="11053513" y="-685218"/>
            <a:ext cx="2276975" cy="2276975"/>
          </a:xfrm>
          <a:custGeom>
            <a:avLst/>
            <a:gdLst/>
            <a:ahLst/>
            <a:cxnLst/>
            <a:rect l="l" t="t" r="r" b="b"/>
            <a:pathLst>
              <a:path w="3415463" h="3415463">
                <a:moveTo>
                  <a:pt x="0" y="0"/>
                </a:moveTo>
                <a:lnTo>
                  <a:pt x="3415462" y="0"/>
                </a:lnTo>
                <a:lnTo>
                  <a:pt x="3415462" y="3415462"/>
                </a:lnTo>
                <a:lnTo>
                  <a:pt x="0" y="3415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9708574" y="5206733"/>
            <a:ext cx="3072797" cy="3575619"/>
            <a:chOff x="0" y="0"/>
            <a:chExt cx="698500" cy="812800"/>
          </a:xfrm>
        </p:grpSpPr>
        <p:sp>
          <p:nvSpPr>
            <p:cNvPr id="9" name="Freeform 9"/>
            <p:cNvSpPr/>
            <p:nvPr/>
          </p:nvSpPr>
          <p:spPr>
            <a:xfrm>
              <a:off x="0" y="17521"/>
              <a:ext cx="698500" cy="777757"/>
            </a:xfrm>
            <a:custGeom>
              <a:avLst/>
              <a:gdLst/>
              <a:ahLst/>
              <a:cxnLst/>
              <a:rect l="l" t="t" r="r" b="b"/>
              <a:pathLst>
                <a:path w="698500" h="777757">
                  <a:moveTo>
                    <a:pt x="405395" y="15145"/>
                  </a:moveTo>
                  <a:lnTo>
                    <a:pt x="642355" y="153013"/>
                  </a:lnTo>
                  <a:cubicBezTo>
                    <a:pt x="677116" y="173237"/>
                    <a:pt x="698500" y="210419"/>
                    <a:pt x="698500" y="250635"/>
                  </a:cubicBezTo>
                  <a:lnTo>
                    <a:pt x="698500" y="527123"/>
                  </a:lnTo>
                  <a:cubicBezTo>
                    <a:pt x="698500" y="567339"/>
                    <a:pt x="677116" y="604521"/>
                    <a:pt x="642355" y="624745"/>
                  </a:cubicBezTo>
                  <a:lnTo>
                    <a:pt x="405395" y="762613"/>
                  </a:lnTo>
                  <a:cubicBezTo>
                    <a:pt x="370688" y="782806"/>
                    <a:pt x="327812" y="782806"/>
                    <a:pt x="293105" y="762613"/>
                  </a:cubicBezTo>
                  <a:lnTo>
                    <a:pt x="56145" y="624745"/>
                  </a:lnTo>
                  <a:cubicBezTo>
                    <a:pt x="21384" y="604521"/>
                    <a:pt x="0" y="567339"/>
                    <a:pt x="0" y="527123"/>
                  </a:cubicBezTo>
                  <a:lnTo>
                    <a:pt x="0" y="250635"/>
                  </a:lnTo>
                  <a:cubicBezTo>
                    <a:pt x="0" y="210419"/>
                    <a:pt x="21384" y="173237"/>
                    <a:pt x="56145" y="153013"/>
                  </a:cubicBezTo>
                  <a:lnTo>
                    <a:pt x="293105" y="15145"/>
                  </a:lnTo>
                  <a:cubicBezTo>
                    <a:pt x="327812" y="-5048"/>
                    <a:pt x="370688" y="-5048"/>
                    <a:pt x="405395" y="15145"/>
                  </a:cubicBezTo>
                  <a:close/>
                </a:path>
              </a:pathLst>
            </a:custGeom>
            <a:blipFill>
              <a:blip r:embed="rId6"/>
              <a:stretch>
                <a:fillRect l="-34312" t="-448" r="-34312" b="-448"/>
              </a:stretch>
            </a:blipFill>
            <a:ln w="200025" cap="rnd">
              <a:solidFill>
                <a:srgbClr val="9C8070"/>
              </a:solidFill>
              <a:prstDash val="solid"/>
              <a:round/>
            </a:ln>
          </p:spPr>
        </p:sp>
      </p:grpSp>
      <p:sp>
        <p:nvSpPr>
          <p:cNvPr id="10" name="TextBox 10"/>
          <p:cNvSpPr txBox="1"/>
          <p:nvPr/>
        </p:nvSpPr>
        <p:spPr>
          <a:xfrm>
            <a:off x="200507" y="2073362"/>
            <a:ext cx="11866235" cy="3758080"/>
          </a:xfrm>
          <a:prstGeom prst="rect">
            <a:avLst/>
          </a:prstGeom>
        </p:spPr>
        <p:txBody>
          <a:bodyPr lIns="0" tIns="0" rIns="0" bIns="0" rtlCol="0" anchor="t">
            <a:spAutoFit/>
          </a:bodyPr>
          <a:lstStyle/>
          <a:p>
            <a:pPr defTabSz="609630">
              <a:lnSpc>
                <a:spcPts val="1700"/>
              </a:lnSpc>
              <a:spcBef>
                <a:spcPct val="0"/>
              </a:spcBef>
            </a:pP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Adidas generated $899.9M in combined revenue across 2020 and 2021, with total revenue growing 294.3% year-over-year from $182.1M in 2020 to $717.8M in 2021. This growth was broad-based rather than concentrated in one area: it appeared consistently across retailers (Amazon's entry as a new partner, and explosive growth from Kohl's and Sports Direct), regions (Midwest grew 1,640.6%, confirmed to be driven by three new retailers entering the region), and products (Men's Street Footwear held the #1 revenue position in both years).</a:t>
            </a:r>
          </a:p>
          <a:p>
            <a:pPr defTabSz="609630">
              <a:lnSpc>
                <a:spcPts val="2267"/>
              </a:lnSpc>
              <a:spcBef>
                <a:spcPct val="0"/>
              </a:spcBef>
            </a:pPr>
            <a:endParaRPr lang="en-US" sz="1000" dirty="0">
              <a:solidFill>
                <a:srgbClr val="FFFFFF">
                  <a:alpha val="71765"/>
                </a:srgbClr>
              </a:solidFill>
              <a:latin typeface="Poppins"/>
              <a:ea typeface="Poppins"/>
              <a:cs typeface="Poppins"/>
              <a:sym typeface="Poppins"/>
            </a:endParaRPr>
          </a:p>
          <a:p>
            <a:pPr defTabSz="609630">
              <a:lnSpc>
                <a:spcPts val="1700"/>
              </a:lnSpc>
              <a:spcBef>
                <a:spcPct val="0"/>
              </a:spcBef>
            </a:pP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Alongside this growth, the analysis identified a secondary pattern that warrants attention before 2022 planning: several of the business's fastest-growing segments most notably west gear and the broader west region show declining revenue-per-unit even as absolute revenue rises, suggesting a possible shift toward </a:t>
            </a:r>
            <a:r>
              <a:rPr lang="en-US" sz="1200" dirty="0" err="1">
                <a:solidFill>
                  <a:srgbClr val="FFFFFF">
                    <a:alpha val="71765"/>
                  </a:srgbClr>
                </a:solidFill>
                <a:latin typeface="Times New Roman" panose="02020603050405020304" pitchFamily="18" charset="0"/>
                <a:ea typeface="Poppins"/>
                <a:cs typeface="Times New Roman" panose="02020603050405020304" pitchFamily="18" charset="0"/>
                <a:sym typeface="Poppins"/>
              </a:rPr>
              <a:t>volumedriven</a:t>
            </a: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 or discount driven growth rather than value-driven growth in parts of the business. additionally, </a:t>
            </a:r>
            <a:r>
              <a:rPr lang="en-US" sz="1200" dirty="0" err="1">
                <a:solidFill>
                  <a:srgbClr val="FFFFFF">
                    <a:alpha val="71765"/>
                  </a:srgbClr>
                </a:solidFill>
                <a:latin typeface="Times New Roman" panose="02020603050405020304" pitchFamily="18" charset="0"/>
                <a:ea typeface="Poppins"/>
                <a:cs typeface="Times New Roman" panose="02020603050405020304" pitchFamily="18" charset="0"/>
                <a:sym typeface="Poppins"/>
              </a:rPr>
              <a:t>online's</a:t>
            </a: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 dramatic 554% transaction-value growth has not yet been validated against its 2020 launch timeline, and the extreme scale of kohl's growth (+13,262.7%) should be confirmed against contract records before being treated purely as an organic success.</a:t>
            </a:r>
          </a:p>
          <a:p>
            <a:pPr defTabSz="609630">
              <a:lnSpc>
                <a:spcPts val="2267"/>
              </a:lnSpc>
              <a:spcBef>
                <a:spcPct val="0"/>
              </a:spcBef>
            </a:pPr>
            <a:endParaRPr lang="en-US" sz="1000" dirty="0">
              <a:solidFill>
                <a:srgbClr val="FFFFFF">
                  <a:alpha val="71765"/>
                </a:srgbClr>
              </a:solidFill>
              <a:latin typeface="Poppins"/>
              <a:ea typeface="Poppins"/>
              <a:cs typeface="Poppins"/>
              <a:sym typeface="Poppins"/>
            </a:endParaRPr>
          </a:p>
          <a:p>
            <a:pPr defTabSz="609630">
              <a:lnSpc>
                <a:spcPts val="1700"/>
              </a:lnSpc>
              <a:spcBef>
                <a:spcPct val="0"/>
              </a:spcBef>
            </a:pP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we recommend three priorities heading into 2022: (1) replicate the </a:t>
            </a:r>
            <a:r>
              <a:rPr lang="en-US" sz="1200" dirty="0" err="1">
                <a:solidFill>
                  <a:srgbClr val="FFFFFF">
                    <a:alpha val="71765"/>
                  </a:srgbClr>
                </a:solidFill>
                <a:latin typeface="Times New Roman" panose="02020603050405020304" pitchFamily="18" charset="0"/>
                <a:ea typeface="Poppins"/>
                <a:cs typeface="Times New Roman" panose="02020603050405020304" pitchFamily="18" charset="0"/>
                <a:sym typeface="Poppins"/>
              </a:rPr>
              <a:t>midwest</a:t>
            </a: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 retailer-expansion model which drove 51.1% of that region's 2021 revenue from newly onboarded retailers in south and southeast, both of which grew more moderately without this dynamic; (2) resolve four open data questions (</a:t>
            </a:r>
            <a:r>
              <a:rPr lang="en-US" sz="1200" dirty="0" err="1">
                <a:solidFill>
                  <a:srgbClr val="FFFFFF">
                    <a:alpha val="71765"/>
                  </a:srgbClr>
                </a:solidFill>
                <a:latin typeface="Times New Roman" panose="02020603050405020304" pitchFamily="18" charset="0"/>
                <a:ea typeface="Poppins"/>
                <a:cs typeface="Times New Roman" panose="02020603050405020304" pitchFamily="18" charset="0"/>
                <a:sym typeface="Poppins"/>
              </a:rPr>
              <a:t>online's</a:t>
            </a: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 2020 launch date, the link between west gear's and west region's pricing declines, women's athletic footwear's pricing gap, and whether retailer/regional/sales method growth are one connected story) before finalizing budget decisions tied to these areas; and (3) protect the men's street footwear line, which remains the single largest driver of company revenue. full findings, </a:t>
            </a:r>
            <a:r>
              <a:rPr lang="en-US" sz="1200" dirty="0" err="1">
                <a:solidFill>
                  <a:srgbClr val="FFFFFF">
                    <a:alpha val="71765"/>
                  </a:srgbClr>
                </a:solidFill>
                <a:latin typeface="Times New Roman" panose="02020603050405020304" pitchFamily="18" charset="0"/>
                <a:ea typeface="Poppins"/>
                <a:cs typeface="Times New Roman" panose="02020603050405020304" pitchFamily="18" charset="0"/>
                <a:sym typeface="Poppins"/>
              </a:rPr>
              <a:t>sql</a:t>
            </a:r>
            <a:r>
              <a:rPr lang="en-US" sz="1200" dirty="0">
                <a:solidFill>
                  <a:srgbClr val="FFFFFF">
                    <a:alpha val="71765"/>
                  </a:srgbClr>
                </a:solidFill>
                <a:latin typeface="Times New Roman" panose="02020603050405020304" pitchFamily="18" charset="0"/>
                <a:ea typeface="Poppins"/>
                <a:cs typeface="Times New Roman" panose="02020603050405020304" pitchFamily="18" charset="0"/>
                <a:sym typeface="Poppins"/>
              </a:rPr>
              <a:t> queries, and supporting evidence for each of these points follow in the sections below.</a:t>
            </a:r>
          </a:p>
          <a:p>
            <a:pPr defTabSz="609630">
              <a:lnSpc>
                <a:spcPts val="2267"/>
              </a:lnSpc>
              <a:spcBef>
                <a:spcPct val="0"/>
              </a:spcBef>
            </a:pPr>
            <a:endParaRPr lang="en-US" sz="1000" dirty="0">
              <a:solidFill>
                <a:srgbClr val="FFFFFF">
                  <a:alpha val="71765"/>
                </a:srgbClr>
              </a:solidFill>
              <a:latin typeface="Poppins"/>
              <a:ea typeface="Poppins"/>
              <a:cs typeface="Poppins"/>
              <a:sym typeface="Poppins"/>
            </a:endParaRPr>
          </a:p>
          <a:p>
            <a:pPr defTabSz="609630">
              <a:lnSpc>
                <a:spcPts val="2267"/>
              </a:lnSpc>
              <a:spcBef>
                <a:spcPct val="0"/>
              </a:spcBef>
            </a:pPr>
            <a:endParaRPr lang="en-US" sz="1000" dirty="0">
              <a:solidFill>
                <a:srgbClr val="FFFFFF">
                  <a:alpha val="71765"/>
                </a:srgbClr>
              </a:solidFill>
              <a:latin typeface="Poppins"/>
              <a:ea typeface="Poppins"/>
              <a:cs typeface="Poppins"/>
              <a:sym typeface="Poppins"/>
            </a:endParaRPr>
          </a:p>
        </p:txBody>
      </p:sp>
      <p:sp>
        <p:nvSpPr>
          <p:cNvPr id="11" name="TextBox 11"/>
          <p:cNvSpPr txBox="1"/>
          <p:nvPr/>
        </p:nvSpPr>
        <p:spPr>
          <a:xfrm>
            <a:off x="2755416" y="-194801"/>
            <a:ext cx="5906806" cy="2128788"/>
          </a:xfrm>
          <a:prstGeom prst="rect">
            <a:avLst/>
          </a:prstGeom>
        </p:spPr>
        <p:txBody>
          <a:bodyPr lIns="0" tIns="0" rIns="0" bIns="0" rtlCol="0" anchor="t">
            <a:spAutoFit/>
          </a:bodyPr>
          <a:lstStyle/>
          <a:p>
            <a:pPr defTabSz="609630">
              <a:lnSpc>
                <a:spcPts val="8274"/>
              </a:lnSpc>
            </a:pPr>
            <a:r>
              <a:rPr lang="en-US" sz="8618" b="1" spc="-439">
                <a:solidFill>
                  <a:srgbClr val="FFFFFF"/>
                </a:solidFill>
                <a:latin typeface="Poppins Bold"/>
                <a:ea typeface="Poppins Bold"/>
                <a:cs typeface="Poppins Bold"/>
                <a:sym typeface="Poppins Bold"/>
              </a:rPr>
              <a:t>EXECUTIVE SUMMARY</a:t>
            </a:r>
          </a:p>
        </p:txBody>
      </p:sp>
    </p:spTree>
    <p:extLst>
      <p:ext uri="{BB962C8B-B14F-4D97-AF65-F5344CB8AC3E}">
        <p14:creationId xmlns:p14="http://schemas.microsoft.com/office/powerpoint/2010/main" val="25166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grpSp>
        <p:nvGrpSpPr>
          <p:cNvPr id="2" name="Group 2"/>
          <p:cNvGrpSpPr/>
          <p:nvPr/>
        </p:nvGrpSpPr>
        <p:grpSpPr>
          <a:xfrm>
            <a:off x="8629162" y="242031"/>
            <a:ext cx="3562838" cy="2332512"/>
            <a:chOff x="0" y="0"/>
            <a:chExt cx="1995698" cy="1085359"/>
          </a:xfrm>
        </p:grpSpPr>
        <p:sp>
          <p:nvSpPr>
            <p:cNvPr id="3" name="Freeform 3"/>
            <p:cNvSpPr/>
            <p:nvPr/>
          </p:nvSpPr>
          <p:spPr>
            <a:xfrm>
              <a:off x="0" y="0"/>
              <a:ext cx="1995698" cy="1085359"/>
            </a:xfrm>
            <a:custGeom>
              <a:avLst/>
              <a:gdLst/>
              <a:ahLst/>
              <a:cxnLst/>
              <a:rect l="l" t="t" r="r" b="b"/>
              <a:pathLst>
                <a:path w="1995698" h="1085359">
                  <a:moveTo>
                    <a:pt x="0" y="0"/>
                  </a:moveTo>
                  <a:lnTo>
                    <a:pt x="1995698" y="0"/>
                  </a:lnTo>
                  <a:lnTo>
                    <a:pt x="1995698" y="1085359"/>
                  </a:lnTo>
                  <a:lnTo>
                    <a:pt x="0" y="1085359"/>
                  </a:lnTo>
                  <a:close/>
                </a:path>
              </a:pathLst>
            </a:custGeom>
            <a:solidFill>
              <a:srgbClr val="FFF8D4">
                <a:alpha val="70980"/>
              </a:srgbClr>
            </a:solidFill>
          </p:spPr>
        </p:sp>
        <p:sp>
          <p:nvSpPr>
            <p:cNvPr id="4" name="TextBox 4"/>
            <p:cNvSpPr txBox="1"/>
            <p:nvPr/>
          </p:nvSpPr>
          <p:spPr>
            <a:xfrm>
              <a:off x="0" y="-38100"/>
              <a:ext cx="1995698" cy="1123459"/>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TextBox 5"/>
          <p:cNvSpPr txBox="1"/>
          <p:nvPr/>
        </p:nvSpPr>
        <p:spPr>
          <a:xfrm>
            <a:off x="1204516" y="852335"/>
            <a:ext cx="7082726" cy="3629904"/>
          </a:xfrm>
          <a:prstGeom prst="rect">
            <a:avLst/>
          </a:prstGeom>
        </p:spPr>
        <p:txBody>
          <a:bodyPr lIns="0" tIns="0" rIns="0" bIns="0" rtlCol="0" anchor="t">
            <a:spAutoFit/>
          </a:bodyPr>
          <a:lstStyle/>
          <a:p>
            <a:pPr algn="just" defTabSz="609630">
              <a:lnSpc>
                <a:spcPts val="9360"/>
              </a:lnSpc>
            </a:pPr>
            <a:r>
              <a:rPr lang="en-US" sz="9360" spc="-131">
                <a:solidFill>
                  <a:srgbClr val="FFF8D4"/>
                </a:solidFill>
                <a:latin typeface="Anton"/>
                <a:ea typeface="Anton"/>
                <a:cs typeface="Anton"/>
                <a:sym typeface="Anton"/>
              </a:rPr>
              <a:t>BUSINESS </a:t>
            </a:r>
          </a:p>
          <a:p>
            <a:pPr algn="just" defTabSz="609630">
              <a:lnSpc>
                <a:spcPts val="9360"/>
              </a:lnSpc>
            </a:pPr>
            <a:endParaRPr lang="en-US" sz="9360" spc="-131">
              <a:solidFill>
                <a:srgbClr val="FFF8D4"/>
              </a:solidFill>
              <a:latin typeface="Anton"/>
              <a:ea typeface="Anton"/>
              <a:cs typeface="Anton"/>
              <a:sym typeface="Anton"/>
            </a:endParaRPr>
          </a:p>
          <a:p>
            <a:pPr algn="just" defTabSz="609630">
              <a:lnSpc>
                <a:spcPts val="9360"/>
              </a:lnSpc>
            </a:pPr>
            <a:endParaRPr lang="en-US" sz="9360" spc="-131">
              <a:solidFill>
                <a:srgbClr val="FFF8D4"/>
              </a:solidFill>
              <a:latin typeface="Anton"/>
              <a:ea typeface="Anton"/>
              <a:cs typeface="Anton"/>
              <a:sym typeface="Anton"/>
            </a:endParaRPr>
          </a:p>
        </p:txBody>
      </p:sp>
      <p:sp>
        <p:nvSpPr>
          <p:cNvPr id="6" name="Freeform 6"/>
          <p:cNvSpPr/>
          <p:nvPr/>
        </p:nvSpPr>
        <p:spPr>
          <a:xfrm>
            <a:off x="8629162" y="5251"/>
            <a:ext cx="3562838" cy="2569292"/>
          </a:xfrm>
          <a:custGeom>
            <a:avLst/>
            <a:gdLst/>
            <a:ahLst/>
            <a:cxnLst/>
            <a:rect l="l" t="t" r="r" b="b"/>
            <a:pathLst>
              <a:path w="5344257" h="3853938">
                <a:moveTo>
                  <a:pt x="0" y="0"/>
                </a:moveTo>
                <a:lnTo>
                  <a:pt x="5344257" y="0"/>
                </a:lnTo>
                <a:lnTo>
                  <a:pt x="5344257" y="3853939"/>
                </a:lnTo>
                <a:lnTo>
                  <a:pt x="0" y="3853939"/>
                </a:lnTo>
                <a:lnTo>
                  <a:pt x="0" y="0"/>
                </a:lnTo>
                <a:close/>
              </a:path>
            </a:pathLst>
          </a:custGeom>
          <a:blipFill>
            <a:blip r:embed="rId2"/>
            <a:stretch>
              <a:fillRect t="-19335" b="-19335"/>
            </a:stretch>
          </a:blipFill>
        </p:spPr>
      </p:sp>
      <p:sp>
        <p:nvSpPr>
          <p:cNvPr id="7" name="TextBox 7"/>
          <p:cNvSpPr txBox="1"/>
          <p:nvPr/>
        </p:nvSpPr>
        <p:spPr>
          <a:xfrm>
            <a:off x="1003300" y="1979925"/>
            <a:ext cx="7082726" cy="1218988"/>
          </a:xfrm>
          <a:prstGeom prst="rect">
            <a:avLst/>
          </a:prstGeom>
        </p:spPr>
        <p:txBody>
          <a:bodyPr lIns="0" tIns="0" rIns="0" bIns="0" rtlCol="0" anchor="t">
            <a:spAutoFit/>
          </a:bodyPr>
          <a:lstStyle/>
          <a:p>
            <a:pPr algn="just" defTabSz="609630">
              <a:lnSpc>
                <a:spcPts val="9360"/>
              </a:lnSpc>
            </a:pPr>
            <a:r>
              <a:rPr lang="en-US" sz="9360" spc="-131">
                <a:solidFill>
                  <a:srgbClr val="FFF8D4">
                    <a:alpha val="70980"/>
                  </a:srgbClr>
                </a:solidFill>
                <a:latin typeface="Anton"/>
                <a:ea typeface="Anton"/>
                <a:cs typeface="Anton"/>
                <a:sym typeface="Anton"/>
              </a:rPr>
              <a:t>OBJECTIVE</a:t>
            </a:r>
          </a:p>
        </p:txBody>
      </p:sp>
      <p:sp>
        <p:nvSpPr>
          <p:cNvPr id="8" name="TextBox 8"/>
          <p:cNvSpPr txBox="1"/>
          <p:nvPr/>
        </p:nvSpPr>
        <p:spPr>
          <a:xfrm>
            <a:off x="0" y="3390900"/>
            <a:ext cx="12192000" cy="3044038"/>
          </a:xfrm>
          <a:prstGeom prst="rect">
            <a:avLst/>
          </a:prstGeom>
        </p:spPr>
        <p:txBody>
          <a:bodyPr lIns="0" tIns="0" rIns="0" bIns="0" rtlCol="0" anchor="t">
            <a:spAutoFit/>
          </a:bodyPr>
          <a:lstStyle/>
          <a:p>
            <a:pPr algn="ctr" defTabSz="609630">
              <a:lnSpc>
                <a:spcPts val="2995"/>
              </a:lnSpc>
            </a:pPr>
            <a:r>
              <a:rPr lang="en-US" sz="2139">
                <a:solidFill>
                  <a:srgbClr val="FFF8D4"/>
                </a:solidFill>
                <a:latin typeface="Canva Sans"/>
                <a:ea typeface="Canva Sans"/>
                <a:cs typeface="Canva Sans"/>
                <a:sym typeface="Canva Sans"/>
              </a:rPr>
              <a:t>This report analyzes Adidas product sales performance across 2020 and 2021 to identify year-over-year revenue trends and their key drivers. The analysis compares the two years across six dimensions monthly and daily revenue patterns, top-performing products, retailer performance, geographic performance (city, region, state), and sales method in order to determine which specific drivers of the 2020-to-2021 change were most significant. The findings are intended to inform 2022 sales, inventory, and channel-investment planning by identifying which products, regions, retailers, and sales methods should be prioritized or re-evaluated going forward.</a:t>
            </a:r>
          </a:p>
          <a:p>
            <a:pPr algn="ctr" defTabSz="609630">
              <a:lnSpc>
                <a:spcPts val="2995"/>
              </a:lnSpc>
            </a:pPr>
            <a:endParaRPr lang="en-US" sz="2139">
              <a:solidFill>
                <a:srgbClr val="FFF8D4"/>
              </a:solidFill>
              <a:latin typeface="Canva Sans"/>
              <a:ea typeface="Canva Sans"/>
              <a:cs typeface="Canva Sans"/>
              <a:sym typeface="Canva Sans"/>
            </a:endParaRPr>
          </a:p>
        </p:txBody>
      </p:sp>
    </p:spTree>
    <p:extLst>
      <p:ext uri="{BB962C8B-B14F-4D97-AF65-F5344CB8AC3E}">
        <p14:creationId xmlns:p14="http://schemas.microsoft.com/office/powerpoint/2010/main" val="2722690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1003300" y="176697"/>
            <a:ext cx="3548487" cy="1081643"/>
          </a:xfrm>
          <a:prstGeom prst="rect">
            <a:avLst/>
          </a:prstGeom>
        </p:spPr>
        <p:txBody>
          <a:bodyPr lIns="0" tIns="0" rIns="0" bIns="0" rtlCol="0" anchor="t">
            <a:spAutoFit/>
          </a:bodyPr>
          <a:lstStyle/>
          <a:p>
            <a:pPr algn="just" defTabSz="609630">
              <a:lnSpc>
                <a:spcPts val="2800"/>
              </a:lnSpc>
            </a:pPr>
            <a:r>
              <a:rPr lang="en-US" sz="2800" spc="-39">
                <a:solidFill>
                  <a:srgbClr val="FFF8D4"/>
                </a:solidFill>
                <a:latin typeface="Anton"/>
                <a:ea typeface="Anton"/>
                <a:cs typeface="Anton"/>
                <a:sym typeface="Anton"/>
              </a:rPr>
              <a:t>BUSINESS OBJECTIVE</a:t>
            </a:r>
          </a:p>
          <a:p>
            <a:pPr algn="just" defTabSz="609630">
              <a:lnSpc>
                <a:spcPts val="2800"/>
              </a:lnSpc>
            </a:pPr>
            <a:endParaRPr lang="en-US" sz="2800" spc="-39">
              <a:solidFill>
                <a:srgbClr val="FFF8D4"/>
              </a:solidFill>
              <a:latin typeface="Anton"/>
              <a:ea typeface="Anton"/>
              <a:cs typeface="Anton"/>
              <a:sym typeface="Anton"/>
            </a:endParaRPr>
          </a:p>
          <a:p>
            <a:pPr algn="just" defTabSz="609630">
              <a:lnSpc>
                <a:spcPts val="2800"/>
              </a:lnSpc>
            </a:pPr>
            <a:endParaRPr lang="en-US" sz="2800" spc="-39">
              <a:solidFill>
                <a:srgbClr val="FFF8D4"/>
              </a:solidFill>
              <a:latin typeface="Anton"/>
              <a:ea typeface="Anton"/>
              <a:cs typeface="Anton"/>
              <a:sym typeface="Anton"/>
            </a:endParaRPr>
          </a:p>
        </p:txBody>
      </p:sp>
      <p:grpSp>
        <p:nvGrpSpPr>
          <p:cNvPr id="3" name="Group 3"/>
          <p:cNvGrpSpPr/>
          <p:nvPr/>
        </p:nvGrpSpPr>
        <p:grpSpPr>
          <a:xfrm>
            <a:off x="9300573" y="3071845"/>
            <a:ext cx="2891427" cy="2928982"/>
            <a:chOff x="0" y="0"/>
            <a:chExt cx="1317897" cy="1157129"/>
          </a:xfrm>
        </p:grpSpPr>
        <p:sp>
          <p:nvSpPr>
            <p:cNvPr id="4" name="Freeform 4"/>
            <p:cNvSpPr/>
            <p:nvPr/>
          </p:nvSpPr>
          <p:spPr>
            <a:xfrm>
              <a:off x="0" y="0"/>
              <a:ext cx="1317897" cy="1157129"/>
            </a:xfrm>
            <a:custGeom>
              <a:avLst/>
              <a:gdLst/>
              <a:ahLst/>
              <a:cxnLst/>
              <a:rect l="l" t="t" r="r" b="b"/>
              <a:pathLst>
                <a:path w="1317897" h="1157129">
                  <a:moveTo>
                    <a:pt x="0" y="0"/>
                  </a:moveTo>
                  <a:lnTo>
                    <a:pt x="1317897" y="0"/>
                  </a:lnTo>
                  <a:lnTo>
                    <a:pt x="1317897" y="1157129"/>
                  </a:lnTo>
                  <a:lnTo>
                    <a:pt x="0" y="1157129"/>
                  </a:lnTo>
                  <a:close/>
                </a:path>
              </a:pathLst>
            </a:custGeom>
            <a:solidFill>
              <a:srgbClr val="FFF8D4">
                <a:alpha val="67843"/>
              </a:srgbClr>
            </a:solidFill>
          </p:spPr>
        </p:sp>
        <p:sp>
          <p:nvSpPr>
            <p:cNvPr id="5" name="TextBox 5"/>
            <p:cNvSpPr txBox="1"/>
            <p:nvPr/>
          </p:nvSpPr>
          <p:spPr>
            <a:xfrm>
              <a:off x="0" y="-38100"/>
              <a:ext cx="1317897" cy="1195229"/>
            </a:xfrm>
            <a:prstGeom prst="rect">
              <a:avLst/>
            </a:prstGeom>
          </p:spPr>
          <p:txBody>
            <a:bodyPr lIns="33867" tIns="33867" rIns="33867" bIns="33867" rtlCol="0" anchor="ctr"/>
            <a:lstStyle/>
            <a:p>
              <a:pPr algn="ctr" defTabSz="609630">
                <a:lnSpc>
                  <a:spcPts val="1799"/>
                </a:lnSpc>
              </a:pPr>
              <a:endParaRPr sz="1200">
                <a:solidFill>
                  <a:prstClr val="black"/>
                </a:solidFill>
                <a:latin typeface="Calibri"/>
              </a:endParaRPr>
            </a:p>
          </p:txBody>
        </p:sp>
      </p:grpSp>
      <p:sp>
        <p:nvSpPr>
          <p:cNvPr id="6" name="Freeform 6"/>
          <p:cNvSpPr/>
          <p:nvPr/>
        </p:nvSpPr>
        <p:spPr>
          <a:xfrm>
            <a:off x="9339488" y="3488676"/>
            <a:ext cx="2166712" cy="1830521"/>
          </a:xfrm>
          <a:custGeom>
            <a:avLst/>
            <a:gdLst/>
            <a:ahLst/>
            <a:cxnLst/>
            <a:rect l="l" t="t" r="r" b="b"/>
            <a:pathLst>
              <a:path w="3250068" h="2745782">
                <a:moveTo>
                  <a:pt x="0" y="0"/>
                </a:moveTo>
                <a:lnTo>
                  <a:pt x="3250068" y="0"/>
                </a:lnTo>
                <a:lnTo>
                  <a:pt x="3250068" y="2745782"/>
                </a:lnTo>
                <a:lnTo>
                  <a:pt x="0" y="2745782"/>
                </a:lnTo>
                <a:lnTo>
                  <a:pt x="0" y="0"/>
                </a:lnTo>
                <a:close/>
              </a:path>
            </a:pathLst>
          </a:custGeom>
          <a:blipFill>
            <a:blip r:embed="rId2"/>
            <a:stretch>
              <a:fillRect l="-48755" r="-1620"/>
            </a:stretch>
          </a:blipFill>
        </p:spPr>
      </p:sp>
      <p:sp>
        <p:nvSpPr>
          <p:cNvPr id="7" name="TextBox 7"/>
          <p:cNvSpPr txBox="1"/>
          <p:nvPr/>
        </p:nvSpPr>
        <p:spPr>
          <a:xfrm>
            <a:off x="9131626" y="5788112"/>
            <a:ext cx="2374574" cy="394916"/>
          </a:xfrm>
          <a:prstGeom prst="rect">
            <a:avLst/>
          </a:prstGeom>
        </p:spPr>
        <p:txBody>
          <a:bodyPr lIns="0" tIns="0" rIns="0" bIns="0" rtlCol="0" anchor="t">
            <a:spAutoFit/>
          </a:bodyPr>
          <a:lstStyle/>
          <a:p>
            <a:pPr algn="r" defTabSz="609630">
              <a:lnSpc>
                <a:spcPts val="1584"/>
              </a:lnSpc>
            </a:pPr>
            <a:r>
              <a:rPr lang="en-US" sz="1131" spc="-56">
                <a:solidFill>
                  <a:srgbClr val="FFF8D4"/>
                </a:solidFill>
                <a:latin typeface="Montserrat"/>
                <a:ea typeface="Montserrat"/>
                <a:cs typeface="Montserrat"/>
                <a:sym typeface="Montserrat"/>
              </a:rPr>
              <a:t>Thynk Unlimited | 2028</a:t>
            </a:r>
          </a:p>
          <a:p>
            <a:pPr algn="r" defTabSz="609630">
              <a:lnSpc>
                <a:spcPts val="1584"/>
              </a:lnSpc>
              <a:spcBef>
                <a:spcPct val="0"/>
              </a:spcBef>
            </a:pPr>
            <a:r>
              <a:rPr lang="en-US" sz="1131" spc="-56">
                <a:solidFill>
                  <a:srgbClr val="FFF8D4"/>
                </a:solidFill>
                <a:latin typeface="Montserrat"/>
                <a:ea typeface="Montserrat"/>
                <a:cs typeface="Montserrat"/>
                <a:sym typeface="Montserrat"/>
              </a:rPr>
              <a:t>www.reallygreatsite.com</a:t>
            </a:r>
          </a:p>
        </p:txBody>
      </p:sp>
      <p:sp>
        <p:nvSpPr>
          <p:cNvPr id="8" name="TextBox 8"/>
          <p:cNvSpPr txBox="1"/>
          <p:nvPr/>
        </p:nvSpPr>
        <p:spPr>
          <a:xfrm>
            <a:off x="0" y="765178"/>
            <a:ext cx="9129228" cy="4477572"/>
          </a:xfrm>
          <a:prstGeom prst="rect">
            <a:avLst/>
          </a:prstGeom>
        </p:spPr>
        <p:txBody>
          <a:bodyPr lIns="0" tIns="0" rIns="0" bIns="0" rtlCol="0" anchor="t">
            <a:spAutoFit/>
          </a:bodyPr>
          <a:lstStyle/>
          <a:p>
            <a:pPr algn="ctr" defTabSz="609630">
              <a:lnSpc>
                <a:spcPts val="3173"/>
              </a:lnSpc>
            </a:pPr>
            <a:r>
              <a:rPr lang="en-US" sz="2266" dirty="0">
                <a:solidFill>
                  <a:srgbClr val="FFF8D4"/>
                </a:solidFill>
                <a:latin typeface="Canva Sans"/>
                <a:ea typeface="Canva Sans"/>
                <a:cs typeface="Canva Sans"/>
                <a:sym typeface="Canva Sans"/>
              </a:rPr>
              <a:t>To achieve this, the analysis answers the following questions:</a:t>
            </a:r>
          </a:p>
          <a:p>
            <a:pPr defTabSz="609630">
              <a:lnSpc>
                <a:spcPts val="3173"/>
              </a:lnSpc>
            </a:pPr>
            <a:endParaRPr lang="en-US" sz="2266" dirty="0">
              <a:solidFill>
                <a:srgbClr val="FFF8D4"/>
              </a:solidFill>
              <a:latin typeface="Canva Sans"/>
              <a:ea typeface="Canva Sans"/>
              <a:cs typeface="Canva Sans"/>
              <a:sym typeface="Canva Sans"/>
            </a:endParaRP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How did total revenue compare between 2020 and 2021?</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month in each year recorded peak revenue?</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day recorded peak revenue across the two-year period?</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product generated the highest revenue in each year?</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retailer generated the highest revenue in each year?</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city, region, and state generated the highest revenue in each year?</a:t>
            </a:r>
          </a:p>
          <a:p>
            <a:pPr marL="489397" lvl="1" indent="-244699" defTabSz="609630">
              <a:lnSpc>
                <a:spcPts val="3173"/>
              </a:lnSpc>
              <a:buFont typeface="Arial"/>
              <a:buChar char="•"/>
            </a:pPr>
            <a:r>
              <a:rPr lang="en-US" sz="2266" dirty="0">
                <a:solidFill>
                  <a:srgbClr val="FFF8D4"/>
                </a:solidFill>
                <a:latin typeface="Canva Sans"/>
                <a:ea typeface="Canva Sans"/>
                <a:cs typeface="Canva Sans"/>
                <a:sym typeface="Canva Sans"/>
              </a:rPr>
              <a:t>Which sales method generated the highest revenue between the two years?</a:t>
            </a:r>
          </a:p>
        </p:txBody>
      </p:sp>
    </p:spTree>
    <p:extLst>
      <p:ext uri="{BB962C8B-B14F-4D97-AF65-F5344CB8AC3E}">
        <p14:creationId xmlns:p14="http://schemas.microsoft.com/office/powerpoint/2010/main" val="621451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sp>
        <p:nvSpPr>
          <p:cNvPr id="2" name="Freeform 2"/>
          <p:cNvSpPr/>
          <p:nvPr/>
        </p:nvSpPr>
        <p:spPr>
          <a:xfrm>
            <a:off x="1518939" y="4356285"/>
            <a:ext cx="311075" cy="311075"/>
          </a:xfrm>
          <a:custGeom>
            <a:avLst/>
            <a:gdLst/>
            <a:ahLst/>
            <a:cxnLst/>
            <a:rect l="l" t="t" r="r" b="b"/>
            <a:pathLst>
              <a:path w="466613" h="466613">
                <a:moveTo>
                  <a:pt x="0" y="0"/>
                </a:moveTo>
                <a:lnTo>
                  <a:pt x="466613" y="0"/>
                </a:lnTo>
                <a:lnTo>
                  <a:pt x="466613" y="466613"/>
                </a:lnTo>
                <a:lnTo>
                  <a:pt x="0" y="466613"/>
                </a:lnTo>
                <a:lnTo>
                  <a:pt x="0" y="0"/>
                </a:lnTo>
                <a:close/>
              </a:path>
            </a:pathLst>
          </a:custGeom>
          <a:blipFill>
            <a:blip r:embed="rId2">
              <a:alphaModFix amt="7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3501656" y="4356285"/>
            <a:ext cx="313314" cy="347008"/>
          </a:xfrm>
          <a:custGeom>
            <a:avLst/>
            <a:gdLst/>
            <a:ahLst/>
            <a:cxnLst/>
            <a:rect l="l" t="t" r="r" b="b"/>
            <a:pathLst>
              <a:path w="469971" h="520512">
                <a:moveTo>
                  <a:pt x="0" y="0"/>
                </a:moveTo>
                <a:lnTo>
                  <a:pt x="469971" y="0"/>
                </a:lnTo>
                <a:lnTo>
                  <a:pt x="469971" y="520512"/>
                </a:lnTo>
                <a:lnTo>
                  <a:pt x="0" y="520512"/>
                </a:lnTo>
                <a:lnTo>
                  <a:pt x="0" y="0"/>
                </a:lnTo>
                <a:close/>
              </a:path>
            </a:pathLst>
          </a:custGeom>
          <a:blipFill>
            <a:blip r:embed="rId4">
              <a:alphaModFix amt="71000"/>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135966" y="-227851"/>
            <a:ext cx="1923256" cy="3865226"/>
            <a:chOff x="0" y="0"/>
            <a:chExt cx="759805" cy="1527003"/>
          </a:xfrm>
        </p:grpSpPr>
        <p:sp>
          <p:nvSpPr>
            <p:cNvPr id="5" name="Freeform 5"/>
            <p:cNvSpPr/>
            <p:nvPr/>
          </p:nvSpPr>
          <p:spPr>
            <a:xfrm>
              <a:off x="0" y="0"/>
              <a:ext cx="759805" cy="1527003"/>
            </a:xfrm>
            <a:custGeom>
              <a:avLst/>
              <a:gdLst/>
              <a:ahLst/>
              <a:cxnLst/>
              <a:rect l="l" t="t" r="r" b="b"/>
              <a:pathLst>
                <a:path w="759805" h="1527003">
                  <a:moveTo>
                    <a:pt x="0" y="0"/>
                  </a:moveTo>
                  <a:lnTo>
                    <a:pt x="759805" y="0"/>
                  </a:lnTo>
                  <a:lnTo>
                    <a:pt x="759805" y="1527003"/>
                  </a:lnTo>
                  <a:lnTo>
                    <a:pt x="0" y="1527003"/>
                  </a:lnTo>
                  <a:close/>
                </a:path>
              </a:pathLst>
            </a:custGeom>
            <a:solidFill>
              <a:srgbClr val="0C0C0C">
                <a:alpha val="70980"/>
              </a:srgbClr>
            </a:solidFill>
          </p:spPr>
        </p:sp>
        <p:sp>
          <p:nvSpPr>
            <p:cNvPr id="6" name="TextBox 6"/>
            <p:cNvSpPr txBox="1"/>
            <p:nvPr/>
          </p:nvSpPr>
          <p:spPr>
            <a:xfrm>
              <a:off x="0" y="-38100"/>
              <a:ext cx="759805" cy="1565103"/>
            </a:xfrm>
            <a:prstGeom prst="rect">
              <a:avLst/>
            </a:prstGeom>
          </p:spPr>
          <p:txBody>
            <a:bodyPr lIns="33867" tIns="33867" rIns="33867" bIns="33867" rtlCol="0" anchor="ctr"/>
            <a:lstStyle/>
            <a:p>
              <a:pPr algn="ctr" defTabSz="609630">
                <a:lnSpc>
                  <a:spcPts val="1799"/>
                </a:lnSpc>
              </a:pPr>
              <a:endParaRPr sz="1200">
                <a:solidFill>
                  <a:prstClr val="black"/>
                </a:solidFill>
                <a:latin typeface="Calibri"/>
              </a:endParaRPr>
            </a:p>
          </p:txBody>
        </p:sp>
      </p:grpSp>
      <p:sp>
        <p:nvSpPr>
          <p:cNvPr id="7" name="Freeform 7"/>
          <p:cNvSpPr/>
          <p:nvPr/>
        </p:nvSpPr>
        <p:spPr>
          <a:xfrm>
            <a:off x="9012681" y="1143014"/>
            <a:ext cx="2753475" cy="1995591"/>
          </a:xfrm>
          <a:custGeom>
            <a:avLst/>
            <a:gdLst/>
            <a:ahLst/>
            <a:cxnLst/>
            <a:rect l="l" t="t" r="r" b="b"/>
            <a:pathLst>
              <a:path w="4130212" h="2993386">
                <a:moveTo>
                  <a:pt x="0" y="0"/>
                </a:moveTo>
                <a:lnTo>
                  <a:pt x="4130212" y="0"/>
                </a:lnTo>
                <a:lnTo>
                  <a:pt x="4130212" y="2993386"/>
                </a:lnTo>
                <a:lnTo>
                  <a:pt x="0" y="2993386"/>
                </a:lnTo>
                <a:lnTo>
                  <a:pt x="0" y="0"/>
                </a:lnTo>
                <a:close/>
              </a:path>
            </a:pathLst>
          </a:custGeom>
          <a:blipFill>
            <a:blip r:embed="rId6"/>
            <a:stretch>
              <a:fillRect l="-21130" t="-5711" b="-5711"/>
            </a:stretch>
          </a:blipFill>
        </p:spPr>
      </p:sp>
      <p:sp>
        <p:nvSpPr>
          <p:cNvPr id="8" name="TextBox 8"/>
          <p:cNvSpPr txBox="1"/>
          <p:nvPr/>
        </p:nvSpPr>
        <p:spPr>
          <a:xfrm>
            <a:off x="386298" y="542279"/>
            <a:ext cx="7082726" cy="3629904"/>
          </a:xfrm>
          <a:prstGeom prst="rect">
            <a:avLst/>
          </a:prstGeom>
        </p:spPr>
        <p:txBody>
          <a:bodyPr lIns="0" tIns="0" rIns="0" bIns="0" rtlCol="0" anchor="t">
            <a:spAutoFit/>
          </a:bodyPr>
          <a:lstStyle/>
          <a:p>
            <a:pPr algn="just" defTabSz="609630">
              <a:lnSpc>
                <a:spcPts val="9360"/>
              </a:lnSpc>
            </a:pPr>
            <a:r>
              <a:rPr lang="en-US" sz="9360" spc="-131">
                <a:solidFill>
                  <a:srgbClr val="0C0C0C"/>
                </a:solidFill>
                <a:latin typeface="Anton"/>
                <a:ea typeface="Anton"/>
                <a:cs typeface="Anton"/>
                <a:sym typeface="Anton"/>
              </a:rPr>
              <a:t>METHODOLOGY</a:t>
            </a:r>
          </a:p>
          <a:p>
            <a:pPr algn="just" defTabSz="609630">
              <a:lnSpc>
                <a:spcPts val="9360"/>
              </a:lnSpc>
            </a:pPr>
            <a:endParaRPr lang="en-US" sz="9360" spc="-131">
              <a:solidFill>
                <a:srgbClr val="0C0C0C"/>
              </a:solidFill>
              <a:latin typeface="Anton"/>
              <a:ea typeface="Anton"/>
              <a:cs typeface="Anton"/>
              <a:sym typeface="Anton"/>
            </a:endParaRPr>
          </a:p>
          <a:p>
            <a:pPr algn="just" defTabSz="609630">
              <a:lnSpc>
                <a:spcPts val="9360"/>
              </a:lnSpc>
            </a:pPr>
            <a:endParaRPr lang="en-US" sz="9360" spc="-131">
              <a:solidFill>
                <a:srgbClr val="0C0C0C"/>
              </a:solidFill>
              <a:latin typeface="Anton"/>
              <a:ea typeface="Anton"/>
              <a:cs typeface="Anton"/>
              <a:sym typeface="Anton"/>
            </a:endParaRPr>
          </a:p>
        </p:txBody>
      </p:sp>
      <p:sp>
        <p:nvSpPr>
          <p:cNvPr id="9" name="TextBox 9"/>
          <p:cNvSpPr txBox="1"/>
          <p:nvPr/>
        </p:nvSpPr>
        <p:spPr>
          <a:xfrm>
            <a:off x="0" y="1660312"/>
            <a:ext cx="8889367" cy="1604991"/>
          </a:xfrm>
          <a:prstGeom prst="rect">
            <a:avLst/>
          </a:prstGeom>
        </p:spPr>
        <p:txBody>
          <a:bodyPr lIns="0" tIns="0" rIns="0" bIns="0" rtlCol="0" anchor="t">
            <a:spAutoFit/>
          </a:bodyPr>
          <a:lstStyle/>
          <a:p>
            <a:pPr defTabSz="609630">
              <a:lnSpc>
                <a:spcPts val="3173"/>
              </a:lnSpc>
            </a:pPr>
            <a:r>
              <a:rPr lang="en-US" sz="2266">
                <a:solidFill>
                  <a:srgbClr val="0C0C0C"/>
                </a:solidFill>
                <a:latin typeface="Canva Sans"/>
                <a:ea typeface="Canva Sans"/>
                <a:cs typeface="Canva Sans"/>
                <a:sym typeface="Canva Sans"/>
              </a:rPr>
              <a:t>Data was sourced from a single sales transactions table covering January 2020 through December 2021, containing columns for order date, product, retailer, city/region/state, sales method, units sold, and total sales revenue</a:t>
            </a:r>
          </a:p>
        </p:txBody>
      </p:sp>
      <p:sp>
        <p:nvSpPr>
          <p:cNvPr id="10" name="TextBox 10"/>
          <p:cNvSpPr txBox="1"/>
          <p:nvPr/>
        </p:nvSpPr>
        <p:spPr>
          <a:xfrm>
            <a:off x="0" y="3386145"/>
            <a:ext cx="10135966" cy="784254"/>
          </a:xfrm>
          <a:prstGeom prst="rect">
            <a:avLst/>
          </a:prstGeom>
        </p:spPr>
        <p:txBody>
          <a:bodyPr lIns="0" tIns="0" rIns="0" bIns="0" rtlCol="0" anchor="t">
            <a:spAutoFit/>
          </a:bodyPr>
          <a:lstStyle/>
          <a:p>
            <a:pPr defTabSz="609630">
              <a:lnSpc>
                <a:spcPts val="3173"/>
              </a:lnSpc>
            </a:pPr>
            <a:r>
              <a:rPr lang="en-US" sz="2266">
                <a:solidFill>
                  <a:srgbClr val="0C0C0C"/>
                </a:solidFill>
                <a:latin typeface="Canva Sans"/>
                <a:ea typeface="Canva Sans"/>
                <a:cs typeface="Canva Sans"/>
                <a:sym typeface="Canva Sans"/>
              </a:rPr>
              <a:t>Revenue was aggregated by month, day, product, retailer, and geography to identify each dimension's top performer per year.</a:t>
            </a:r>
          </a:p>
        </p:txBody>
      </p:sp>
      <p:sp>
        <p:nvSpPr>
          <p:cNvPr id="11" name="TextBox 11"/>
          <p:cNvSpPr txBox="1"/>
          <p:nvPr/>
        </p:nvSpPr>
        <p:spPr>
          <a:xfrm>
            <a:off x="66390" y="4485339"/>
            <a:ext cx="12059222" cy="2015360"/>
          </a:xfrm>
          <a:prstGeom prst="rect">
            <a:avLst/>
          </a:prstGeom>
        </p:spPr>
        <p:txBody>
          <a:bodyPr lIns="0" tIns="0" rIns="0" bIns="0" rtlCol="0" anchor="t">
            <a:spAutoFit/>
          </a:bodyPr>
          <a:lstStyle/>
          <a:p>
            <a:pPr defTabSz="609630">
              <a:lnSpc>
                <a:spcPts val="3173"/>
              </a:lnSpc>
            </a:pPr>
            <a:r>
              <a:rPr lang="en-US" sz="2266">
                <a:solidFill>
                  <a:srgbClr val="0C0C0C"/>
                </a:solidFill>
                <a:latin typeface="Canva Sans"/>
                <a:ea typeface="Canva Sans"/>
                <a:cs typeface="Canva Sans"/>
                <a:sym typeface="Canva Sans"/>
              </a:rPr>
              <a:t>Year-over-year revenue change was calculated using the standard formula: ((2021 revenue − 2020 revenue) / 2020 revenue) × 100. "Peak" revenue periods (month/day) were identified by ranking aggregated revenue in descending order within each year. All queries were written and executed in MySQL . No records were excluded from this analysis; the dataset does not track returns/refunds separately</a:t>
            </a:r>
          </a:p>
        </p:txBody>
      </p:sp>
    </p:spTree>
    <p:extLst>
      <p:ext uri="{BB962C8B-B14F-4D97-AF65-F5344CB8AC3E}">
        <p14:creationId xmlns:p14="http://schemas.microsoft.com/office/powerpoint/2010/main" val="4094665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1601450" y="-228617"/>
            <a:ext cx="2057400" cy="722185"/>
            <a:chOff x="0" y="0"/>
            <a:chExt cx="812800" cy="285308"/>
          </a:xfrm>
        </p:grpSpPr>
        <p:sp>
          <p:nvSpPr>
            <p:cNvPr id="3" name="Freeform 3"/>
            <p:cNvSpPr/>
            <p:nvPr/>
          </p:nvSpPr>
          <p:spPr>
            <a:xfrm>
              <a:off x="0" y="0"/>
              <a:ext cx="812800" cy="285308"/>
            </a:xfrm>
            <a:custGeom>
              <a:avLst/>
              <a:gdLst/>
              <a:ahLst/>
              <a:cxnLst/>
              <a:rect l="l" t="t" r="r" b="b"/>
              <a:pathLst>
                <a:path w="812800" h="285308">
                  <a:moveTo>
                    <a:pt x="0" y="0"/>
                  </a:moveTo>
                  <a:lnTo>
                    <a:pt x="812800" y="0"/>
                  </a:lnTo>
                  <a:lnTo>
                    <a:pt x="812800" y="285308"/>
                  </a:lnTo>
                  <a:lnTo>
                    <a:pt x="0" y="285308"/>
                  </a:lnTo>
                  <a:close/>
                </a:path>
              </a:pathLst>
            </a:custGeom>
            <a:solidFill>
              <a:srgbClr val="000000">
                <a:alpha val="70980"/>
              </a:srgbClr>
            </a:solidFill>
          </p:spPr>
        </p:sp>
        <p:sp>
          <p:nvSpPr>
            <p:cNvPr id="4" name="TextBox 4"/>
            <p:cNvSpPr txBox="1"/>
            <p:nvPr/>
          </p:nvSpPr>
          <p:spPr>
            <a:xfrm>
              <a:off x="0" y="-38100"/>
              <a:ext cx="812800" cy="323408"/>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5" name="Group 5"/>
          <p:cNvGrpSpPr/>
          <p:nvPr/>
        </p:nvGrpSpPr>
        <p:grpSpPr>
          <a:xfrm>
            <a:off x="10044354" y="485519"/>
            <a:ext cx="2585796" cy="4067128"/>
            <a:chOff x="0" y="0"/>
            <a:chExt cx="1083475" cy="1704168"/>
          </a:xfrm>
        </p:grpSpPr>
        <p:sp>
          <p:nvSpPr>
            <p:cNvPr id="6" name="Freeform 6"/>
            <p:cNvSpPr/>
            <p:nvPr/>
          </p:nvSpPr>
          <p:spPr>
            <a:xfrm>
              <a:off x="0" y="0"/>
              <a:ext cx="1083475" cy="1704168"/>
            </a:xfrm>
            <a:custGeom>
              <a:avLst/>
              <a:gdLst/>
              <a:ahLst/>
              <a:cxnLst/>
              <a:rect l="l" t="t" r="r" b="b"/>
              <a:pathLst>
                <a:path w="1083475" h="1704168">
                  <a:moveTo>
                    <a:pt x="0" y="0"/>
                  </a:moveTo>
                  <a:lnTo>
                    <a:pt x="1083475" y="0"/>
                  </a:lnTo>
                  <a:lnTo>
                    <a:pt x="1083475" y="1704168"/>
                  </a:lnTo>
                  <a:lnTo>
                    <a:pt x="0" y="1704168"/>
                  </a:lnTo>
                  <a:close/>
                </a:path>
              </a:pathLst>
            </a:custGeom>
            <a:solidFill>
              <a:srgbClr val="000000">
                <a:alpha val="70980"/>
              </a:srgbClr>
            </a:solidFill>
          </p:spPr>
        </p:sp>
        <p:sp>
          <p:nvSpPr>
            <p:cNvPr id="7" name="TextBox 7"/>
            <p:cNvSpPr txBox="1"/>
            <p:nvPr/>
          </p:nvSpPr>
          <p:spPr>
            <a:xfrm>
              <a:off x="0" y="-38100"/>
              <a:ext cx="1083475" cy="1742268"/>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8" name="Freeform 8"/>
          <p:cNvSpPr/>
          <p:nvPr/>
        </p:nvSpPr>
        <p:spPr>
          <a:xfrm flipH="1">
            <a:off x="10229855" y="713930"/>
            <a:ext cx="2400295" cy="3600442"/>
          </a:xfrm>
          <a:custGeom>
            <a:avLst/>
            <a:gdLst/>
            <a:ahLst/>
            <a:cxnLst/>
            <a:rect l="l" t="t" r="r" b="b"/>
            <a:pathLst>
              <a:path w="3600442" h="5400663">
                <a:moveTo>
                  <a:pt x="3600442" y="0"/>
                </a:moveTo>
                <a:lnTo>
                  <a:pt x="0" y="0"/>
                </a:lnTo>
                <a:lnTo>
                  <a:pt x="0" y="5400664"/>
                </a:lnTo>
                <a:lnTo>
                  <a:pt x="3600442" y="5400664"/>
                </a:lnTo>
                <a:lnTo>
                  <a:pt x="3600442" y="0"/>
                </a:lnTo>
                <a:close/>
              </a:path>
            </a:pathLst>
          </a:custGeom>
          <a:blipFill>
            <a:blip r:embed="rId2"/>
            <a:stretch>
              <a:fillRect/>
            </a:stretch>
          </a:blipFill>
        </p:spPr>
      </p:sp>
      <p:grpSp>
        <p:nvGrpSpPr>
          <p:cNvPr id="9" name="Group 9"/>
          <p:cNvGrpSpPr/>
          <p:nvPr/>
        </p:nvGrpSpPr>
        <p:grpSpPr>
          <a:xfrm>
            <a:off x="11506200" y="4546298"/>
            <a:ext cx="2057400" cy="2731859"/>
            <a:chOff x="0" y="0"/>
            <a:chExt cx="812800" cy="1079253"/>
          </a:xfrm>
        </p:grpSpPr>
        <p:sp>
          <p:nvSpPr>
            <p:cNvPr id="10" name="Freeform 10"/>
            <p:cNvSpPr/>
            <p:nvPr/>
          </p:nvSpPr>
          <p:spPr>
            <a:xfrm>
              <a:off x="0" y="0"/>
              <a:ext cx="812800" cy="1079253"/>
            </a:xfrm>
            <a:custGeom>
              <a:avLst/>
              <a:gdLst/>
              <a:ahLst/>
              <a:cxnLst/>
              <a:rect l="l" t="t" r="r" b="b"/>
              <a:pathLst>
                <a:path w="812800" h="1079253">
                  <a:moveTo>
                    <a:pt x="0" y="0"/>
                  </a:moveTo>
                  <a:lnTo>
                    <a:pt x="812800" y="0"/>
                  </a:lnTo>
                  <a:lnTo>
                    <a:pt x="812800" y="1079253"/>
                  </a:lnTo>
                  <a:lnTo>
                    <a:pt x="0" y="1079253"/>
                  </a:lnTo>
                  <a:close/>
                </a:path>
              </a:pathLst>
            </a:custGeom>
            <a:solidFill>
              <a:srgbClr val="000000">
                <a:alpha val="70980"/>
              </a:srgbClr>
            </a:solidFill>
          </p:spPr>
        </p:sp>
        <p:sp>
          <p:nvSpPr>
            <p:cNvPr id="11" name="TextBox 11"/>
            <p:cNvSpPr txBox="1"/>
            <p:nvPr/>
          </p:nvSpPr>
          <p:spPr>
            <a:xfrm>
              <a:off x="0" y="-38100"/>
              <a:ext cx="812800" cy="1117353"/>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aphicFrame>
        <p:nvGraphicFramePr>
          <p:cNvPr id="12" name="Table 12"/>
          <p:cNvGraphicFramePr>
            <a:graphicFrameLocks noGrp="1"/>
          </p:cNvGraphicFramePr>
          <p:nvPr/>
        </p:nvGraphicFramePr>
        <p:xfrm>
          <a:off x="234726" y="1169161"/>
          <a:ext cx="9687895" cy="5517546"/>
        </p:xfrm>
        <a:graphic>
          <a:graphicData uri="http://schemas.openxmlformats.org/drawingml/2006/table">
            <a:tbl>
              <a:tblPr/>
              <a:tblGrid>
                <a:gridCol w="4649952">
                  <a:extLst>
                    <a:ext uri="{9D8B030D-6E8A-4147-A177-3AD203B41FA5}">
                      <a16:colId xmlns:a16="http://schemas.microsoft.com/office/drawing/2014/main" val="20000"/>
                    </a:ext>
                  </a:extLst>
                </a:gridCol>
                <a:gridCol w="5037943">
                  <a:extLst>
                    <a:ext uri="{9D8B030D-6E8A-4147-A177-3AD203B41FA5}">
                      <a16:colId xmlns:a16="http://schemas.microsoft.com/office/drawing/2014/main" val="20001"/>
                    </a:ext>
                  </a:extLst>
                </a:gridCol>
              </a:tblGrid>
              <a:tr h="708170">
                <a:tc>
                  <a:txBody>
                    <a:bodyPr/>
                    <a:lstStyle/>
                    <a:p>
                      <a:pPr algn="ctr">
                        <a:lnSpc>
                          <a:spcPts val="4479"/>
                        </a:lnSpc>
                        <a:defRPr/>
                      </a:pPr>
                      <a:r>
                        <a:rPr lang="en-US" sz="2100" b="1">
                          <a:solidFill>
                            <a:srgbClr val="000000"/>
                          </a:solidFill>
                          <a:latin typeface="Canva Sans Bold"/>
                          <a:ea typeface="Canva Sans Bold"/>
                          <a:cs typeface="Canva Sans Bold"/>
                          <a:sym typeface="Canva Sans Bold"/>
                        </a:rPr>
                        <a:t>KPI</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79"/>
                        </a:lnSpc>
                        <a:defRPr/>
                      </a:pPr>
                      <a:r>
                        <a:rPr lang="en-US" sz="2100" b="1">
                          <a:solidFill>
                            <a:srgbClr val="000000"/>
                          </a:solidFill>
                          <a:latin typeface="Montserrat Bold"/>
                          <a:ea typeface="Montserrat Bold"/>
                          <a:cs typeface="Montserrat Bold"/>
                          <a:sym typeface="Montserrat Bold"/>
                        </a:rPr>
                        <a:t>Formula</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87535">
                <a:tc>
                  <a:txBody>
                    <a:bodyPr/>
                    <a:lstStyle/>
                    <a:p>
                      <a:pPr algn="ctr">
                        <a:lnSpc>
                          <a:spcPts val="3499"/>
                        </a:lnSpc>
                        <a:defRPr/>
                      </a:pPr>
                      <a:r>
                        <a:rPr lang="en-US" sz="1700" dirty="0">
                          <a:solidFill>
                            <a:srgbClr val="000000"/>
                          </a:solidFill>
                          <a:latin typeface="Montserrat"/>
                          <a:ea typeface="Montserrat"/>
                          <a:cs typeface="Montserrat"/>
                          <a:sym typeface="Montserrat"/>
                        </a:rPr>
                        <a:t>YoY Revenue Growth Rate</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a:solidFill>
                            <a:srgbClr val="000000"/>
                          </a:solidFill>
                          <a:latin typeface="Montserrat"/>
                          <a:ea typeface="Montserrat"/>
                          <a:cs typeface="Montserrat"/>
                          <a:sym typeface="Montserrat"/>
                        </a:rPr>
                        <a:t>((2021 revenue − 2020 revenue) / 2020 revenue) × 100</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8956">
                <a:tc>
                  <a:txBody>
                    <a:bodyPr/>
                    <a:lstStyle/>
                    <a:p>
                      <a:pPr algn="ctr">
                        <a:lnSpc>
                          <a:spcPts val="3499"/>
                        </a:lnSpc>
                        <a:defRPr/>
                      </a:pPr>
                      <a:r>
                        <a:rPr lang="en-US" sz="1700" dirty="0">
                          <a:solidFill>
                            <a:srgbClr val="000000"/>
                          </a:solidFill>
                          <a:latin typeface="Montserrat"/>
                          <a:ea typeface="Montserrat"/>
                          <a:cs typeface="Montserrat"/>
                          <a:sym typeface="Montserrat"/>
                        </a:rPr>
                        <a:t>Peak Month Revenue (per year)</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a:solidFill>
                            <a:srgbClr val="000000"/>
                          </a:solidFill>
                          <a:latin typeface="Montserrat"/>
                          <a:ea typeface="Montserrat"/>
                          <a:cs typeface="Montserrat"/>
                          <a:sym typeface="Montserrat"/>
                        </a:rPr>
                        <a:t>MAX(monthly revenue), ranked</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8956">
                <a:tc>
                  <a:txBody>
                    <a:bodyPr/>
                    <a:lstStyle/>
                    <a:p>
                      <a:pPr algn="ctr">
                        <a:lnSpc>
                          <a:spcPts val="3779"/>
                        </a:lnSpc>
                        <a:defRPr/>
                      </a:pPr>
                      <a:r>
                        <a:rPr lang="en-US" sz="1800" dirty="0">
                          <a:solidFill>
                            <a:srgbClr val="000000"/>
                          </a:solidFill>
                          <a:latin typeface="Montserrat"/>
                          <a:ea typeface="Montserrat"/>
                          <a:cs typeface="Montserrat"/>
                          <a:sym typeface="Montserrat"/>
                        </a:rPr>
                        <a:t>Peak Day Revenue</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a:solidFill>
                            <a:srgbClr val="000000"/>
                          </a:solidFill>
                          <a:latin typeface="Montserrat"/>
                          <a:ea typeface="Montserrat"/>
                          <a:cs typeface="Montserrat"/>
                          <a:sym typeface="Montserrat"/>
                        </a:rPr>
                        <a:t>MAX(daily revenue), ranked</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8956">
                <a:tc>
                  <a:txBody>
                    <a:bodyPr/>
                    <a:lstStyle/>
                    <a:p>
                      <a:pPr algn="ctr">
                        <a:lnSpc>
                          <a:spcPts val="3499"/>
                        </a:lnSpc>
                        <a:defRPr/>
                      </a:pPr>
                      <a:r>
                        <a:rPr lang="en-US" sz="1700" dirty="0">
                          <a:solidFill>
                            <a:srgbClr val="000000"/>
                          </a:solidFill>
                          <a:latin typeface="Canva Sans"/>
                          <a:ea typeface="Canva Sans"/>
                          <a:cs typeface="Canva Sans"/>
                          <a:sym typeface="Canva Sans"/>
                        </a:rPr>
                        <a:t>Top Product Revenue Share</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a:solidFill>
                            <a:srgbClr val="000000"/>
                          </a:solidFill>
                          <a:latin typeface="Montserrat"/>
                          <a:ea typeface="Montserrat"/>
                          <a:cs typeface="Montserrat"/>
                          <a:sym typeface="Montserrat"/>
                        </a:rPr>
                        <a:t>Top product revenue / total revenue × 100, per year</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8956">
                <a:tc>
                  <a:txBody>
                    <a:bodyPr/>
                    <a:lstStyle/>
                    <a:p>
                      <a:pPr algn="ctr">
                        <a:lnSpc>
                          <a:spcPts val="3499"/>
                        </a:lnSpc>
                        <a:defRPr/>
                      </a:pPr>
                      <a:r>
                        <a:rPr lang="en-US" sz="1700" dirty="0">
                          <a:solidFill>
                            <a:srgbClr val="000000"/>
                          </a:solidFill>
                          <a:latin typeface="Montserrat"/>
                          <a:ea typeface="Montserrat"/>
                          <a:cs typeface="Montserrat"/>
                          <a:sym typeface="Montserrat"/>
                        </a:rPr>
                        <a:t>Top Retailer Revenue Share</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dirty="0">
                          <a:solidFill>
                            <a:srgbClr val="000000"/>
                          </a:solidFill>
                          <a:latin typeface="Canva Sans"/>
                          <a:ea typeface="Canva Sans"/>
                          <a:cs typeface="Canva Sans"/>
                          <a:sym typeface="Canva Sans"/>
                        </a:rPr>
                        <a:t>Top retailer revenue / total revenue × 100, per year</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10248">
                <a:tc>
                  <a:txBody>
                    <a:bodyPr/>
                    <a:lstStyle/>
                    <a:p>
                      <a:pPr algn="ctr">
                        <a:lnSpc>
                          <a:spcPts val="3499"/>
                        </a:lnSpc>
                        <a:defRPr/>
                      </a:pPr>
                      <a:r>
                        <a:rPr lang="en-US" sz="1700" dirty="0">
                          <a:solidFill>
                            <a:srgbClr val="000000"/>
                          </a:solidFill>
                          <a:latin typeface="Canva Sans"/>
                          <a:ea typeface="Canva Sans"/>
                          <a:cs typeface="Canva Sans"/>
                          <a:sym typeface="Canva Sans"/>
                        </a:rPr>
                        <a:t>Top Region Revenue Share</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a:solidFill>
                            <a:srgbClr val="000000"/>
                          </a:solidFill>
                          <a:latin typeface="Canva Sans"/>
                          <a:ea typeface="Canva Sans"/>
                          <a:cs typeface="Canva Sans"/>
                          <a:sym typeface="Canva Sans"/>
                        </a:rPr>
                        <a:t>Top city/region/state revenue / total revenue × 100, per year</a:t>
                      </a:r>
                      <a:endParaRPr lang="en-US" sz="70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6559">
                <a:tc>
                  <a:txBody>
                    <a:bodyPr/>
                    <a:lstStyle/>
                    <a:p>
                      <a:pPr algn="ctr">
                        <a:lnSpc>
                          <a:spcPts val="3499"/>
                        </a:lnSpc>
                        <a:defRPr/>
                      </a:pPr>
                      <a:r>
                        <a:rPr lang="en-US" sz="1700" dirty="0">
                          <a:solidFill>
                            <a:srgbClr val="000000"/>
                          </a:solidFill>
                          <a:latin typeface="Canva Sans"/>
                          <a:ea typeface="Canva Sans"/>
                          <a:cs typeface="Canva Sans"/>
                          <a:sym typeface="Canva Sans"/>
                        </a:rPr>
                        <a:t>Sales Method Revenue Comparison</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1400" dirty="0">
                          <a:solidFill>
                            <a:srgbClr val="000000"/>
                          </a:solidFill>
                          <a:latin typeface="Canva Sans"/>
                          <a:ea typeface="Canva Sans"/>
                          <a:cs typeface="Canva Sans"/>
                          <a:sym typeface="Canva Sans"/>
                        </a:rPr>
                        <a:t>Revenue by method (in-store/online/outlet), % of total</a:t>
                      </a:r>
                      <a:endParaRPr lang="en-US" sz="700" dirty="0"/>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3" name="TextBox 13"/>
          <p:cNvSpPr txBox="1"/>
          <p:nvPr/>
        </p:nvSpPr>
        <p:spPr>
          <a:xfrm>
            <a:off x="234725" y="234075"/>
            <a:ext cx="8747579" cy="673582"/>
          </a:xfrm>
          <a:prstGeom prst="rect">
            <a:avLst/>
          </a:prstGeom>
        </p:spPr>
        <p:txBody>
          <a:bodyPr lIns="0" tIns="0" rIns="0" bIns="0" rtlCol="0" anchor="t">
            <a:spAutoFit/>
          </a:bodyPr>
          <a:lstStyle/>
          <a:p>
            <a:pPr defTabSz="609630">
              <a:lnSpc>
                <a:spcPts val="5156"/>
              </a:lnSpc>
            </a:pPr>
            <a:r>
              <a:rPr lang="en-US" sz="5156" spc="-72">
                <a:solidFill>
                  <a:srgbClr val="0C0C0C"/>
                </a:solidFill>
                <a:latin typeface="Anton"/>
                <a:ea typeface="Anton"/>
                <a:cs typeface="Anton"/>
                <a:sym typeface="Anton"/>
              </a:rPr>
              <a:t>  KEY PERFORMANCE INDICATORS</a:t>
            </a:r>
          </a:p>
        </p:txBody>
      </p:sp>
    </p:spTree>
    <p:extLst>
      <p:ext uri="{BB962C8B-B14F-4D97-AF65-F5344CB8AC3E}">
        <p14:creationId xmlns:p14="http://schemas.microsoft.com/office/powerpoint/2010/main" val="602927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511951"/>
            <a:ext cx="11247120" cy="640080"/>
          </a:xfrm>
          <a:prstGeom prst="rect">
            <a:avLst/>
          </a:prstGeom>
          <a:noFill/>
          <a:ln/>
        </p:spPr>
        <p:txBody>
          <a:bodyPr wrap="square"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Georgia" pitchFamily="34" charset="0"/>
                <a:ea typeface="Georgia" pitchFamily="34" charset="-122"/>
                <a:cs typeface="Georgia" pitchFamily="34" charset="-120"/>
              </a:rPr>
              <a:t>Adidas Sales Dataset  Data Dictionary</a:t>
            </a:r>
            <a:endParaRPr kumimoji="0" lang="en-US" sz="2600" b="1" i="0" u="none" strike="noStrike" kern="1200" cap="none" spc="0" normalizeH="0" baseline="0" noProof="0" dirty="0">
              <a:ln>
                <a:noFill/>
              </a:ln>
              <a:solidFill>
                <a:prstClr val="black"/>
              </a:solidFill>
              <a:effectLst/>
              <a:uLnTx/>
              <a:uFillTx/>
              <a:latin typeface="Garamond" panose="02020404030301010803"/>
              <a:ea typeface="+mn-ea"/>
              <a:cs typeface="+mn-cs"/>
            </a:endParaRPr>
          </a:p>
        </p:txBody>
      </p:sp>
      <p:graphicFrame>
        <p:nvGraphicFramePr>
          <p:cNvPr id="4" name="Table 0"/>
          <p:cNvGraphicFramePr>
            <a:graphicFrameLocks noGrp="1"/>
          </p:cNvGraphicFramePr>
          <p:nvPr/>
        </p:nvGraphicFramePr>
        <p:xfrm>
          <a:off x="472440" y="1152031"/>
          <a:ext cx="11247120" cy="5577836"/>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7040880">
                  <a:extLst>
                    <a:ext uri="{9D8B030D-6E8A-4147-A177-3AD203B41FA5}">
                      <a16:colId xmlns:a16="http://schemas.microsoft.com/office/drawing/2014/main" val="20002"/>
                    </a:ext>
                  </a:extLst>
                </a:gridCol>
              </a:tblGrid>
              <a:tr h="328108">
                <a:tc>
                  <a:txBody>
                    <a:bodyPr/>
                    <a:lstStyle/>
                    <a:p>
                      <a:pPr marL="0" indent="0" algn="l">
                        <a:buNone/>
                      </a:pPr>
                      <a:r>
                        <a:rPr lang="en-US" sz="1300" b="0" dirty="0">
                          <a:solidFill>
                            <a:srgbClr val="FFFFFF"/>
                          </a:solidFill>
                          <a:latin typeface="Calibri" pitchFamily="34" charset="0"/>
                          <a:ea typeface="Calibri" pitchFamily="34" charset="-122"/>
                          <a:cs typeface="Calibri" pitchFamily="34" charset="-120"/>
                        </a:rPr>
                        <a:t>Column</a:t>
                      </a:r>
                      <a:endParaRPr lang="en-US" sz="1300" b="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5276"/>
                    </a:solidFill>
                  </a:tcPr>
                </a:tc>
                <a:tc>
                  <a:txBody>
                    <a:bodyPr/>
                    <a:lstStyle/>
                    <a:p>
                      <a:pPr marL="0" indent="0" algn="l">
                        <a:buNone/>
                      </a:pPr>
                      <a:r>
                        <a:rPr lang="en-US" sz="1300" b="0" dirty="0">
                          <a:solidFill>
                            <a:srgbClr val="FFFFFF"/>
                          </a:solidFill>
                          <a:latin typeface="Calibri" pitchFamily="34" charset="0"/>
                          <a:ea typeface="Calibri" pitchFamily="34" charset="-122"/>
                          <a:cs typeface="Calibri" pitchFamily="34" charset="-120"/>
                        </a:rPr>
                        <a:t>Type</a:t>
                      </a:r>
                      <a:endParaRPr lang="en-US" sz="1300" b="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5276"/>
                    </a:solidFill>
                  </a:tcPr>
                </a:tc>
                <a:tc>
                  <a:txBody>
                    <a:bodyPr/>
                    <a:lstStyle/>
                    <a:p>
                      <a:pPr marL="0" indent="0" algn="l">
                        <a:buNone/>
                      </a:pPr>
                      <a:r>
                        <a:rPr lang="en-US" sz="1300" b="0" dirty="0">
                          <a:solidFill>
                            <a:srgbClr val="FFFFFF"/>
                          </a:solidFill>
                          <a:latin typeface="Calibri" pitchFamily="34" charset="0"/>
                          <a:ea typeface="Calibri" pitchFamily="34" charset="-122"/>
                          <a:cs typeface="Calibri" pitchFamily="34" charset="-120"/>
                        </a:rPr>
                        <a:t>Description</a:t>
                      </a:r>
                      <a:endParaRPr lang="en-US" sz="1300" b="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Retailer</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Retail partner selling the product (e.g., Foot Locker, Walmart)</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Retailer_Id</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Unique identifier for the retailer</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Invoice_Date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DATE</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Date of the transaction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Region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Sales region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04"/>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State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Sales state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City</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Sales city</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06"/>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Product</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Product name / line sold</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Price_Per_Unit</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FLOAT</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Unit price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08"/>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Units_Sold</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INT</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Quantity sold</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Total_Sales</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FLOAT</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Revenue for the transaction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10"/>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Operating_Profit</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FLOAT</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Profit for the transaction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Operating_Margin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PERCENTAGE</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Profit margin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12"/>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Sales_Method</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In-store, online, or outlet</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Year_Num</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INT</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Year of transaction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14"/>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Month_Num / Month_Name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INT / 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Month of transaction</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32810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Day_Num / Day_Name</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555555"/>
                          </a:solidFill>
                          <a:latin typeface="Consolas" pitchFamily="34" charset="0"/>
                          <a:ea typeface="Consolas" pitchFamily="34" charset="-122"/>
                          <a:cs typeface="Consolas" pitchFamily="34" charset="-120"/>
                        </a:rPr>
                        <a:t>INT / VARCHAR</a:t>
                      </a:r>
                      <a:endParaRPr lang="en-US" sz="1150" dirty="0">
                        <a:latin typeface="Consolas" charset="0"/>
                        <a:ea typeface="Consolas" charset="0"/>
                        <a:cs typeface="Consolas"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tc>
                  <a:txBody>
                    <a:bodyPr/>
                    <a:lstStyle/>
                    <a:p>
                      <a:pPr marL="0" indent="0">
                        <a:buNone/>
                      </a:pPr>
                      <a:r>
                        <a:rPr lang="en-US" sz="1150" dirty="0">
                          <a:solidFill>
                            <a:srgbClr val="222222"/>
                          </a:solidFill>
                          <a:latin typeface="Calibri" pitchFamily="34" charset="0"/>
                          <a:ea typeface="Calibri" pitchFamily="34" charset="-122"/>
                          <a:cs typeface="Calibri" pitchFamily="34" charset="-120"/>
                        </a:rPr>
                        <a:t>Day of transaction (verify: calendar day vs. day-of-week)</a:t>
                      </a:r>
                      <a:endParaRPr lang="en-US" sz="1150" dirty="0">
                        <a:latin typeface="Calibri" charset="0"/>
                        <a:ea typeface="Calibri" charset="0"/>
                        <a:cs typeface="Calibri" charset="0"/>
                      </a:endParaRPr>
                    </a:p>
                  </a:txBody>
                  <a:tcPr marL="76200" marR="76200" marT="38100" marB="381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7FA"/>
                    </a:solidFill>
                  </a:tcPr>
                </a:tc>
                <a:extLst>
                  <a:ext uri="{0D108BD9-81ED-4DB2-BD59-A6C34878D82A}">
                    <a16:rowId xmlns:a16="http://schemas.microsoft.com/office/drawing/2014/main" val="10016"/>
                  </a:ext>
                </a:extLst>
              </a:tr>
            </a:tbl>
          </a:graphicData>
        </a:graphic>
      </p:graphicFrame>
      <p:sp>
        <p:nvSpPr>
          <p:cNvPr id="5" name="Text 1">
            <a:extLst>
              <a:ext uri="{FF2B5EF4-FFF2-40B4-BE49-F238E27FC236}">
                <a16:creationId xmlns:a16="http://schemas.microsoft.com/office/drawing/2014/main" id="{2B517054-3A4C-AF74-761D-121D05176031}"/>
              </a:ext>
            </a:extLst>
          </p:cNvPr>
          <p:cNvSpPr/>
          <p:nvPr/>
        </p:nvSpPr>
        <p:spPr>
          <a:xfrm>
            <a:off x="457200" y="91440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9058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99526" y="831258"/>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6.1</a:t>
              </a:r>
            </a:p>
          </p:txBody>
        </p:sp>
      </p:grpSp>
      <p:grpSp>
        <p:nvGrpSpPr>
          <p:cNvPr id="5" name="Group 5"/>
          <p:cNvGrpSpPr/>
          <p:nvPr/>
        </p:nvGrpSpPr>
        <p:grpSpPr>
          <a:xfrm>
            <a:off x="199525" y="2868117"/>
            <a:ext cx="11992475" cy="3989883"/>
            <a:chOff x="0" y="0"/>
            <a:chExt cx="4737768" cy="1576250"/>
          </a:xfrm>
        </p:grpSpPr>
        <p:sp>
          <p:nvSpPr>
            <p:cNvPr id="6" name="Freeform 6"/>
            <p:cNvSpPr/>
            <p:nvPr/>
          </p:nvSpPr>
          <p:spPr>
            <a:xfrm>
              <a:off x="0" y="0"/>
              <a:ext cx="4737768" cy="1576250"/>
            </a:xfrm>
            <a:custGeom>
              <a:avLst/>
              <a:gdLst/>
              <a:ahLst/>
              <a:cxnLst/>
              <a:rect l="l" t="t" r="r" b="b"/>
              <a:pathLst>
                <a:path w="4737768" h="1576250">
                  <a:moveTo>
                    <a:pt x="0" y="0"/>
                  </a:moveTo>
                  <a:lnTo>
                    <a:pt x="4737768" y="0"/>
                  </a:lnTo>
                  <a:lnTo>
                    <a:pt x="4737768" y="1576250"/>
                  </a:lnTo>
                  <a:lnTo>
                    <a:pt x="0" y="1576250"/>
                  </a:lnTo>
                  <a:close/>
                </a:path>
              </a:pathLst>
            </a:custGeom>
            <a:solidFill>
              <a:srgbClr val="0C0C0C"/>
            </a:solidFill>
          </p:spPr>
        </p:sp>
        <p:sp>
          <p:nvSpPr>
            <p:cNvPr id="7" name="TextBox 7"/>
            <p:cNvSpPr txBox="1"/>
            <p:nvPr/>
          </p:nvSpPr>
          <p:spPr>
            <a:xfrm>
              <a:off x="0" y="-38100"/>
              <a:ext cx="4737768" cy="1614350"/>
            </a:xfrm>
            <a:prstGeom prst="rect">
              <a:avLst/>
            </a:prstGeom>
          </p:spPr>
          <p:txBody>
            <a:bodyPr lIns="33867" tIns="33867" rIns="33867" bIns="33867" rtlCol="0" anchor="ctr"/>
            <a:lstStyle/>
            <a:p>
              <a:pPr defTabSz="609630">
                <a:lnSpc>
                  <a:spcPts val="1773"/>
                </a:lnSpc>
              </a:pPr>
              <a:r>
                <a:rPr lang="en-US" sz="1266" spc="-63" dirty="0">
                  <a:solidFill>
                    <a:srgbClr val="FFFFFF"/>
                  </a:solidFill>
                  <a:latin typeface="Montserrat"/>
                  <a:ea typeface="Montserrat"/>
                  <a:cs typeface="Montserrat"/>
                  <a:sym typeface="Montserrat"/>
                </a:rPr>
                <a:t>WITH </a:t>
              </a:r>
              <a:r>
                <a:rPr lang="en-US" sz="1266" spc="-63" dirty="0" err="1">
                  <a:solidFill>
                    <a:srgbClr val="FFFFFF"/>
                  </a:solidFill>
                  <a:latin typeface="Montserrat"/>
                  <a:ea typeface="Montserrat"/>
                  <a:cs typeface="Montserrat"/>
                  <a:sym typeface="Montserrat"/>
                </a:rPr>
                <a:t>Revenue_Overview</a:t>
              </a:r>
              <a:r>
                <a:rPr lang="en-US" sz="1266" spc="-63" dirty="0">
                  <a:solidFill>
                    <a:srgbClr val="FFFFFF"/>
                  </a:solidFill>
                  <a:latin typeface="Montserrat"/>
                  <a:ea typeface="Montserrat"/>
                  <a:cs typeface="Montserrat"/>
                  <a:sym typeface="Montserrat"/>
                </a:rPr>
                <a:t> AS (</a:t>
              </a:r>
            </a:p>
            <a:p>
              <a:pPr defTabSz="609630">
                <a:lnSpc>
                  <a:spcPts val="1773"/>
                </a:lnSpc>
              </a:pPr>
              <a:r>
                <a:rPr lang="en-US" sz="1266" spc="-63" dirty="0">
                  <a:solidFill>
                    <a:srgbClr val="FFFFFF"/>
                  </a:solidFill>
                  <a:latin typeface="Montserrat"/>
                  <a:ea typeface="Montserrat"/>
                  <a:cs typeface="Montserrat"/>
                  <a:sym typeface="Montserrat"/>
                </a:rPr>
                <a:t> SELECT</a:t>
              </a:r>
            </a:p>
            <a:p>
              <a:pPr defTabSz="609630">
                <a:lnSpc>
                  <a:spcPts val="1773"/>
                </a:lnSpc>
              </a:pPr>
              <a:r>
                <a:rPr lang="en-US" sz="1266" spc="-63" dirty="0">
                  <a:solidFill>
                    <a:srgbClr val="FFFFFF"/>
                  </a:solidFill>
                  <a:latin typeface="Montserrat"/>
                  <a:ea typeface="Montserrat"/>
                  <a:cs typeface="Montserrat"/>
                  <a:sym typeface="Montserrat"/>
                </a:rPr>
                <a:t> SUM(</a:t>
              </a:r>
              <a:r>
                <a:rPr lang="en-US" sz="1266" spc="-63" dirty="0" err="1">
                  <a:solidFill>
                    <a:srgbClr val="FFFFFF"/>
                  </a:solidFill>
                  <a:latin typeface="Montserrat"/>
                  <a:ea typeface="Montserrat"/>
                  <a:cs typeface="Montserrat"/>
                  <a:sym typeface="Montserrat"/>
                </a:rPr>
                <a:t>Total_Sales</a:t>
              </a:r>
              <a:r>
                <a:rPr lang="en-US" sz="1266" spc="-63" dirty="0">
                  <a:solidFill>
                    <a:srgbClr val="FFFFFF"/>
                  </a:solidFill>
                  <a:latin typeface="Montserrat"/>
                  <a:ea typeface="Montserrat"/>
                  <a:cs typeface="Montserrat"/>
                  <a:sym typeface="Montserrat"/>
                </a:rPr>
                <a:t>) AS </a:t>
              </a:r>
              <a:r>
                <a:rPr lang="en-US" sz="1266" spc="-63" dirty="0" err="1">
                  <a:solidFill>
                    <a:srgbClr val="FFFFFF"/>
                  </a:solidFill>
                  <a:latin typeface="Montserrat"/>
                  <a:ea typeface="Montserrat"/>
                  <a:cs typeface="Montserrat"/>
                  <a:sym typeface="Montserrat"/>
                </a:rPr>
                <a:t>Total_Revenue</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SUM(</a:t>
              </a:r>
              <a:r>
                <a:rPr lang="en-US" sz="1266" spc="-63" dirty="0" err="1">
                  <a:solidFill>
                    <a:srgbClr val="FFFFFF"/>
                  </a:solidFill>
                  <a:latin typeface="Montserrat"/>
                  <a:ea typeface="Montserrat"/>
                  <a:cs typeface="Montserrat"/>
                  <a:sym typeface="Montserrat"/>
                </a:rPr>
                <a:t>Units_Sold</a:t>
              </a:r>
              <a:r>
                <a:rPr lang="en-US" sz="1266" spc="-63" dirty="0">
                  <a:solidFill>
                    <a:srgbClr val="FFFFFF"/>
                  </a:solidFill>
                  <a:latin typeface="Montserrat"/>
                  <a:ea typeface="Montserrat"/>
                  <a:cs typeface="Montserrat"/>
                  <a:sym typeface="Montserrat"/>
                </a:rPr>
                <a:t>) </a:t>
              </a:r>
              <a:r>
                <a:rPr lang="en-US" sz="1266" spc="-63" dirty="0" err="1">
                  <a:solidFill>
                    <a:srgbClr val="FFFFFF"/>
                  </a:solidFill>
                  <a:latin typeface="Montserrat"/>
                  <a:ea typeface="Montserrat"/>
                  <a:cs typeface="Montserrat"/>
                  <a:sym typeface="Montserrat"/>
                </a:rPr>
                <a:t>Total_Units_Sold</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SUM(</a:t>
              </a:r>
              <a:r>
                <a:rPr lang="en-US" sz="1266" spc="-63" dirty="0" err="1">
                  <a:solidFill>
                    <a:srgbClr val="FFFFFF"/>
                  </a:solidFill>
                  <a:latin typeface="Montserrat"/>
                  <a:ea typeface="Montserrat"/>
                  <a:cs typeface="Montserrat"/>
                  <a:sym typeface="Montserrat"/>
                </a:rPr>
                <a:t>Operating_Profit</a:t>
              </a:r>
              <a:r>
                <a:rPr lang="en-US" sz="1266" spc="-63" dirty="0">
                  <a:solidFill>
                    <a:srgbClr val="FFFFFF"/>
                  </a:solidFill>
                  <a:latin typeface="Montserrat"/>
                  <a:ea typeface="Montserrat"/>
                  <a:cs typeface="Montserrat"/>
                  <a:sym typeface="Montserrat"/>
                </a:rPr>
                <a:t>) AS </a:t>
              </a:r>
              <a:r>
                <a:rPr lang="en-US" sz="1266" spc="-63" dirty="0" err="1">
                  <a:solidFill>
                    <a:srgbClr val="FFFFFF"/>
                  </a:solidFill>
                  <a:latin typeface="Montserrat"/>
                  <a:ea typeface="Montserrat"/>
                  <a:cs typeface="Montserrat"/>
                  <a:sym typeface="Montserrat"/>
                </a:rPr>
                <a:t>Total_Profits</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 AS </a:t>
              </a:r>
              <a:r>
                <a:rPr lang="en-US" sz="1266" spc="-63" dirty="0" err="1">
                  <a:solidFill>
                    <a:srgbClr val="FFFFFF"/>
                  </a:solidFill>
                  <a:latin typeface="Montserrat"/>
                  <a:ea typeface="Montserrat"/>
                  <a:cs typeface="Montserrat"/>
                  <a:sym typeface="Montserrat"/>
                </a:rPr>
                <a:t>Total_Orders</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COUNT(DISTINCT Product) AS </a:t>
              </a:r>
              <a:r>
                <a:rPr lang="en-US" sz="1266" spc="-63" dirty="0" err="1">
                  <a:solidFill>
                    <a:srgbClr val="FFFFFF"/>
                  </a:solidFill>
                  <a:latin typeface="Montserrat"/>
                  <a:ea typeface="Montserrat"/>
                  <a:cs typeface="Montserrat"/>
                  <a:sym typeface="Montserrat"/>
                </a:rPr>
                <a:t>Total_Products</a:t>
              </a:r>
              <a:r>
                <a:rPr lang="en-US" sz="1266" spc="-63" dirty="0">
                  <a:solidFill>
                    <a:srgbClr val="FFFFFF"/>
                  </a:solidFill>
                  <a:latin typeface="Montserrat"/>
                  <a:ea typeface="Montserrat"/>
                  <a:cs typeface="Montserrat"/>
                  <a:sym typeface="Montserrat"/>
                </a:rPr>
                <a:t>, </a:t>
              </a:r>
            </a:p>
            <a:p>
              <a:pPr defTabSz="609630">
                <a:lnSpc>
                  <a:spcPts val="1773"/>
                </a:lnSpc>
              </a:pPr>
              <a:r>
                <a:rPr lang="en-US" sz="1266" spc="-63" dirty="0">
                  <a:solidFill>
                    <a:srgbClr val="FFFFFF"/>
                  </a:solidFill>
                  <a:latin typeface="Montserrat"/>
                  <a:ea typeface="Montserrat"/>
                  <a:cs typeface="Montserrat"/>
                  <a:sym typeface="Montserrat"/>
                </a:rPr>
                <a:t> COUNT(DISTINCT Retailer) AS </a:t>
              </a:r>
              <a:r>
                <a:rPr lang="en-US" sz="1266" spc="-63" dirty="0" err="1">
                  <a:solidFill>
                    <a:srgbClr val="FFFFFF"/>
                  </a:solidFill>
                  <a:latin typeface="Montserrat"/>
                  <a:ea typeface="Montserrat"/>
                  <a:cs typeface="Montserrat"/>
                  <a:sym typeface="Montserrat"/>
                </a:rPr>
                <a:t>Total_Retailers</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COUNT(DISTINCT Region) AS </a:t>
              </a:r>
              <a:r>
                <a:rPr lang="en-US" sz="1266" spc="-63" dirty="0" err="1">
                  <a:solidFill>
                    <a:srgbClr val="FFFFFF"/>
                  </a:solidFill>
                  <a:latin typeface="Montserrat"/>
                  <a:ea typeface="Montserrat"/>
                  <a:cs typeface="Montserrat"/>
                  <a:sym typeface="Montserrat"/>
                </a:rPr>
                <a:t>Total_Region</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COUNT(DISTINCT State) AS </a:t>
              </a:r>
              <a:r>
                <a:rPr lang="en-US" sz="1266" spc="-63" dirty="0" err="1">
                  <a:solidFill>
                    <a:srgbClr val="FFFFFF"/>
                  </a:solidFill>
                  <a:latin typeface="Montserrat"/>
                  <a:ea typeface="Montserrat"/>
                  <a:cs typeface="Montserrat"/>
                  <a:sym typeface="Montserrat"/>
                </a:rPr>
                <a:t>Total_States</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COUNT(DISTINCT City) AS </a:t>
              </a:r>
              <a:r>
                <a:rPr lang="en-US" sz="1266" spc="-63" dirty="0" err="1">
                  <a:solidFill>
                    <a:srgbClr val="FFFFFF"/>
                  </a:solidFill>
                  <a:latin typeface="Montserrat"/>
                  <a:ea typeface="Montserrat"/>
                  <a:cs typeface="Montserrat"/>
                  <a:sym typeface="Montserrat"/>
                </a:rPr>
                <a:t>Total_Cities</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    COUNT(DISTINCT </a:t>
              </a:r>
              <a:r>
                <a:rPr lang="en-US" sz="1266" spc="-63" dirty="0" err="1">
                  <a:solidFill>
                    <a:srgbClr val="FFFFFF"/>
                  </a:solidFill>
                  <a:latin typeface="Montserrat"/>
                  <a:ea typeface="Montserrat"/>
                  <a:cs typeface="Montserrat"/>
                  <a:sym typeface="Montserrat"/>
                </a:rPr>
                <a:t>Sales_Method</a:t>
              </a:r>
              <a:r>
                <a:rPr lang="en-US" sz="1266" spc="-63" dirty="0">
                  <a:solidFill>
                    <a:srgbClr val="FFFFFF"/>
                  </a:solidFill>
                  <a:latin typeface="Montserrat"/>
                  <a:ea typeface="Montserrat"/>
                  <a:cs typeface="Montserrat"/>
                  <a:sym typeface="Montserrat"/>
                </a:rPr>
                <a:t>) AS Total_Sales_Method,</a:t>
              </a:r>
            </a:p>
            <a:p>
              <a:pPr defTabSz="609630">
                <a:lnSpc>
                  <a:spcPts val="1773"/>
                </a:lnSpc>
              </a:pPr>
              <a:r>
                <a:rPr lang="en-US" sz="1266" spc="-63" dirty="0">
                  <a:solidFill>
                    <a:srgbClr val="FFFFFF"/>
                  </a:solidFill>
                  <a:latin typeface="Montserrat"/>
                  <a:ea typeface="Montserrat"/>
                  <a:cs typeface="Montserrat"/>
                  <a:sym typeface="Montserrat"/>
                </a:rPr>
                <a:t>    SUM(</a:t>
              </a:r>
              <a:r>
                <a:rPr lang="en-US" sz="1266" spc="-63" dirty="0" err="1">
                  <a:solidFill>
                    <a:srgbClr val="FFFFFF"/>
                  </a:solidFill>
                  <a:latin typeface="Montserrat"/>
                  <a:ea typeface="Montserrat"/>
                  <a:cs typeface="Montserrat"/>
                  <a:sym typeface="Montserrat"/>
                </a:rPr>
                <a:t>Total_Sales</a:t>
              </a:r>
              <a:r>
                <a:rPr lang="en-US" sz="1266" spc="-63" dirty="0">
                  <a:solidFill>
                    <a:srgbClr val="FFFFFF"/>
                  </a:solidFill>
                  <a:latin typeface="Montserrat"/>
                  <a:ea typeface="Montserrat"/>
                  <a:cs typeface="Montserrat"/>
                  <a:sym typeface="Montserrat"/>
                </a:rPr>
                <a:t>)/COUNT(*)  AS </a:t>
              </a:r>
              <a:r>
                <a:rPr lang="en-US" sz="1266" spc="-63" dirty="0" err="1">
                  <a:solidFill>
                    <a:srgbClr val="FFFFFF"/>
                  </a:solidFill>
                  <a:latin typeface="Montserrat"/>
                  <a:ea typeface="Montserrat"/>
                  <a:cs typeface="Montserrat"/>
                  <a:sym typeface="Montserrat"/>
                </a:rPr>
                <a:t>Average_Order_Value</a:t>
              </a:r>
              <a:endParaRPr lang="en-US" sz="1266" spc="-63" dirty="0">
                <a:solidFill>
                  <a:srgbClr val="FFFFFF"/>
                </a:solidFill>
                <a:latin typeface="Montserrat"/>
                <a:ea typeface="Montserrat"/>
                <a:cs typeface="Montserrat"/>
                <a:sym typeface="Montserrat"/>
              </a:endParaRPr>
            </a:p>
            <a:p>
              <a:pPr defTabSz="609630">
                <a:lnSpc>
                  <a:spcPts val="1773"/>
                </a:lnSpc>
              </a:pPr>
              <a:r>
                <a:rPr lang="en-US" sz="1266" spc="-63" dirty="0">
                  <a:solidFill>
                    <a:srgbClr val="FFFFFF"/>
                  </a:solidFill>
                  <a:latin typeface="Montserrat"/>
                  <a:ea typeface="Montserrat"/>
                  <a:cs typeface="Montserrat"/>
                  <a:sym typeface="Montserrat"/>
                </a:rPr>
                <a:t> FROM </a:t>
              </a:r>
              <a:r>
                <a:rPr lang="en-US" sz="1266" spc="-63" dirty="0" err="1">
                  <a:solidFill>
                    <a:srgbClr val="FFFFFF"/>
                  </a:solidFill>
                  <a:latin typeface="Montserrat"/>
                  <a:ea typeface="Montserrat"/>
                  <a:cs typeface="Montserrat"/>
                  <a:sym typeface="Montserrat"/>
                </a:rPr>
                <a:t>adidas_analytics_table</a:t>
              </a:r>
              <a:endParaRPr lang="en-US" sz="1266" spc="-63" dirty="0">
                <a:solidFill>
                  <a:srgbClr val="FFFFFF"/>
                </a:solidFill>
                <a:latin typeface="Montserrat"/>
                <a:ea typeface="Montserrat"/>
                <a:cs typeface="Montserrat"/>
                <a:sym typeface="Montserrat"/>
              </a:endParaRPr>
            </a:p>
            <a:p>
              <a:pPr defTabSz="609630">
                <a:lnSpc>
                  <a:spcPts val="1773"/>
                </a:lnSpc>
              </a:pPr>
              <a:r>
                <a:rPr lang="en-US" sz="1266" spc="-63" dirty="0">
                  <a:solidFill>
                    <a:srgbClr val="FFFFFF"/>
                  </a:solidFill>
                  <a:latin typeface="Montserrat"/>
                  <a:ea typeface="Montserrat"/>
                  <a:cs typeface="Montserrat"/>
                  <a:sym typeface="Montserrat"/>
                </a:rPr>
                <a:t>    )</a:t>
              </a:r>
            </a:p>
            <a:p>
              <a:pPr defTabSz="609630">
                <a:lnSpc>
                  <a:spcPts val="1773"/>
                </a:lnSpc>
              </a:pPr>
              <a:r>
                <a:rPr lang="en-US" sz="1266" spc="-63" dirty="0">
                  <a:solidFill>
                    <a:srgbClr val="FFFFFF"/>
                  </a:solidFill>
                  <a:latin typeface="Montserrat"/>
                  <a:ea typeface="Montserrat"/>
                  <a:cs typeface="Montserrat"/>
                  <a:sym typeface="Montserrat"/>
                </a:rPr>
                <a:t>SELECT * FROM </a:t>
              </a:r>
              <a:r>
                <a:rPr lang="en-US" sz="1266" spc="-63" dirty="0" err="1">
                  <a:solidFill>
                    <a:srgbClr val="FFFFFF"/>
                  </a:solidFill>
                  <a:latin typeface="Montserrat"/>
                  <a:ea typeface="Montserrat"/>
                  <a:cs typeface="Montserrat"/>
                  <a:sym typeface="Montserrat"/>
                </a:rPr>
                <a:t>Revenue_Overview</a:t>
              </a:r>
              <a:r>
                <a:rPr lang="en-US" sz="1266" spc="-63" dirty="0">
                  <a:solidFill>
                    <a:srgbClr val="FFFFFF"/>
                  </a:solidFill>
                  <a:latin typeface="Montserrat"/>
                  <a:ea typeface="Montserrat"/>
                  <a:cs typeface="Montserrat"/>
                  <a:sym typeface="Montserrat"/>
                </a:rPr>
                <a:t>;</a:t>
              </a:r>
            </a:p>
          </p:txBody>
        </p:sp>
      </p:grpSp>
      <p:grpSp>
        <p:nvGrpSpPr>
          <p:cNvPr id="8" name="Group 8"/>
          <p:cNvGrpSpPr/>
          <p:nvPr/>
        </p:nvGrpSpPr>
        <p:grpSpPr>
          <a:xfrm>
            <a:off x="120750" y="1357911"/>
            <a:ext cx="12071250" cy="1361775"/>
            <a:chOff x="0" y="0"/>
            <a:chExt cx="4768889" cy="537985"/>
          </a:xfrm>
        </p:grpSpPr>
        <p:sp>
          <p:nvSpPr>
            <p:cNvPr id="9" name="Freeform 9"/>
            <p:cNvSpPr/>
            <p:nvPr/>
          </p:nvSpPr>
          <p:spPr>
            <a:xfrm>
              <a:off x="0" y="0"/>
              <a:ext cx="4768889" cy="537985"/>
            </a:xfrm>
            <a:custGeom>
              <a:avLst/>
              <a:gdLst/>
              <a:ahLst/>
              <a:cxnLst/>
              <a:rect l="l" t="t" r="r" b="b"/>
              <a:pathLst>
                <a:path w="4768889" h="537985">
                  <a:moveTo>
                    <a:pt x="21806" y="0"/>
                  </a:moveTo>
                  <a:lnTo>
                    <a:pt x="4747083" y="0"/>
                  </a:lnTo>
                  <a:cubicBezTo>
                    <a:pt x="4752866" y="0"/>
                    <a:pt x="4758413" y="2297"/>
                    <a:pt x="4762502" y="6387"/>
                  </a:cubicBezTo>
                  <a:cubicBezTo>
                    <a:pt x="4766591" y="10476"/>
                    <a:pt x="4768889" y="16023"/>
                    <a:pt x="4768889" y="21806"/>
                  </a:cubicBezTo>
                  <a:lnTo>
                    <a:pt x="4768889" y="516179"/>
                  </a:lnTo>
                  <a:cubicBezTo>
                    <a:pt x="4768889" y="521963"/>
                    <a:pt x="4766591" y="527509"/>
                    <a:pt x="4762502" y="531598"/>
                  </a:cubicBezTo>
                  <a:cubicBezTo>
                    <a:pt x="4758413" y="535688"/>
                    <a:pt x="4752866" y="537985"/>
                    <a:pt x="4747083" y="537985"/>
                  </a:cubicBezTo>
                  <a:lnTo>
                    <a:pt x="21806" y="537985"/>
                  </a:lnTo>
                  <a:cubicBezTo>
                    <a:pt x="16023" y="537985"/>
                    <a:pt x="10476" y="535688"/>
                    <a:pt x="6387" y="531598"/>
                  </a:cubicBezTo>
                  <a:cubicBezTo>
                    <a:pt x="2297" y="527509"/>
                    <a:pt x="0" y="521963"/>
                    <a:pt x="0" y="516179"/>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576085"/>
            </a:xfrm>
            <a:prstGeom prst="rect">
              <a:avLst/>
            </a:prstGeom>
          </p:spPr>
          <p:txBody>
            <a:bodyPr lIns="33867" tIns="33867" rIns="33867" bIns="33867" rtlCol="0" anchor="ctr"/>
            <a:lstStyle/>
            <a:p>
              <a:pPr defTabSz="609630">
                <a:lnSpc>
                  <a:spcPts val="1959"/>
                </a:lnSpc>
              </a:pPr>
              <a:r>
                <a:rPr lang="en-US" sz="1399" spc="-69">
                  <a:solidFill>
                    <a:srgbClr val="000000"/>
                  </a:solidFill>
                  <a:latin typeface="Montserrat"/>
                  <a:ea typeface="Montserrat"/>
                  <a:cs typeface="Montserrat"/>
                  <a:sym typeface="Montserrat"/>
                </a:rPr>
                <a:t>Across 2020–2021, Adidas generated total revenue of $899,902,125 from 9,648 orders, with 2,478,861 total units sold and $332,135,122 in operating profit  an overall operating margin of approximately 36.9%. This translates to an Average Order Value of $93,258 per order. The dataset spans 6 unique products, 6 retailers, 5 regions, 50 states, and 52 cities, sold through 3 distinct sales methods.</a:t>
              </a:r>
            </a:p>
          </p:txBody>
        </p:sp>
      </p:grpSp>
      <p:sp>
        <p:nvSpPr>
          <p:cNvPr id="11" name="TextBox 11"/>
          <p:cNvSpPr txBox="1"/>
          <p:nvPr/>
        </p:nvSpPr>
        <p:spPr>
          <a:xfrm>
            <a:off x="199526" y="197768"/>
            <a:ext cx="11792950" cy="480901"/>
          </a:xfrm>
          <a:prstGeom prst="rect">
            <a:avLst/>
          </a:prstGeom>
        </p:spPr>
        <p:txBody>
          <a:bodyPr lIns="0" tIns="0" rIns="0" bIns="0" rtlCol="0" anchor="t">
            <a:spAutoFit/>
          </a:bodyPr>
          <a:lstStyle/>
          <a:p>
            <a:pPr algn="ctr" defTabSz="609630">
              <a:lnSpc>
                <a:spcPts val="3716"/>
              </a:lnSpc>
            </a:pPr>
            <a:r>
              <a:rPr lang="en-US" sz="3716" spc="-52">
                <a:solidFill>
                  <a:srgbClr val="0C0C0C"/>
                </a:solidFill>
                <a:latin typeface="Anton"/>
                <a:ea typeface="Anton"/>
                <a:cs typeface="Anton"/>
                <a:sym typeface="Anton"/>
              </a:rPr>
              <a:t>    SQL ANALYSIS &amp; FINDINGS</a:t>
            </a:r>
          </a:p>
        </p:txBody>
      </p:sp>
      <p:sp>
        <p:nvSpPr>
          <p:cNvPr id="12" name="TextBox 12"/>
          <p:cNvSpPr txBox="1"/>
          <p:nvPr/>
        </p:nvSpPr>
        <p:spPr>
          <a:xfrm>
            <a:off x="853480" y="786808"/>
            <a:ext cx="2564253" cy="373885"/>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Revenue overview</a:t>
            </a:r>
          </a:p>
        </p:txBody>
      </p:sp>
    </p:spTree>
    <p:extLst>
      <p:ext uri="{BB962C8B-B14F-4D97-AF65-F5344CB8AC3E}">
        <p14:creationId xmlns:p14="http://schemas.microsoft.com/office/powerpoint/2010/main" val="414247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116667" y="65445"/>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14523"/>
              <a:ext cx="660400" cy="698499"/>
            </a:xfrm>
            <a:prstGeom prst="rect">
              <a:avLst/>
            </a:prstGeom>
          </p:spPr>
          <p:txBody>
            <a:bodyPr lIns="33867" tIns="33867" rIns="33867" bIns="33867" rtlCol="0" anchor="ctr"/>
            <a:lstStyle/>
            <a:p>
              <a:pPr algn="ctr" defTabSz="609630">
                <a:lnSpc>
                  <a:spcPts val="1773"/>
                </a:lnSpc>
              </a:pPr>
              <a:r>
                <a:rPr lang="en-US" sz="1266" b="1" spc="-63" dirty="0">
                  <a:solidFill>
                    <a:srgbClr val="FFFFFF"/>
                  </a:solidFill>
                  <a:latin typeface="Montserrat Bold"/>
                  <a:ea typeface="Montserrat Bold"/>
                  <a:cs typeface="Montserrat Bold"/>
                  <a:sym typeface="Montserrat Bold"/>
                </a:rPr>
                <a:t>6.2</a:t>
              </a:r>
            </a:p>
          </p:txBody>
        </p:sp>
      </p:grpSp>
      <p:grpSp>
        <p:nvGrpSpPr>
          <p:cNvPr id="5" name="Group 5"/>
          <p:cNvGrpSpPr/>
          <p:nvPr/>
        </p:nvGrpSpPr>
        <p:grpSpPr>
          <a:xfrm>
            <a:off x="120750" y="2719686"/>
            <a:ext cx="11992475" cy="3989883"/>
            <a:chOff x="0" y="0"/>
            <a:chExt cx="4737768" cy="1576250"/>
          </a:xfrm>
        </p:grpSpPr>
        <p:sp>
          <p:nvSpPr>
            <p:cNvPr id="6" name="Freeform 6"/>
            <p:cNvSpPr/>
            <p:nvPr/>
          </p:nvSpPr>
          <p:spPr>
            <a:xfrm>
              <a:off x="0" y="0"/>
              <a:ext cx="4737768" cy="1576250"/>
            </a:xfrm>
            <a:custGeom>
              <a:avLst/>
              <a:gdLst/>
              <a:ahLst/>
              <a:cxnLst/>
              <a:rect l="l" t="t" r="r" b="b"/>
              <a:pathLst>
                <a:path w="4737768" h="1576250">
                  <a:moveTo>
                    <a:pt x="0" y="0"/>
                  </a:moveTo>
                  <a:lnTo>
                    <a:pt x="4737768" y="0"/>
                  </a:lnTo>
                  <a:lnTo>
                    <a:pt x="4737768" y="1576250"/>
                  </a:lnTo>
                  <a:lnTo>
                    <a:pt x="0" y="1576250"/>
                  </a:lnTo>
                  <a:close/>
                </a:path>
              </a:pathLst>
            </a:custGeom>
            <a:solidFill>
              <a:srgbClr val="0C0C0C"/>
            </a:solidFill>
          </p:spPr>
        </p:sp>
        <p:sp>
          <p:nvSpPr>
            <p:cNvPr id="7" name="TextBox 7"/>
            <p:cNvSpPr txBox="1"/>
            <p:nvPr/>
          </p:nvSpPr>
          <p:spPr>
            <a:xfrm>
              <a:off x="0" y="-38100"/>
              <a:ext cx="4737768" cy="1614350"/>
            </a:xfrm>
            <a:prstGeom prst="rect">
              <a:avLst/>
            </a:prstGeom>
          </p:spPr>
          <p:txBody>
            <a:bodyPr lIns="33867" tIns="33867" rIns="33867" bIns="33867" rtlCol="0" anchor="ctr"/>
            <a:lstStyle/>
            <a:p>
              <a:pPr defTabSz="609630">
                <a:lnSpc>
                  <a:spcPts val="1773"/>
                </a:lnSpc>
              </a:pPr>
              <a:endParaRPr sz="1200" dirty="0">
                <a:solidFill>
                  <a:prstClr val="black"/>
                </a:solidFill>
                <a:latin typeface="Calibri"/>
              </a:endParaRPr>
            </a:p>
            <a:p>
              <a:pPr defTabSz="609630">
                <a:lnSpc>
                  <a:spcPts val="1773"/>
                </a:lnSpc>
              </a:pPr>
              <a:r>
                <a:rPr lang="en-US" sz="1266" spc="-63" dirty="0">
                  <a:solidFill>
                    <a:srgbClr val="000000"/>
                  </a:solidFill>
                  <a:latin typeface="Montserrat"/>
                  <a:ea typeface="Montserrat"/>
                  <a:cs typeface="Montserrat"/>
                  <a:sym typeface="Montserrat"/>
                </a:rPr>
                <a:t>SELECT * FROM </a:t>
              </a:r>
              <a:r>
                <a:rPr lang="en-US" sz="1266" spc="-63" dirty="0" err="1">
                  <a:solidFill>
                    <a:srgbClr val="000000"/>
                  </a:solidFill>
                  <a:latin typeface="Montserrat"/>
                  <a:ea typeface="Montserrat"/>
                  <a:cs typeface="Montserrat"/>
                  <a:sym typeface="Montserrat"/>
                </a:rPr>
                <a:t>Revenue_Overview</a:t>
              </a:r>
              <a:r>
                <a:rPr lang="en-US" sz="1266" spc="-63" dirty="0">
                  <a:solidFill>
                    <a:srgbClr val="000000"/>
                  </a:solidFill>
                  <a:latin typeface="Montserrat"/>
                  <a:ea typeface="Montserrat"/>
                  <a:cs typeface="Montserrat"/>
                  <a:sym typeface="Montserrat"/>
                </a:rPr>
                <a:t>;#check the </a:t>
              </a:r>
              <a:r>
                <a:rPr lang="en-US" sz="1266" spc="-63" dirty="0" err="1">
                  <a:solidFill>
                    <a:srgbClr val="000000"/>
                  </a:solidFill>
                  <a:latin typeface="Montserrat"/>
                  <a:ea typeface="Montserrat"/>
                  <a:cs typeface="Montserrat"/>
                  <a:sym typeface="Montserrat"/>
                </a:rPr>
                <a:t>days_with_data</a:t>
              </a:r>
              <a:r>
                <a:rPr lang="en-US" sz="1266" spc="-63" dirty="0">
                  <a:solidFill>
                    <a:srgbClr val="000000"/>
                  </a:solidFill>
                  <a:latin typeface="Montserrat"/>
                  <a:ea typeface="Montserrat"/>
                  <a:cs typeface="Montserrat"/>
                  <a:sym typeface="Montserrat"/>
                </a:rPr>
                <a:t> per year</a:t>
              </a:r>
            </a:p>
            <a:p>
              <a:pPr defTabSz="609630">
                <a:lnSpc>
                  <a:spcPts val="1773"/>
                </a:lnSpc>
              </a:pPr>
              <a:r>
                <a:rPr lang="en-US" sz="1266" spc="-63" dirty="0">
                  <a:solidFill>
                    <a:srgbClr val="000000"/>
                  </a:solidFill>
                  <a:latin typeface="Montserrat"/>
                  <a:ea typeface="Montserrat"/>
                  <a:cs typeface="Montserrat"/>
                  <a:sym typeface="Montserrat"/>
                </a:rPr>
                <a:t>SELECT </a:t>
              </a:r>
              <a:r>
                <a:rPr lang="en-US" sz="1266" spc="-63" dirty="0" err="1">
                  <a:solidFill>
                    <a:srgbClr val="000000"/>
                  </a:solidFill>
                  <a:latin typeface="Montserrat"/>
                  <a:ea typeface="Montserrat"/>
                  <a:cs typeface="Montserrat"/>
                  <a:sym typeface="Montserrat"/>
                </a:rPr>
                <a:t>Year_Num</a:t>
              </a:r>
              <a:r>
                <a:rPr lang="en-US" sz="1266" spc="-63" dirty="0">
                  <a:solidFill>
                    <a:srgbClr val="000000"/>
                  </a:solidFill>
                  <a:latin typeface="Montserrat"/>
                  <a:ea typeface="Montserrat"/>
                  <a:cs typeface="Montserrat"/>
                  <a:sym typeface="Montserrat"/>
                </a:rPr>
                <a:t>, COUNT(DISTINCT </a:t>
              </a:r>
              <a:r>
                <a:rPr lang="en-US" sz="1266" spc="-63" dirty="0" err="1">
                  <a:solidFill>
                    <a:srgbClr val="000000"/>
                  </a:solidFill>
                  <a:latin typeface="Montserrat"/>
                  <a:ea typeface="Montserrat"/>
                  <a:cs typeface="Montserrat"/>
                  <a:sym typeface="Montserrat"/>
                </a:rPr>
                <a:t>Invoice_Date</a:t>
              </a:r>
              <a:r>
                <a:rPr lang="en-US" sz="1266" spc="-63" dirty="0">
                  <a:solidFill>
                    <a:srgbClr val="000000"/>
                  </a:solidFill>
                  <a:latin typeface="Montserrat"/>
                  <a:ea typeface="Montserrat"/>
                  <a:cs typeface="Montserrat"/>
                  <a:sym typeface="Montserrat"/>
                </a:rPr>
                <a:t>) AS </a:t>
              </a:r>
              <a:r>
                <a:rPr lang="en-US" sz="1266" spc="-63" dirty="0" err="1">
                  <a:solidFill>
                    <a:srgbClr val="000000"/>
                  </a:solidFill>
                  <a:latin typeface="Montserrat"/>
                  <a:ea typeface="Montserrat"/>
                  <a:cs typeface="Montserrat"/>
                  <a:sym typeface="Montserrat"/>
                </a:rPr>
                <a:t>days_with_data</a:t>
              </a:r>
              <a:r>
                <a:rPr lang="en-US" sz="1266" spc="-63" dirty="0">
                  <a:solidFill>
                    <a:srgbClr val="000000"/>
                  </a:solidFill>
                  <a:latin typeface="Montserrat"/>
                  <a:ea typeface="Montserrat"/>
                  <a:cs typeface="Montserrat"/>
                  <a:sym typeface="Montserrat"/>
                </a:rPr>
                <a:t>,</a:t>
              </a:r>
            </a:p>
            <a:p>
              <a:pPr defTabSz="609630">
                <a:lnSpc>
                  <a:spcPts val="1773"/>
                </a:lnSpc>
              </a:pPr>
              <a:r>
                <a:rPr lang="en-US" sz="1266" spc="-63" dirty="0">
                  <a:solidFill>
                    <a:srgbClr val="000000"/>
                  </a:solidFill>
                  <a:latin typeface="Montserrat"/>
                  <a:ea typeface="Montserrat"/>
                  <a:cs typeface="Montserrat"/>
                  <a:sym typeface="Montserrat"/>
                </a:rPr>
                <a:t>       MIN(</a:t>
              </a:r>
              <a:r>
                <a:rPr lang="en-US" sz="1266" spc="-63" dirty="0" err="1">
                  <a:solidFill>
                    <a:srgbClr val="000000"/>
                  </a:solidFill>
                  <a:latin typeface="Montserrat"/>
                  <a:ea typeface="Montserrat"/>
                  <a:cs typeface="Montserrat"/>
                  <a:sym typeface="Montserrat"/>
                </a:rPr>
                <a:t>Invoice_Date</a:t>
              </a:r>
              <a:r>
                <a:rPr lang="en-US" sz="1266" spc="-63" dirty="0">
                  <a:solidFill>
                    <a:srgbClr val="000000"/>
                  </a:solidFill>
                  <a:latin typeface="Montserrat"/>
                  <a:ea typeface="Montserrat"/>
                  <a:cs typeface="Montserrat"/>
                  <a:sym typeface="Montserrat"/>
                </a:rPr>
                <a:t>) AS earliest, MAX(</a:t>
              </a:r>
              <a:r>
                <a:rPr lang="en-US" sz="1266" spc="-63" dirty="0" err="1">
                  <a:solidFill>
                    <a:srgbClr val="000000"/>
                  </a:solidFill>
                  <a:latin typeface="Montserrat"/>
                  <a:ea typeface="Montserrat"/>
                  <a:cs typeface="Montserrat"/>
                  <a:sym typeface="Montserrat"/>
                </a:rPr>
                <a:t>Invoice_Date</a:t>
              </a:r>
              <a:r>
                <a:rPr lang="en-US" sz="1266" spc="-63" dirty="0">
                  <a:solidFill>
                    <a:srgbClr val="000000"/>
                  </a:solidFill>
                  <a:latin typeface="Montserrat"/>
                  <a:ea typeface="Montserrat"/>
                  <a:cs typeface="Montserrat"/>
                  <a:sym typeface="Montserrat"/>
                </a:rPr>
                <a:t>) AS latest</a:t>
              </a:r>
            </a:p>
            <a:p>
              <a:pPr defTabSz="609630">
                <a:lnSpc>
                  <a:spcPts val="1773"/>
                </a:lnSpc>
              </a:pPr>
              <a:r>
                <a:rPr lang="en-US" sz="1266" spc="-63" dirty="0">
                  <a:solidFill>
                    <a:srgbClr val="000000"/>
                  </a:solidFill>
                  <a:latin typeface="Montserrat"/>
                  <a:ea typeface="Montserrat"/>
                  <a:cs typeface="Montserrat"/>
                  <a:sym typeface="Montserrat"/>
                </a:rPr>
                <a:t>FROM </a:t>
              </a:r>
              <a:r>
                <a:rPr lang="en-US" sz="1266" spc="-63" dirty="0" err="1">
                  <a:solidFill>
                    <a:srgbClr val="000000"/>
                  </a:solidFill>
                  <a:latin typeface="Montserrat"/>
                  <a:ea typeface="Montserrat"/>
                  <a:cs typeface="Montserrat"/>
                  <a:sym typeface="Montserrat"/>
                </a:rPr>
                <a:t>adidas_analytics_table</a:t>
              </a:r>
              <a:endParaRPr lang="en-US" sz="1266" spc="-63" dirty="0">
                <a:solidFill>
                  <a:srgbClr val="000000"/>
                </a:solidFill>
                <a:latin typeface="Montserrat"/>
                <a:ea typeface="Montserrat"/>
                <a:cs typeface="Montserrat"/>
                <a:sym typeface="Montserrat"/>
              </a:endParaRPr>
            </a:p>
            <a:p>
              <a:pPr defTabSz="609630">
                <a:lnSpc>
                  <a:spcPts val="1773"/>
                </a:lnSpc>
              </a:pPr>
              <a:r>
                <a:rPr lang="en-US" sz="1266" spc="-63" dirty="0">
                  <a:solidFill>
                    <a:srgbClr val="000000"/>
                  </a:solidFill>
                  <a:latin typeface="Montserrat"/>
                  <a:ea typeface="Montserrat"/>
                  <a:cs typeface="Montserrat"/>
                  <a:sym typeface="Montserrat"/>
                </a:rPr>
                <a:t>GROUP BY </a:t>
              </a:r>
              <a:r>
                <a:rPr lang="en-US" sz="1266" spc="-63" dirty="0" err="1">
                  <a:solidFill>
                    <a:srgbClr val="000000"/>
                  </a:solidFill>
                  <a:latin typeface="Montserrat"/>
                  <a:ea typeface="Montserrat"/>
                  <a:cs typeface="Montserrat"/>
                  <a:sym typeface="Montserrat"/>
                </a:rPr>
                <a:t>Year_Num</a:t>
              </a:r>
              <a:r>
                <a:rPr lang="en-US" sz="1266" spc="-63" dirty="0">
                  <a:solidFill>
                    <a:srgbClr val="000000"/>
                  </a:solidFill>
                  <a:latin typeface="Montserrat"/>
                  <a:ea typeface="Montserrat"/>
                  <a:cs typeface="Montserrat"/>
                  <a:sym typeface="Montserrat"/>
                </a:rPr>
                <a:t>;</a:t>
              </a:r>
            </a:p>
          </p:txBody>
        </p:sp>
      </p:grpSp>
      <p:grpSp>
        <p:nvGrpSpPr>
          <p:cNvPr id="8" name="Group 8"/>
          <p:cNvGrpSpPr/>
          <p:nvPr/>
        </p:nvGrpSpPr>
        <p:grpSpPr>
          <a:xfrm>
            <a:off x="41975" y="599620"/>
            <a:ext cx="12071250" cy="2063473"/>
            <a:chOff x="0" y="0"/>
            <a:chExt cx="4768889" cy="815199"/>
          </a:xfrm>
        </p:grpSpPr>
        <p:sp>
          <p:nvSpPr>
            <p:cNvPr id="9" name="Freeform 9"/>
            <p:cNvSpPr/>
            <p:nvPr/>
          </p:nvSpPr>
          <p:spPr>
            <a:xfrm>
              <a:off x="0" y="0"/>
              <a:ext cx="4768889" cy="815199"/>
            </a:xfrm>
            <a:custGeom>
              <a:avLst/>
              <a:gdLst/>
              <a:ahLst/>
              <a:cxnLst/>
              <a:rect l="l" t="t" r="r" b="b"/>
              <a:pathLst>
                <a:path w="4768889" h="815199">
                  <a:moveTo>
                    <a:pt x="21806" y="0"/>
                  </a:moveTo>
                  <a:lnTo>
                    <a:pt x="4747083" y="0"/>
                  </a:lnTo>
                  <a:cubicBezTo>
                    <a:pt x="4752866" y="0"/>
                    <a:pt x="4758413" y="2297"/>
                    <a:pt x="4762502" y="6387"/>
                  </a:cubicBezTo>
                  <a:cubicBezTo>
                    <a:pt x="4766591" y="10476"/>
                    <a:pt x="4768889" y="16023"/>
                    <a:pt x="4768889" y="21806"/>
                  </a:cubicBezTo>
                  <a:lnTo>
                    <a:pt x="4768889" y="793393"/>
                  </a:lnTo>
                  <a:cubicBezTo>
                    <a:pt x="4768889" y="799177"/>
                    <a:pt x="4766591" y="804723"/>
                    <a:pt x="4762502" y="808813"/>
                  </a:cubicBezTo>
                  <a:cubicBezTo>
                    <a:pt x="4758413" y="812902"/>
                    <a:pt x="4752866" y="815199"/>
                    <a:pt x="4747083" y="815199"/>
                  </a:cubicBezTo>
                  <a:lnTo>
                    <a:pt x="21806" y="815199"/>
                  </a:lnTo>
                  <a:cubicBezTo>
                    <a:pt x="16023" y="815199"/>
                    <a:pt x="10476" y="812902"/>
                    <a:pt x="6387" y="808813"/>
                  </a:cubicBezTo>
                  <a:cubicBezTo>
                    <a:pt x="2297" y="804723"/>
                    <a:pt x="0" y="799177"/>
                    <a:pt x="0" y="793393"/>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853299"/>
            </a:xfrm>
            <a:prstGeom prst="rect">
              <a:avLst/>
            </a:prstGeom>
          </p:spPr>
          <p:txBody>
            <a:bodyPr lIns="33867" tIns="33867" rIns="33867" bIns="33867" rtlCol="0" anchor="ctr"/>
            <a:lstStyle/>
            <a:p>
              <a:pPr defTabSz="609630">
                <a:lnSpc>
                  <a:spcPts val="1959"/>
                </a:lnSpc>
              </a:pPr>
              <a:r>
                <a:rPr lang="en-US" sz="1399" spc="-69" dirty="0">
                  <a:solidFill>
                    <a:srgbClr val="000000"/>
                  </a:solidFill>
                  <a:latin typeface="Montserrat"/>
                  <a:ea typeface="Montserrat"/>
                  <a:cs typeface="Montserrat"/>
                  <a:sym typeface="Montserrat"/>
                </a:rPr>
                <a:t>Total revenue grew from $182,080,675 in 2020 to $717,821,450 in 2021  a 294.3% year-over-year increase.</a:t>
              </a:r>
            </a:p>
            <a:p>
              <a:pPr defTabSz="609630">
                <a:lnSpc>
                  <a:spcPts val="1959"/>
                </a:lnSpc>
              </a:pPr>
              <a:r>
                <a:rPr lang="en-US" sz="1399" spc="-69" dirty="0">
                  <a:solidFill>
                    <a:srgbClr val="000000"/>
                  </a:solidFill>
                  <a:latin typeface="Montserrat"/>
                  <a:ea typeface="Montserrat"/>
                  <a:cs typeface="Montserrat"/>
                  <a:sym typeface="Montserrat"/>
                </a:rPr>
                <a:t>Data quality check: Both years contain a full 12 months of transaction data (Jan 1 – Dec 31), with 2020 showing 359 distinct transaction days and 2021 showing 365  a negligible 1.6% gap that does not materially affect the comparison. This confirms the revenue increase reflects genuine year-over-year business growth rather than incomplete data.</a:t>
              </a:r>
            </a:p>
            <a:p>
              <a:pPr defTabSz="609630">
                <a:lnSpc>
                  <a:spcPts val="1959"/>
                </a:lnSpc>
              </a:pPr>
              <a:r>
                <a:rPr lang="en-US" sz="1399" spc="-69" dirty="0">
                  <a:solidFill>
                    <a:srgbClr val="000000"/>
                  </a:solidFill>
                  <a:latin typeface="Montserrat"/>
                  <a:ea typeface="Montserrat"/>
                  <a:cs typeface="Montserrat"/>
                  <a:sym typeface="Montserrat"/>
                </a:rPr>
                <a:t>Business interpretation: A near 4x increase in a single year is exceptional and warrants investigation into its specific drivers for example, whether it stems from retailer expansion, entry into new regions, a change in sales method mix, or growth concentrated in a few top products. The subsequent sections of this analysis (product, retailer, and regional breakdowns) are where that explanation should be found.</a:t>
              </a:r>
            </a:p>
            <a:p>
              <a:pPr defTabSz="609630">
                <a:lnSpc>
                  <a:spcPts val="1959"/>
                </a:lnSpc>
              </a:pPr>
              <a:endParaRPr lang="en-US" sz="1399" spc="-69" dirty="0">
                <a:solidFill>
                  <a:srgbClr val="000000"/>
                </a:solidFill>
                <a:latin typeface="Montserrat"/>
                <a:ea typeface="Montserrat"/>
                <a:cs typeface="Montserrat"/>
                <a:sym typeface="Montserrat"/>
              </a:endParaRPr>
            </a:p>
          </p:txBody>
        </p:sp>
      </p:grpSp>
      <p:sp>
        <p:nvSpPr>
          <p:cNvPr id="11" name="TextBox 11"/>
          <p:cNvSpPr txBox="1"/>
          <p:nvPr/>
        </p:nvSpPr>
        <p:spPr>
          <a:xfrm>
            <a:off x="1107678" y="40045"/>
            <a:ext cx="4774975" cy="784254"/>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YoY Revenue Growth Rate</a:t>
            </a:r>
          </a:p>
          <a:p>
            <a:pPr algn="ctr" defTabSz="609630">
              <a:lnSpc>
                <a:spcPts val="3173"/>
              </a:lnSpc>
            </a:pPr>
            <a:endParaRPr lang="en-US" sz="2266" b="1" dirty="0">
              <a:solidFill>
                <a:srgbClr val="0C0C0C"/>
              </a:solidFill>
              <a:latin typeface="Canva Sans Bold"/>
              <a:ea typeface="Canva Sans Bold"/>
              <a:cs typeface="Canva Sans Bold"/>
              <a:sym typeface="Canva Sans Bold"/>
            </a:endParaRPr>
          </a:p>
        </p:txBody>
      </p:sp>
      <p:sp>
        <p:nvSpPr>
          <p:cNvPr id="12" name="TextBox 12"/>
          <p:cNvSpPr txBox="1"/>
          <p:nvPr/>
        </p:nvSpPr>
        <p:spPr>
          <a:xfrm>
            <a:off x="199525" y="2752937"/>
            <a:ext cx="2581011" cy="1598258"/>
          </a:xfrm>
          <a:prstGeom prst="rect">
            <a:avLst/>
          </a:prstGeom>
        </p:spPr>
        <p:txBody>
          <a:bodyPr lIns="0" tIns="0" rIns="0" bIns="0" rtlCol="0" anchor="t">
            <a:spAutoFit/>
          </a:bodyPr>
          <a:lstStyle/>
          <a:p>
            <a:pPr defTabSz="609630">
              <a:lnSpc>
                <a:spcPts val="1773"/>
              </a:lnSpc>
              <a:spcBef>
                <a:spcPct val="0"/>
              </a:spcBef>
            </a:pPr>
            <a:r>
              <a:rPr lang="en-US" sz="1266" spc="-63" dirty="0">
                <a:solidFill>
                  <a:srgbClr val="FFFFFF"/>
                </a:solidFill>
                <a:latin typeface="Montserrat"/>
                <a:ea typeface="Montserrat"/>
                <a:cs typeface="Montserrat"/>
                <a:sym typeface="Montserrat"/>
              </a:rPr>
              <a:t>SELECT</a:t>
            </a:r>
          </a:p>
          <a:p>
            <a:pPr defTabSz="609630">
              <a:lnSpc>
                <a:spcPts val="1773"/>
              </a:lnSpc>
              <a:spcBef>
                <a:spcPct val="0"/>
              </a:spcBef>
            </a:pPr>
            <a:r>
              <a:rPr lang="en-US" sz="1266" spc="-63" dirty="0" err="1">
                <a:solidFill>
                  <a:srgbClr val="FFFFFF"/>
                </a:solidFill>
                <a:latin typeface="Montserrat"/>
                <a:ea typeface="Montserrat"/>
                <a:cs typeface="Montserrat"/>
                <a:sym typeface="Montserrat"/>
              </a:rPr>
              <a:t>Year_Num</a:t>
            </a:r>
            <a:r>
              <a:rPr lang="en-US" sz="1266" spc="-63" dirty="0">
                <a:solidFill>
                  <a:srgbClr val="FFFFFF"/>
                </a:solidFill>
                <a:latin typeface="Montserrat"/>
                <a:ea typeface="Montserrat"/>
                <a:cs typeface="Montserrat"/>
                <a:sym typeface="Montserrat"/>
              </a:rPr>
              <a:t>,</a:t>
            </a:r>
          </a:p>
          <a:p>
            <a:pPr defTabSz="609630">
              <a:lnSpc>
                <a:spcPts val="1773"/>
              </a:lnSpc>
              <a:spcBef>
                <a:spcPct val="0"/>
              </a:spcBef>
            </a:pPr>
            <a:r>
              <a:rPr lang="en-US" sz="1266" spc="-63" dirty="0">
                <a:solidFill>
                  <a:srgbClr val="FFFFFF"/>
                </a:solidFill>
                <a:latin typeface="Montserrat"/>
                <a:ea typeface="Montserrat"/>
                <a:cs typeface="Montserrat"/>
                <a:sym typeface="Montserrat"/>
              </a:rPr>
              <a:t>SUM(</a:t>
            </a:r>
            <a:r>
              <a:rPr lang="en-US" sz="1266" spc="-63" dirty="0" err="1">
                <a:solidFill>
                  <a:srgbClr val="FFFFFF"/>
                </a:solidFill>
                <a:latin typeface="Montserrat"/>
                <a:ea typeface="Montserrat"/>
                <a:cs typeface="Montserrat"/>
                <a:sym typeface="Montserrat"/>
              </a:rPr>
              <a:t>Total_Sales</a:t>
            </a:r>
            <a:r>
              <a:rPr lang="en-US" sz="1266" spc="-63" dirty="0">
                <a:solidFill>
                  <a:srgbClr val="FFFFFF"/>
                </a:solidFill>
                <a:latin typeface="Montserrat"/>
                <a:ea typeface="Montserrat"/>
                <a:cs typeface="Montserrat"/>
                <a:sym typeface="Montserrat"/>
              </a:rPr>
              <a:t>) AS </a:t>
            </a:r>
            <a:r>
              <a:rPr lang="en-US" sz="1266" spc="-63" dirty="0" err="1">
                <a:solidFill>
                  <a:srgbClr val="FFFFFF"/>
                </a:solidFill>
                <a:latin typeface="Montserrat"/>
                <a:ea typeface="Montserrat"/>
                <a:cs typeface="Montserrat"/>
                <a:sym typeface="Montserrat"/>
              </a:rPr>
              <a:t>Total_Revenue</a:t>
            </a:r>
            <a:endParaRPr lang="en-US" sz="1266" spc="-63" dirty="0">
              <a:solidFill>
                <a:srgbClr val="FFFFFF"/>
              </a:solidFill>
              <a:latin typeface="Montserrat"/>
              <a:ea typeface="Montserrat"/>
              <a:cs typeface="Montserrat"/>
              <a:sym typeface="Montserrat"/>
            </a:endParaRPr>
          </a:p>
          <a:p>
            <a:pPr defTabSz="609630">
              <a:lnSpc>
                <a:spcPts val="1773"/>
              </a:lnSpc>
              <a:spcBef>
                <a:spcPct val="0"/>
              </a:spcBef>
            </a:pPr>
            <a:r>
              <a:rPr lang="en-US" sz="1266" spc="-63" dirty="0">
                <a:solidFill>
                  <a:srgbClr val="FFFFFF"/>
                </a:solidFill>
                <a:latin typeface="Montserrat"/>
                <a:ea typeface="Montserrat"/>
                <a:cs typeface="Montserrat"/>
                <a:sym typeface="Montserrat"/>
              </a:rPr>
              <a:t>FROM </a:t>
            </a:r>
            <a:r>
              <a:rPr lang="en-US" sz="1266" spc="-63" dirty="0" err="1">
                <a:solidFill>
                  <a:srgbClr val="FFFFFF"/>
                </a:solidFill>
                <a:latin typeface="Montserrat"/>
                <a:ea typeface="Montserrat"/>
                <a:cs typeface="Montserrat"/>
                <a:sym typeface="Montserrat"/>
              </a:rPr>
              <a:t>adidas_analytics_table</a:t>
            </a:r>
            <a:endParaRPr lang="en-US" sz="1266" spc="-63" dirty="0">
              <a:solidFill>
                <a:srgbClr val="FFFFFF"/>
              </a:solidFill>
              <a:latin typeface="Montserrat"/>
              <a:ea typeface="Montserrat"/>
              <a:cs typeface="Montserrat"/>
              <a:sym typeface="Montserrat"/>
            </a:endParaRPr>
          </a:p>
          <a:p>
            <a:pPr defTabSz="609630">
              <a:lnSpc>
                <a:spcPts val="1773"/>
              </a:lnSpc>
              <a:spcBef>
                <a:spcPct val="0"/>
              </a:spcBef>
            </a:pPr>
            <a:r>
              <a:rPr lang="en-US" sz="1266" spc="-63" dirty="0">
                <a:solidFill>
                  <a:srgbClr val="FFFFFF"/>
                </a:solidFill>
                <a:latin typeface="Montserrat"/>
                <a:ea typeface="Montserrat"/>
                <a:cs typeface="Montserrat"/>
                <a:sym typeface="Montserrat"/>
              </a:rPr>
              <a:t>GROUP BY </a:t>
            </a:r>
            <a:r>
              <a:rPr lang="en-US" sz="1266" spc="-63" dirty="0" err="1">
                <a:solidFill>
                  <a:srgbClr val="FFFFFF"/>
                </a:solidFill>
                <a:latin typeface="Montserrat"/>
                <a:ea typeface="Montserrat"/>
                <a:cs typeface="Montserrat"/>
                <a:sym typeface="Montserrat"/>
              </a:rPr>
              <a:t>Year_Num</a:t>
            </a:r>
            <a:endParaRPr lang="en-US" sz="1266" spc="-63" dirty="0">
              <a:solidFill>
                <a:srgbClr val="FFFFFF"/>
              </a:solidFill>
              <a:latin typeface="Montserrat"/>
              <a:ea typeface="Montserrat"/>
              <a:cs typeface="Montserrat"/>
              <a:sym typeface="Montserrat"/>
            </a:endParaRPr>
          </a:p>
          <a:p>
            <a:pPr defTabSz="609630">
              <a:lnSpc>
                <a:spcPts val="1773"/>
              </a:lnSpc>
              <a:spcBef>
                <a:spcPct val="0"/>
              </a:spcBef>
            </a:pPr>
            <a:r>
              <a:rPr lang="en-US" sz="1266" spc="-63" dirty="0">
                <a:solidFill>
                  <a:srgbClr val="FFFFFF"/>
                </a:solidFill>
                <a:latin typeface="Montserrat"/>
                <a:ea typeface="Montserrat"/>
                <a:cs typeface="Montserrat"/>
                <a:sym typeface="Montserrat"/>
              </a:rPr>
              <a:t>ORDER BY </a:t>
            </a:r>
            <a:r>
              <a:rPr lang="en-US" sz="1266" spc="-63" dirty="0" err="1">
                <a:solidFill>
                  <a:srgbClr val="FFFFFF"/>
                </a:solidFill>
                <a:latin typeface="Montserrat"/>
                <a:ea typeface="Montserrat"/>
                <a:cs typeface="Montserrat"/>
                <a:sym typeface="Montserrat"/>
              </a:rPr>
              <a:t>Total_Revenue</a:t>
            </a:r>
            <a:r>
              <a:rPr lang="en-US" sz="1266" spc="-63" dirty="0">
                <a:solidFill>
                  <a:srgbClr val="FFFFFF"/>
                </a:solidFill>
                <a:latin typeface="Montserrat"/>
                <a:ea typeface="Montserrat"/>
                <a:cs typeface="Montserrat"/>
                <a:sym typeface="Montserrat"/>
              </a:rPr>
              <a:t> DESC;</a:t>
            </a:r>
          </a:p>
        </p:txBody>
      </p:sp>
      <p:sp>
        <p:nvSpPr>
          <p:cNvPr id="13" name="TextBox 13"/>
          <p:cNvSpPr txBox="1"/>
          <p:nvPr/>
        </p:nvSpPr>
        <p:spPr>
          <a:xfrm>
            <a:off x="199526" y="4378922"/>
            <a:ext cx="5128177" cy="1070614"/>
          </a:xfrm>
          <a:prstGeom prst="rect">
            <a:avLst/>
          </a:prstGeom>
        </p:spPr>
        <p:txBody>
          <a:bodyPr lIns="0" tIns="0" rIns="0" bIns="0" rtlCol="0" anchor="t">
            <a:spAutoFit/>
          </a:bodyPr>
          <a:lstStyle/>
          <a:p>
            <a:pPr defTabSz="609630">
              <a:lnSpc>
                <a:spcPts val="1680"/>
              </a:lnSpc>
            </a:pPr>
            <a:r>
              <a:rPr lang="en-US" sz="1200" dirty="0">
                <a:solidFill>
                  <a:srgbClr val="FFFFFF"/>
                </a:solidFill>
                <a:latin typeface="Canva Sans"/>
                <a:ea typeface="Canva Sans"/>
                <a:cs typeface="Canva Sans"/>
                <a:sym typeface="Canva Sans"/>
              </a:rPr>
              <a:t>#check the </a:t>
            </a:r>
            <a:r>
              <a:rPr lang="en-US" sz="1200" dirty="0" err="1">
                <a:solidFill>
                  <a:srgbClr val="FFFFFF"/>
                </a:solidFill>
                <a:latin typeface="Canva Sans"/>
                <a:ea typeface="Canva Sans"/>
                <a:cs typeface="Canva Sans"/>
                <a:sym typeface="Canva Sans"/>
              </a:rPr>
              <a:t>days_with_data</a:t>
            </a:r>
            <a:r>
              <a:rPr lang="en-US" sz="1200" dirty="0">
                <a:solidFill>
                  <a:srgbClr val="FFFFFF"/>
                </a:solidFill>
                <a:latin typeface="Canva Sans"/>
                <a:ea typeface="Canva Sans"/>
                <a:cs typeface="Canva Sans"/>
                <a:sym typeface="Canva Sans"/>
              </a:rPr>
              <a:t> per year</a:t>
            </a:r>
          </a:p>
          <a:p>
            <a:pPr defTabSz="609630">
              <a:lnSpc>
                <a:spcPts val="1680"/>
              </a:lnSpc>
            </a:pPr>
            <a:r>
              <a:rPr lang="en-US" sz="1200" dirty="0">
                <a:solidFill>
                  <a:srgbClr val="FFFFFF"/>
                </a:solidFill>
                <a:latin typeface="Canva Sans"/>
                <a:ea typeface="Canva Sans"/>
                <a:cs typeface="Canva Sans"/>
                <a:sym typeface="Canva Sans"/>
              </a:rPr>
              <a:t>SELECT </a:t>
            </a:r>
            <a:r>
              <a:rPr lang="en-US" sz="1200" dirty="0" err="1">
                <a:solidFill>
                  <a:srgbClr val="FFFFFF"/>
                </a:solidFill>
                <a:latin typeface="Canva Sans"/>
                <a:ea typeface="Canva Sans"/>
                <a:cs typeface="Canva Sans"/>
                <a:sym typeface="Canva Sans"/>
              </a:rPr>
              <a:t>Year_Num</a:t>
            </a:r>
            <a:r>
              <a:rPr lang="en-US" sz="1200" dirty="0">
                <a:solidFill>
                  <a:srgbClr val="FFFFFF"/>
                </a:solidFill>
                <a:latin typeface="Canva Sans"/>
                <a:ea typeface="Canva Sans"/>
                <a:cs typeface="Canva Sans"/>
                <a:sym typeface="Canva Sans"/>
              </a:rPr>
              <a:t>, COUNT(DISTINCT </a:t>
            </a:r>
            <a:r>
              <a:rPr lang="en-US" sz="1200" dirty="0" err="1">
                <a:solidFill>
                  <a:srgbClr val="FFFFFF"/>
                </a:solidFill>
                <a:latin typeface="Canva Sans"/>
                <a:ea typeface="Canva Sans"/>
                <a:cs typeface="Canva Sans"/>
                <a:sym typeface="Canva Sans"/>
              </a:rPr>
              <a:t>Invoice_Date</a:t>
            </a:r>
            <a:r>
              <a:rPr lang="en-US" sz="1200" dirty="0">
                <a:solidFill>
                  <a:srgbClr val="FFFFFF"/>
                </a:solidFill>
                <a:latin typeface="Canva Sans"/>
                <a:ea typeface="Canva Sans"/>
                <a:cs typeface="Canva Sans"/>
                <a:sym typeface="Canva Sans"/>
              </a:rPr>
              <a:t>) AS </a:t>
            </a:r>
            <a:r>
              <a:rPr lang="en-US" sz="1200" dirty="0" err="1">
                <a:solidFill>
                  <a:srgbClr val="FFFFFF"/>
                </a:solidFill>
                <a:latin typeface="Canva Sans"/>
                <a:ea typeface="Canva Sans"/>
                <a:cs typeface="Canva Sans"/>
                <a:sym typeface="Canva Sans"/>
              </a:rPr>
              <a:t>days_with_data</a:t>
            </a:r>
            <a:r>
              <a:rPr lang="en-US" sz="1200" dirty="0">
                <a:solidFill>
                  <a:srgbClr val="FFFFFF"/>
                </a:solidFill>
                <a:latin typeface="Canva Sans"/>
                <a:ea typeface="Canva Sans"/>
                <a:cs typeface="Canva Sans"/>
                <a:sym typeface="Canva Sans"/>
              </a:rPr>
              <a:t>,</a:t>
            </a:r>
          </a:p>
          <a:p>
            <a:pPr defTabSz="609630">
              <a:lnSpc>
                <a:spcPts val="1680"/>
              </a:lnSpc>
            </a:pPr>
            <a:r>
              <a:rPr lang="en-US" sz="1200" dirty="0">
                <a:solidFill>
                  <a:srgbClr val="FFFFFF"/>
                </a:solidFill>
                <a:latin typeface="Canva Sans"/>
                <a:ea typeface="Canva Sans"/>
                <a:cs typeface="Canva Sans"/>
                <a:sym typeface="Canva Sans"/>
              </a:rPr>
              <a:t>       MIN(</a:t>
            </a:r>
            <a:r>
              <a:rPr lang="en-US" sz="1200" dirty="0" err="1">
                <a:solidFill>
                  <a:srgbClr val="FFFFFF"/>
                </a:solidFill>
                <a:latin typeface="Canva Sans"/>
                <a:ea typeface="Canva Sans"/>
                <a:cs typeface="Canva Sans"/>
                <a:sym typeface="Canva Sans"/>
              </a:rPr>
              <a:t>Invoice_Date</a:t>
            </a:r>
            <a:r>
              <a:rPr lang="en-US" sz="1200" dirty="0">
                <a:solidFill>
                  <a:srgbClr val="FFFFFF"/>
                </a:solidFill>
                <a:latin typeface="Canva Sans"/>
                <a:ea typeface="Canva Sans"/>
                <a:cs typeface="Canva Sans"/>
                <a:sym typeface="Canva Sans"/>
              </a:rPr>
              <a:t>) AS earliest, MAX(</a:t>
            </a:r>
            <a:r>
              <a:rPr lang="en-US" sz="1200" dirty="0" err="1">
                <a:solidFill>
                  <a:srgbClr val="FFFFFF"/>
                </a:solidFill>
                <a:latin typeface="Canva Sans"/>
                <a:ea typeface="Canva Sans"/>
                <a:cs typeface="Canva Sans"/>
                <a:sym typeface="Canva Sans"/>
              </a:rPr>
              <a:t>Invoice_Date</a:t>
            </a:r>
            <a:r>
              <a:rPr lang="en-US" sz="1200" dirty="0">
                <a:solidFill>
                  <a:srgbClr val="FFFFFF"/>
                </a:solidFill>
                <a:latin typeface="Canva Sans"/>
                <a:ea typeface="Canva Sans"/>
                <a:cs typeface="Canva Sans"/>
                <a:sym typeface="Canva Sans"/>
              </a:rPr>
              <a:t>) AS latest</a:t>
            </a:r>
          </a:p>
          <a:p>
            <a:pPr defTabSz="609630">
              <a:lnSpc>
                <a:spcPts val="1680"/>
              </a:lnSpc>
            </a:pPr>
            <a:r>
              <a:rPr lang="en-US" sz="1200" dirty="0">
                <a:solidFill>
                  <a:srgbClr val="FFFFFF"/>
                </a:solidFill>
                <a:latin typeface="Canva Sans"/>
                <a:ea typeface="Canva Sans"/>
                <a:cs typeface="Canva Sans"/>
                <a:sym typeface="Canva Sans"/>
              </a:rPr>
              <a:t>FROM </a:t>
            </a:r>
            <a:r>
              <a:rPr lang="en-US" sz="1200" dirty="0" err="1">
                <a:solidFill>
                  <a:srgbClr val="FFFFFF"/>
                </a:solidFill>
                <a:latin typeface="Canva Sans"/>
                <a:ea typeface="Canva Sans"/>
                <a:cs typeface="Canva Sans"/>
                <a:sym typeface="Canva Sans"/>
              </a:rPr>
              <a:t>adidas_analytics_table</a:t>
            </a:r>
            <a:endParaRPr lang="en-US" sz="1200" dirty="0">
              <a:solidFill>
                <a:srgbClr val="FFFFFF"/>
              </a:solidFill>
              <a:latin typeface="Canva Sans"/>
              <a:ea typeface="Canva Sans"/>
              <a:cs typeface="Canva Sans"/>
              <a:sym typeface="Canva Sans"/>
            </a:endParaRPr>
          </a:p>
          <a:p>
            <a:pPr defTabSz="609630">
              <a:lnSpc>
                <a:spcPts val="1680"/>
              </a:lnSpc>
            </a:pPr>
            <a:r>
              <a:rPr lang="en-US" sz="1200" dirty="0">
                <a:solidFill>
                  <a:srgbClr val="FFFFFF"/>
                </a:solidFill>
                <a:latin typeface="Canva Sans"/>
                <a:ea typeface="Canva Sans"/>
                <a:cs typeface="Canva Sans"/>
                <a:sym typeface="Canva Sans"/>
              </a:rPr>
              <a:t>GROUP BY </a:t>
            </a:r>
            <a:r>
              <a:rPr lang="en-US" sz="1200" dirty="0" err="1">
                <a:solidFill>
                  <a:srgbClr val="FFFFFF"/>
                </a:solidFill>
                <a:latin typeface="Canva Sans"/>
                <a:ea typeface="Canva Sans"/>
                <a:cs typeface="Canva Sans"/>
                <a:sym typeface="Canva Sans"/>
              </a:rPr>
              <a:t>Year_Num</a:t>
            </a:r>
            <a:r>
              <a:rPr lang="en-US" sz="1200" dirty="0">
                <a:solidFill>
                  <a:srgbClr val="FFFFFF"/>
                </a:solidFill>
                <a:latin typeface="Canva Sans"/>
                <a:ea typeface="Canva Sans"/>
                <a:cs typeface="Canva Sans"/>
                <a:sym typeface="Canva Sans"/>
              </a:rPr>
              <a:t>;</a:t>
            </a:r>
          </a:p>
        </p:txBody>
      </p:sp>
      <p:sp>
        <p:nvSpPr>
          <p:cNvPr id="14" name="TextBox 14"/>
          <p:cNvSpPr txBox="1"/>
          <p:nvPr/>
        </p:nvSpPr>
        <p:spPr>
          <a:xfrm>
            <a:off x="6156376" y="2777730"/>
            <a:ext cx="5956850" cy="4215834"/>
          </a:xfrm>
          <a:prstGeom prst="rect">
            <a:avLst/>
          </a:prstGeom>
        </p:spPr>
        <p:txBody>
          <a:bodyPr lIns="0" tIns="0" rIns="0" bIns="0" rtlCol="0" anchor="t">
            <a:spAutoFit/>
          </a:bodyPr>
          <a:lstStyle/>
          <a:p>
            <a:pPr algn="ctr" defTabSz="609630">
              <a:lnSpc>
                <a:spcPts val="2176"/>
              </a:lnSpc>
            </a:pPr>
            <a:r>
              <a:rPr lang="en-US" sz="1554" dirty="0">
                <a:solidFill>
                  <a:srgbClr val="FFFFFF"/>
                </a:solidFill>
                <a:latin typeface="Canva Sans"/>
                <a:ea typeface="Canva Sans"/>
                <a:cs typeface="Canva Sans"/>
                <a:sym typeface="Canva Sans"/>
              </a:rPr>
              <a:t>#YOY change</a:t>
            </a:r>
          </a:p>
          <a:p>
            <a:pPr defTabSz="609630">
              <a:lnSpc>
                <a:spcPts val="1383"/>
              </a:lnSpc>
            </a:pPr>
            <a:r>
              <a:rPr lang="en-US" sz="987" dirty="0">
                <a:solidFill>
                  <a:srgbClr val="FFFFFF"/>
                </a:solidFill>
                <a:latin typeface="Canva Sans"/>
                <a:ea typeface="Canva Sans"/>
                <a:cs typeface="Canva Sans"/>
                <a:sym typeface="Canva Sans"/>
              </a:rPr>
              <a:t>WITH 2020_Revenue AS (</a:t>
            </a:r>
          </a:p>
          <a:p>
            <a:pPr defTabSz="609630">
              <a:lnSpc>
                <a:spcPts val="1383"/>
              </a:lnSpc>
            </a:pPr>
            <a:r>
              <a:rPr lang="en-US" sz="987" dirty="0">
                <a:solidFill>
                  <a:srgbClr val="FFFFFF"/>
                </a:solidFill>
                <a:latin typeface="Canva Sans"/>
                <a:ea typeface="Canva Sans"/>
                <a:cs typeface="Canva Sans"/>
                <a:sym typeface="Canva Sans"/>
              </a:rPr>
              <a:t>  SELECT</a:t>
            </a:r>
          </a:p>
          <a:p>
            <a:pPr defTabSz="609630">
              <a:lnSpc>
                <a:spcPts val="1383"/>
              </a:lnSpc>
            </a:pPr>
            <a:r>
              <a:rPr lang="en-US" sz="987" dirty="0">
                <a:solidFill>
                  <a:srgbClr val="FFFFFF"/>
                </a:solidFill>
                <a:latin typeface="Canva Sans"/>
                <a:ea typeface="Canva Sans"/>
                <a:cs typeface="Canva Sans"/>
                <a:sym typeface="Canva Sans"/>
              </a:rPr>
              <a:t>        </a:t>
            </a:r>
            <a:r>
              <a:rPr lang="en-US" sz="987" dirty="0" err="1">
                <a:solidFill>
                  <a:srgbClr val="FFFFFF"/>
                </a:solidFill>
                <a:latin typeface="Canva Sans"/>
                <a:ea typeface="Canva Sans"/>
                <a:cs typeface="Canva Sans"/>
                <a:sym typeface="Canva Sans"/>
              </a:rPr>
              <a:t>Year_Num</a:t>
            </a:r>
            <a:r>
              <a:rPr lang="en-US" sz="987" dirty="0">
                <a:solidFill>
                  <a:srgbClr val="FFFFFF"/>
                </a:solidFill>
                <a:latin typeface="Canva Sans"/>
                <a:ea typeface="Canva Sans"/>
                <a:cs typeface="Canva Sans"/>
                <a:sym typeface="Canva Sans"/>
              </a:rPr>
              <a:t>,</a:t>
            </a:r>
          </a:p>
          <a:p>
            <a:pPr defTabSz="609630">
              <a:lnSpc>
                <a:spcPts val="1383"/>
              </a:lnSpc>
            </a:pPr>
            <a:r>
              <a:rPr lang="en-US" sz="987" dirty="0">
                <a:solidFill>
                  <a:srgbClr val="FFFFFF"/>
                </a:solidFill>
                <a:latin typeface="Canva Sans"/>
                <a:ea typeface="Canva Sans"/>
                <a:cs typeface="Canva Sans"/>
                <a:sym typeface="Canva Sans"/>
              </a:rPr>
              <a:t>        SUM(</a:t>
            </a:r>
            <a:r>
              <a:rPr lang="en-US" sz="987" dirty="0" err="1">
                <a:solidFill>
                  <a:srgbClr val="FFFFFF"/>
                </a:solidFill>
                <a:latin typeface="Canva Sans"/>
                <a:ea typeface="Canva Sans"/>
                <a:cs typeface="Canva Sans"/>
                <a:sym typeface="Canva Sans"/>
              </a:rPr>
              <a:t>Total_Sales</a:t>
            </a:r>
            <a:r>
              <a:rPr lang="en-US" sz="987" dirty="0">
                <a:solidFill>
                  <a:srgbClr val="FFFFFF"/>
                </a:solidFill>
                <a:latin typeface="Canva Sans"/>
                <a:ea typeface="Canva Sans"/>
                <a:cs typeface="Canva Sans"/>
                <a:sym typeface="Canva Sans"/>
              </a:rPr>
              <a:t>) AS 2020_Total_Revenue</a:t>
            </a:r>
          </a:p>
          <a:p>
            <a:pPr defTabSz="609630">
              <a:lnSpc>
                <a:spcPts val="1383"/>
              </a:lnSpc>
            </a:pPr>
            <a:r>
              <a:rPr lang="en-US" sz="987" dirty="0">
                <a:solidFill>
                  <a:srgbClr val="FFFFFF"/>
                </a:solidFill>
                <a:latin typeface="Canva Sans"/>
                <a:ea typeface="Canva Sans"/>
                <a:cs typeface="Canva Sans"/>
                <a:sym typeface="Canva Sans"/>
              </a:rPr>
              <a:t>        FROM </a:t>
            </a:r>
            <a:r>
              <a:rPr lang="en-US" sz="987" dirty="0" err="1">
                <a:solidFill>
                  <a:srgbClr val="FFFFFF"/>
                </a:solidFill>
                <a:latin typeface="Canva Sans"/>
                <a:ea typeface="Canva Sans"/>
                <a:cs typeface="Canva Sans"/>
                <a:sym typeface="Canva Sans"/>
              </a:rPr>
              <a:t>adidas_analytics_table</a:t>
            </a:r>
            <a:endParaRPr lang="en-US" sz="987" dirty="0">
              <a:solidFill>
                <a:srgbClr val="FFFFFF"/>
              </a:solidFill>
              <a:latin typeface="Canva Sans"/>
              <a:ea typeface="Canva Sans"/>
              <a:cs typeface="Canva Sans"/>
              <a:sym typeface="Canva Sans"/>
            </a:endParaRPr>
          </a:p>
          <a:p>
            <a:pPr defTabSz="609630">
              <a:lnSpc>
                <a:spcPts val="1383"/>
              </a:lnSpc>
            </a:pPr>
            <a:r>
              <a:rPr lang="en-US" sz="987" dirty="0">
                <a:solidFill>
                  <a:srgbClr val="FFFFFF"/>
                </a:solidFill>
                <a:latin typeface="Canva Sans"/>
                <a:ea typeface="Canva Sans"/>
                <a:cs typeface="Canva Sans"/>
                <a:sym typeface="Canva Sans"/>
              </a:rPr>
              <a:t>        WHERE </a:t>
            </a:r>
            <a:r>
              <a:rPr lang="en-US" sz="987" dirty="0" err="1">
                <a:solidFill>
                  <a:srgbClr val="FFFFFF"/>
                </a:solidFill>
                <a:latin typeface="Canva Sans"/>
                <a:ea typeface="Canva Sans"/>
                <a:cs typeface="Canva Sans"/>
                <a:sym typeface="Canva Sans"/>
              </a:rPr>
              <a:t>Year_Num</a:t>
            </a:r>
            <a:r>
              <a:rPr lang="en-US" sz="987" dirty="0">
                <a:solidFill>
                  <a:srgbClr val="FFFFFF"/>
                </a:solidFill>
                <a:latin typeface="Canva Sans"/>
                <a:ea typeface="Canva Sans"/>
                <a:cs typeface="Canva Sans"/>
                <a:sym typeface="Canva Sans"/>
              </a:rPr>
              <a:t>="2020"</a:t>
            </a:r>
          </a:p>
          <a:p>
            <a:pPr defTabSz="609630">
              <a:lnSpc>
                <a:spcPts val="1383"/>
              </a:lnSpc>
            </a:pPr>
            <a:r>
              <a:rPr lang="en-US" sz="987" dirty="0">
                <a:solidFill>
                  <a:srgbClr val="FFFFFF"/>
                </a:solidFill>
                <a:latin typeface="Canva Sans"/>
                <a:ea typeface="Canva Sans"/>
                <a:cs typeface="Canva Sans"/>
                <a:sym typeface="Canva Sans"/>
              </a:rPr>
              <a:t>),</a:t>
            </a:r>
          </a:p>
          <a:p>
            <a:pPr defTabSz="609630">
              <a:lnSpc>
                <a:spcPts val="1383"/>
              </a:lnSpc>
            </a:pPr>
            <a:r>
              <a:rPr lang="en-US" sz="987" dirty="0">
                <a:solidFill>
                  <a:srgbClr val="FFFFFF"/>
                </a:solidFill>
                <a:latin typeface="Canva Sans"/>
                <a:ea typeface="Canva Sans"/>
                <a:cs typeface="Canva Sans"/>
                <a:sym typeface="Canva Sans"/>
              </a:rPr>
              <a:t>2021_Revenue AS (</a:t>
            </a:r>
          </a:p>
          <a:p>
            <a:pPr defTabSz="609630">
              <a:lnSpc>
                <a:spcPts val="1383"/>
              </a:lnSpc>
            </a:pPr>
            <a:r>
              <a:rPr lang="en-US" sz="987" dirty="0">
                <a:solidFill>
                  <a:srgbClr val="FFFFFF"/>
                </a:solidFill>
                <a:latin typeface="Canva Sans"/>
                <a:ea typeface="Canva Sans"/>
                <a:cs typeface="Canva Sans"/>
                <a:sym typeface="Canva Sans"/>
              </a:rPr>
              <a:t>  SELECT</a:t>
            </a:r>
          </a:p>
          <a:p>
            <a:pPr defTabSz="609630">
              <a:lnSpc>
                <a:spcPts val="1383"/>
              </a:lnSpc>
            </a:pPr>
            <a:r>
              <a:rPr lang="en-US" sz="987" dirty="0">
                <a:solidFill>
                  <a:srgbClr val="FFFFFF"/>
                </a:solidFill>
                <a:latin typeface="Canva Sans"/>
                <a:ea typeface="Canva Sans"/>
                <a:cs typeface="Canva Sans"/>
                <a:sym typeface="Canva Sans"/>
              </a:rPr>
              <a:t>        </a:t>
            </a:r>
            <a:r>
              <a:rPr lang="en-US" sz="987" dirty="0" err="1">
                <a:solidFill>
                  <a:srgbClr val="FFFFFF"/>
                </a:solidFill>
                <a:latin typeface="Canva Sans"/>
                <a:ea typeface="Canva Sans"/>
                <a:cs typeface="Canva Sans"/>
                <a:sym typeface="Canva Sans"/>
              </a:rPr>
              <a:t>Year_Num</a:t>
            </a:r>
            <a:r>
              <a:rPr lang="en-US" sz="987" dirty="0">
                <a:solidFill>
                  <a:srgbClr val="FFFFFF"/>
                </a:solidFill>
                <a:latin typeface="Canva Sans"/>
                <a:ea typeface="Canva Sans"/>
                <a:cs typeface="Canva Sans"/>
                <a:sym typeface="Canva Sans"/>
              </a:rPr>
              <a:t>,</a:t>
            </a:r>
          </a:p>
          <a:p>
            <a:pPr defTabSz="609630">
              <a:lnSpc>
                <a:spcPts val="1383"/>
              </a:lnSpc>
            </a:pPr>
            <a:r>
              <a:rPr lang="en-US" sz="987" dirty="0">
                <a:solidFill>
                  <a:srgbClr val="FFFFFF"/>
                </a:solidFill>
                <a:latin typeface="Canva Sans"/>
                <a:ea typeface="Canva Sans"/>
                <a:cs typeface="Canva Sans"/>
                <a:sym typeface="Canva Sans"/>
              </a:rPr>
              <a:t>        SUM(</a:t>
            </a:r>
            <a:r>
              <a:rPr lang="en-US" sz="987" dirty="0" err="1">
                <a:solidFill>
                  <a:srgbClr val="FFFFFF"/>
                </a:solidFill>
                <a:latin typeface="Canva Sans"/>
                <a:ea typeface="Canva Sans"/>
                <a:cs typeface="Canva Sans"/>
                <a:sym typeface="Canva Sans"/>
              </a:rPr>
              <a:t>Total_Sales</a:t>
            </a:r>
            <a:r>
              <a:rPr lang="en-US" sz="987" dirty="0">
                <a:solidFill>
                  <a:srgbClr val="FFFFFF"/>
                </a:solidFill>
                <a:latin typeface="Canva Sans"/>
                <a:ea typeface="Canva Sans"/>
                <a:cs typeface="Canva Sans"/>
                <a:sym typeface="Canva Sans"/>
              </a:rPr>
              <a:t>) AS 2021_Total_Revenue</a:t>
            </a:r>
          </a:p>
          <a:p>
            <a:pPr defTabSz="609630">
              <a:lnSpc>
                <a:spcPts val="1383"/>
              </a:lnSpc>
            </a:pPr>
            <a:r>
              <a:rPr lang="en-US" sz="987" dirty="0">
                <a:solidFill>
                  <a:srgbClr val="FFFFFF"/>
                </a:solidFill>
                <a:latin typeface="Canva Sans"/>
                <a:ea typeface="Canva Sans"/>
                <a:cs typeface="Canva Sans"/>
                <a:sym typeface="Canva Sans"/>
              </a:rPr>
              <a:t>        FROM </a:t>
            </a:r>
            <a:r>
              <a:rPr lang="en-US" sz="987" dirty="0" err="1">
                <a:solidFill>
                  <a:srgbClr val="FFFFFF"/>
                </a:solidFill>
                <a:latin typeface="Canva Sans"/>
                <a:ea typeface="Canva Sans"/>
                <a:cs typeface="Canva Sans"/>
                <a:sym typeface="Canva Sans"/>
              </a:rPr>
              <a:t>adidas_analytics_table</a:t>
            </a:r>
            <a:endParaRPr lang="en-US" sz="987" dirty="0">
              <a:solidFill>
                <a:srgbClr val="FFFFFF"/>
              </a:solidFill>
              <a:latin typeface="Canva Sans"/>
              <a:ea typeface="Canva Sans"/>
              <a:cs typeface="Canva Sans"/>
              <a:sym typeface="Canva Sans"/>
            </a:endParaRPr>
          </a:p>
          <a:p>
            <a:pPr defTabSz="609630">
              <a:lnSpc>
                <a:spcPts val="1383"/>
              </a:lnSpc>
            </a:pPr>
            <a:r>
              <a:rPr lang="en-US" sz="987" dirty="0">
                <a:solidFill>
                  <a:srgbClr val="FFFFFF"/>
                </a:solidFill>
                <a:latin typeface="Canva Sans"/>
                <a:ea typeface="Canva Sans"/>
                <a:cs typeface="Canva Sans"/>
                <a:sym typeface="Canva Sans"/>
              </a:rPr>
              <a:t>        WHERE </a:t>
            </a:r>
            <a:r>
              <a:rPr lang="en-US" sz="987" dirty="0" err="1">
                <a:solidFill>
                  <a:srgbClr val="FFFFFF"/>
                </a:solidFill>
                <a:latin typeface="Canva Sans"/>
                <a:ea typeface="Canva Sans"/>
                <a:cs typeface="Canva Sans"/>
                <a:sym typeface="Canva Sans"/>
              </a:rPr>
              <a:t>Year_Num</a:t>
            </a:r>
            <a:r>
              <a:rPr lang="en-US" sz="987" dirty="0">
                <a:solidFill>
                  <a:srgbClr val="FFFFFF"/>
                </a:solidFill>
                <a:latin typeface="Canva Sans"/>
                <a:ea typeface="Canva Sans"/>
                <a:cs typeface="Canva Sans"/>
                <a:sym typeface="Canva Sans"/>
              </a:rPr>
              <a:t>="2021"</a:t>
            </a:r>
          </a:p>
          <a:p>
            <a:pPr defTabSz="609630">
              <a:lnSpc>
                <a:spcPts val="1383"/>
              </a:lnSpc>
            </a:pPr>
            <a:r>
              <a:rPr lang="en-US" sz="987" dirty="0">
                <a:solidFill>
                  <a:srgbClr val="FFFFFF"/>
                </a:solidFill>
                <a:latin typeface="Canva Sans"/>
                <a:ea typeface="Canva Sans"/>
                <a:cs typeface="Canva Sans"/>
                <a:sym typeface="Canva Sans"/>
              </a:rPr>
              <a:t>)</a:t>
            </a:r>
          </a:p>
          <a:p>
            <a:pPr defTabSz="609630">
              <a:lnSpc>
                <a:spcPts val="1383"/>
              </a:lnSpc>
            </a:pPr>
            <a:endParaRPr lang="en-US" sz="987" dirty="0">
              <a:solidFill>
                <a:srgbClr val="FFFFFF"/>
              </a:solidFill>
              <a:latin typeface="Canva Sans"/>
              <a:ea typeface="Canva Sans"/>
              <a:cs typeface="Canva Sans"/>
              <a:sym typeface="Canva Sans"/>
            </a:endParaRPr>
          </a:p>
          <a:p>
            <a:pPr defTabSz="609630">
              <a:lnSpc>
                <a:spcPts val="1383"/>
              </a:lnSpc>
            </a:pPr>
            <a:r>
              <a:rPr lang="en-US" sz="987" dirty="0">
                <a:solidFill>
                  <a:srgbClr val="FFFFFF"/>
                </a:solidFill>
                <a:latin typeface="Canva Sans"/>
                <a:ea typeface="Canva Sans"/>
                <a:cs typeface="Canva Sans"/>
                <a:sym typeface="Canva Sans"/>
              </a:rPr>
              <a:t>SELECT</a:t>
            </a:r>
          </a:p>
          <a:p>
            <a:pPr defTabSz="609630">
              <a:lnSpc>
                <a:spcPts val="1383"/>
              </a:lnSpc>
            </a:pPr>
            <a:r>
              <a:rPr lang="en-US" sz="987" dirty="0">
                <a:solidFill>
                  <a:srgbClr val="FFFFFF"/>
                </a:solidFill>
                <a:latin typeface="Canva Sans"/>
                <a:ea typeface="Canva Sans"/>
                <a:cs typeface="Canva Sans"/>
                <a:sym typeface="Canva Sans"/>
              </a:rPr>
              <a:t>((2021_Total_Revenue -2020_Total_Revenue)/2020_Total_Revenue)*100 AS YOY</a:t>
            </a:r>
          </a:p>
          <a:p>
            <a:pPr defTabSz="609630">
              <a:lnSpc>
                <a:spcPts val="1383"/>
              </a:lnSpc>
            </a:pPr>
            <a:r>
              <a:rPr lang="en-US" sz="987" dirty="0">
                <a:solidFill>
                  <a:srgbClr val="FFFFFF"/>
                </a:solidFill>
                <a:latin typeface="Canva Sans"/>
                <a:ea typeface="Canva Sans"/>
                <a:cs typeface="Canva Sans"/>
                <a:sym typeface="Canva Sans"/>
              </a:rPr>
              <a:t>FROM 2020_Revenue 0r</a:t>
            </a:r>
          </a:p>
          <a:p>
            <a:pPr defTabSz="609630">
              <a:lnSpc>
                <a:spcPts val="1383"/>
              </a:lnSpc>
            </a:pPr>
            <a:r>
              <a:rPr lang="en-US" sz="987" dirty="0">
                <a:solidFill>
                  <a:srgbClr val="FFFFFF"/>
                </a:solidFill>
                <a:latin typeface="Canva Sans"/>
                <a:ea typeface="Canva Sans"/>
                <a:cs typeface="Canva Sans"/>
                <a:sym typeface="Canva Sans"/>
              </a:rPr>
              <a:t>JOIN 2021_Revenue 1r</a:t>
            </a:r>
          </a:p>
          <a:p>
            <a:pPr defTabSz="609630">
              <a:lnSpc>
                <a:spcPts val="1383"/>
              </a:lnSpc>
            </a:pPr>
            <a:r>
              <a:rPr lang="en-US" sz="987" dirty="0">
                <a:solidFill>
                  <a:srgbClr val="FFFFFF"/>
                </a:solidFill>
                <a:latin typeface="Canva Sans"/>
                <a:ea typeface="Canva Sans"/>
                <a:cs typeface="Canva Sans"/>
                <a:sym typeface="Canva Sans"/>
              </a:rPr>
              <a:t>ON 0r.Year_Num!=1r.Year_Num;</a:t>
            </a:r>
          </a:p>
          <a:p>
            <a:pPr defTabSz="609630">
              <a:lnSpc>
                <a:spcPts val="1383"/>
              </a:lnSpc>
            </a:pPr>
            <a:endParaRPr lang="en-US" sz="987" dirty="0">
              <a:solidFill>
                <a:srgbClr val="FFFFFF"/>
              </a:solidFill>
              <a:latin typeface="Canva Sans"/>
              <a:ea typeface="Canva Sans"/>
              <a:cs typeface="Canva Sans"/>
              <a:sym typeface="Canva Sans"/>
            </a:endParaRPr>
          </a:p>
          <a:p>
            <a:pPr defTabSz="609630">
              <a:lnSpc>
                <a:spcPts val="1383"/>
              </a:lnSpc>
            </a:pPr>
            <a:endParaRPr lang="en-US" sz="987" dirty="0">
              <a:solidFill>
                <a:srgbClr val="FFFFFF"/>
              </a:solidFill>
              <a:latin typeface="Canva Sans"/>
              <a:ea typeface="Canva Sans"/>
              <a:cs typeface="Canva Sans"/>
              <a:sym typeface="Canva Sans"/>
            </a:endParaRPr>
          </a:p>
        </p:txBody>
      </p:sp>
    </p:spTree>
    <p:extLst>
      <p:ext uri="{BB962C8B-B14F-4D97-AF65-F5344CB8AC3E}">
        <p14:creationId xmlns:p14="http://schemas.microsoft.com/office/powerpoint/2010/main" val="2969643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66021" y="44376"/>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54330"/>
              <a:ext cx="660400" cy="698499"/>
            </a:xfrm>
            <a:prstGeom prst="rect">
              <a:avLst/>
            </a:prstGeom>
          </p:spPr>
          <p:txBody>
            <a:bodyPr lIns="33867" tIns="33867" rIns="33867" bIns="33867" rtlCol="0" anchor="ctr"/>
            <a:lstStyle/>
            <a:p>
              <a:pPr algn="ctr" defTabSz="609630">
                <a:lnSpc>
                  <a:spcPts val="1773"/>
                </a:lnSpc>
              </a:pPr>
              <a:r>
                <a:rPr lang="en-US" sz="1266" b="1" spc="-63" dirty="0">
                  <a:solidFill>
                    <a:srgbClr val="FFFFFF"/>
                  </a:solidFill>
                  <a:latin typeface="Montserrat Bold"/>
                  <a:ea typeface="Montserrat Bold"/>
                  <a:cs typeface="Montserrat Bold"/>
                  <a:sym typeface="Montserrat Bold"/>
                </a:rPr>
                <a:t>6.3</a:t>
              </a:r>
            </a:p>
          </p:txBody>
        </p:sp>
      </p:grpSp>
      <p:grpSp>
        <p:nvGrpSpPr>
          <p:cNvPr id="5" name="Group 5"/>
          <p:cNvGrpSpPr/>
          <p:nvPr/>
        </p:nvGrpSpPr>
        <p:grpSpPr>
          <a:xfrm>
            <a:off x="120750" y="2719686"/>
            <a:ext cx="11992475" cy="3989883"/>
            <a:chOff x="0" y="0"/>
            <a:chExt cx="4737768" cy="1576250"/>
          </a:xfrm>
        </p:grpSpPr>
        <p:sp>
          <p:nvSpPr>
            <p:cNvPr id="6" name="Freeform 6"/>
            <p:cNvSpPr/>
            <p:nvPr/>
          </p:nvSpPr>
          <p:spPr>
            <a:xfrm>
              <a:off x="0" y="0"/>
              <a:ext cx="4737768" cy="1576250"/>
            </a:xfrm>
            <a:custGeom>
              <a:avLst/>
              <a:gdLst/>
              <a:ahLst/>
              <a:cxnLst/>
              <a:rect l="l" t="t" r="r" b="b"/>
              <a:pathLst>
                <a:path w="4737768" h="1576250">
                  <a:moveTo>
                    <a:pt x="0" y="0"/>
                  </a:moveTo>
                  <a:lnTo>
                    <a:pt x="4737768" y="0"/>
                  </a:lnTo>
                  <a:lnTo>
                    <a:pt x="4737768" y="1576250"/>
                  </a:lnTo>
                  <a:lnTo>
                    <a:pt x="0" y="1576250"/>
                  </a:lnTo>
                  <a:close/>
                </a:path>
              </a:pathLst>
            </a:custGeom>
            <a:solidFill>
              <a:srgbClr val="0C0C0C"/>
            </a:solidFill>
          </p:spPr>
        </p:sp>
        <p:sp>
          <p:nvSpPr>
            <p:cNvPr id="7" name="TextBox 7"/>
            <p:cNvSpPr txBox="1"/>
            <p:nvPr/>
          </p:nvSpPr>
          <p:spPr>
            <a:xfrm>
              <a:off x="0" y="-38100"/>
              <a:ext cx="4737768" cy="1614350"/>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41975" y="599620"/>
            <a:ext cx="12071250" cy="2063473"/>
            <a:chOff x="0" y="0"/>
            <a:chExt cx="4768889" cy="815199"/>
          </a:xfrm>
        </p:grpSpPr>
        <p:sp>
          <p:nvSpPr>
            <p:cNvPr id="9" name="Freeform 9"/>
            <p:cNvSpPr/>
            <p:nvPr/>
          </p:nvSpPr>
          <p:spPr>
            <a:xfrm>
              <a:off x="0" y="0"/>
              <a:ext cx="4768889" cy="815199"/>
            </a:xfrm>
            <a:custGeom>
              <a:avLst/>
              <a:gdLst/>
              <a:ahLst/>
              <a:cxnLst/>
              <a:rect l="l" t="t" r="r" b="b"/>
              <a:pathLst>
                <a:path w="4768889" h="815199">
                  <a:moveTo>
                    <a:pt x="21806" y="0"/>
                  </a:moveTo>
                  <a:lnTo>
                    <a:pt x="4747083" y="0"/>
                  </a:lnTo>
                  <a:cubicBezTo>
                    <a:pt x="4752866" y="0"/>
                    <a:pt x="4758413" y="2297"/>
                    <a:pt x="4762502" y="6387"/>
                  </a:cubicBezTo>
                  <a:cubicBezTo>
                    <a:pt x="4766591" y="10476"/>
                    <a:pt x="4768889" y="16023"/>
                    <a:pt x="4768889" y="21806"/>
                  </a:cubicBezTo>
                  <a:lnTo>
                    <a:pt x="4768889" y="793393"/>
                  </a:lnTo>
                  <a:cubicBezTo>
                    <a:pt x="4768889" y="799177"/>
                    <a:pt x="4766591" y="804723"/>
                    <a:pt x="4762502" y="808813"/>
                  </a:cubicBezTo>
                  <a:cubicBezTo>
                    <a:pt x="4758413" y="812902"/>
                    <a:pt x="4752866" y="815199"/>
                    <a:pt x="4747083" y="815199"/>
                  </a:cubicBezTo>
                  <a:lnTo>
                    <a:pt x="21806" y="815199"/>
                  </a:lnTo>
                  <a:cubicBezTo>
                    <a:pt x="16023" y="815199"/>
                    <a:pt x="10476" y="812902"/>
                    <a:pt x="6387" y="808813"/>
                  </a:cubicBezTo>
                  <a:cubicBezTo>
                    <a:pt x="2297" y="804723"/>
                    <a:pt x="0" y="799177"/>
                    <a:pt x="0" y="793393"/>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853299"/>
            </a:xfrm>
            <a:prstGeom prst="rect">
              <a:avLst/>
            </a:prstGeom>
          </p:spPr>
          <p:txBody>
            <a:bodyPr lIns="33867" tIns="33867" rIns="33867" bIns="33867" rtlCol="0" anchor="ctr"/>
            <a:lstStyle/>
            <a:p>
              <a:pPr defTabSz="609630">
                <a:lnSpc>
                  <a:spcPts val="1959"/>
                </a:lnSpc>
              </a:pPr>
              <a:r>
                <a:rPr lang="en-US" sz="1400" spc="-69" dirty="0">
                  <a:solidFill>
                    <a:srgbClr val="000000"/>
                  </a:solidFill>
                  <a:latin typeface="Times New Roman" panose="02020603050405020304" pitchFamily="18" charset="0"/>
                  <a:ea typeface="Montserrat"/>
                  <a:cs typeface="Times New Roman" panose="02020603050405020304" pitchFamily="18" charset="0"/>
                  <a:sym typeface="Montserrat"/>
                </a:rPr>
                <a:t>In 2020, April recorded the highest monthly revenue at $24,607,006  a 13.51% of that year's total revenue. In 2021, July recorded the highest monthly revenue at approximately $78,320,631 a 10.91% of that year's total.</a:t>
              </a:r>
            </a:p>
            <a:p>
              <a:pPr defTabSz="609630">
                <a:lnSpc>
                  <a:spcPts val="1959"/>
                </a:lnSpc>
              </a:pPr>
              <a:r>
                <a:rPr lang="en-US" sz="1400" dirty="0">
                  <a:latin typeface="Times New Roman" panose="02020603050405020304" pitchFamily="18" charset="0"/>
                  <a:cs typeface="Times New Roman" panose="02020603050405020304" pitchFamily="18" charset="0"/>
                </a:rPr>
                <a:t>Both peak months exceed the 8.33% share an evenly distributed year would produce (100% ÷ 12 months), indicating genuine though moderate seasonal concentration in both years. Notably, the peak month shifted from April in 2020 to July in 2021, meaning the timing of peak demand has not been consistent year-over-year. With only two years of data, it's not yet possible to tell whether this reflects a real recurring seasonal pattern or one-off events in each year; a third year of data would clarify this. This dataset does not include weather, holiday, or marketing-campaign data, so the specific driver behind either peak cannot be determined from this analysis alone.</a:t>
              </a:r>
              <a:endParaRPr lang="en-US" sz="1400" spc="-69" dirty="0">
                <a:solidFill>
                  <a:srgbClr val="000000"/>
                </a:solidFill>
                <a:latin typeface="Times New Roman" panose="02020603050405020304" pitchFamily="18" charset="0"/>
                <a:ea typeface="Montserrat"/>
                <a:cs typeface="Times New Roman" panose="02020603050405020304" pitchFamily="18" charset="0"/>
                <a:sym typeface="Montserrat"/>
              </a:endParaRPr>
            </a:p>
          </p:txBody>
        </p:sp>
      </p:grpSp>
      <p:sp>
        <p:nvSpPr>
          <p:cNvPr id="11" name="TextBox 11"/>
          <p:cNvSpPr txBox="1"/>
          <p:nvPr/>
        </p:nvSpPr>
        <p:spPr>
          <a:xfrm>
            <a:off x="1066020" y="-12907"/>
            <a:ext cx="4774975" cy="784254"/>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PEAK MONTH BY REVENUE</a:t>
            </a:r>
          </a:p>
          <a:p>
            <a:pPr algn="ctr" defTabSz="609630">
              <a:lnSpc>
                <a:spcPts val="3173"/>
              </a:lnSpc>
            </a:pPr>
            <a:endParaRPr lang="en-US" sz="2266" b="1" dirty="0">
              <a:solidFill>
                <a:srgbClr val="0C0C0C"/>
              </a:solidFill>
              <a:latin typeface="Canva Sans Bold"/>
              <a:ea typeface="Canva Sans Bold"/>
              <a:cs typeface="Canva Sans Bold"/>
              <a:sym typeface="Canva Sans Bold"/>
            </a:endParaRPr>
          </a:p>
        </p:txBody>
      </p:sp>
      <p:sp>
        <p:nvSpPr>
          <p:cNvPr id="12" name="TextBox 12"/>
          <p:cNvSpPr txBox="1"/>
          <p:nvPr/>
        </p:nvSpPr>
        <p:spPr>
          <a:xfrm>
            <a:off x="337432" y="2700635"/>
            <a:ext cx="6228783" cy="4025910"/>
          </a:xfrm>
          <a:prstGeom prst="rect">
            <a:avLst/>
          </a:prstGeom>
        </p:spPr>
        <p:txBody>
          <a:bodyPr lIns="0" tIns="0" rIns="0" bIns="0" rtlCol="0" anchor="t">
            <a:spAutoFit/>
          </a:bodyPr>
          <a:lstStyle/>
          <a:p>
            <a:pPr algn="ctr" defTabSz="609630">
              <a:lnSpc>
                <a:spcPts val="1521"/>
              </a:lnSpc>
            </a:pPr>
            <a:r>
              <a:rPr lang="en-US" sz="1086" b="1" spc="-54">
                <a:solidFill>
                  <a:srgbClr val="FFFFFF"/>
                </a:solidFill>
                <a:latin typeface="Montserrat Bold"/>
                <a:ea typeface="Montserrat Bold"/>
                <a:cs typeface="Montserrat Bold"/>
                <a:sym typeface="Montserrat Bold"/>
              </a:rPr>
              <a:t>#PEAK MONTH BY REVENUE</a:t>
            </a:r>
          </a:p>
          <a:p>
            <a:pPr defTabSz="609630">
              <a:lnSpc>
                <a:spcPts val="1521"/>
              </a:lnSpc>
            </a:pPr>
            <a:endParaRPr lang="en-US" sz="1086" b="1" spc="-54">
              <a:solidFill>
                <a:srgbClr val="FFFFFF"/>
              </a:solidFill>
              <a:latin typeface="Montserrat Bold"/>
              <a:ea typeface="Montserrat Bold"/>
              <a:cs typeface="Montserrat Bold"/>
              <a:sym typeface="Montserrat Bold"/>
            </a:endParaRPr>
          </a:p>
          <a:p>
            <a:pPr defTabSz="609630">
              <a:lnSpc>
                <a:spcPts val="1521"/>
              </a:lnSpc>
            </a:pPr>
            <a:r>
              <a:rPr lang="en-US" sz="1086" spc="-54">
                <a:solidFill>
                  <a:srgbClr val="FFFFFF"/>
                </a:solidFill>
                <a:latin typeface="Montserrat"/>
                <a:ea typeface="Montserrat"/>
                <a:cs typeface="Montserrat"/>
                <a:sym typeface="Montserrat"/>
              </a:rPr>
              <a:t> #with percentage per month in every year</a:t>
            </a:r>
          </a:p>
          <a:p>
            <a:pPr defTabSz="609630">
              <a:lnSpc>
                <a:spcPts val="1521"/>
              </a:lnSpc>
            </a:pPr>
            <a:r>
              <a:rPr lang="en-US" sz="1086" spc="-54">
                <a:solidFill>
                  <a:srgbClr val="FFFFFF"/>
                </a:solidFill>
                <a:latin typeface="Montserrat"/>
                <a:ea typeface="Montserrat"/>
                <a:cs typeface="Montserrat"/>
                <a:sym typeface="Montserrat"/>
              </a:rPr>
              <a:t> WITH Monthly_Revenue AS (</a:t>
            </a:r>
          </a:p>
          <a:p>
            <a:pPr defTabSz="609630">
              <a:lnSpc>
                <a:spcPts val="1521"/>
              </a:lnSpc>
            </a:pPr>
            <a:r>
              <a:rPr lang="en-US" sz="1086" spc="-54">
                <a:solidFill>
                  <a:srgbClr val="FFFFFF"/>
                </a:solidFill>
                <a:latin typeface="Montserrat"/>
                <a:ea typeface="Montserrat"/>
                <a:cs typeface="Montserrat"/>
                <a:sym typeface="Montserrat"/>
              </a:rPr>
              <a:t>   SELECT </a:t>
            </a:r>
          </a:p>
          <a:p>
            <a:pPr defTabSz="609630">
              <a:lnSpc>
                <a:spcPts val="1521"/>
              </a:lnSpc>
            </a:pPr>
            <a:r>
              <a:rPr lang="en-US" sz="1086" spc="-54">
                <a:solidFill>
                  <a:srgbClr val="FFFFFF"/>
                </a:solidFill>
                <a:latin typeface="Montserrat"/>
                <a:ea typeface="Montserrat"/>
                <a:cs typeface="Montserrat"/>
                <a:sym typeface="Montserrat"/>
              </a:rPr>
              <a:t>   Month_Name,</a:t>
            </a:r>
          </a:p>
          <a:p>
            <a:pPr defTabSz="609630">
              <a:lnSpc>
                <a:spcPts val="1521"/>
              </a:lnSpc>
            </a:pPr>
            <a:r>
              <a:rPr lang="en-US" sz="1086" spc="-54">
                <a:solidFill>
                  <a:srgbClr val="FFFFFF"/>
                </a:solidFill>
                <a:latin typeface="Montserrat"/>
                <a:ea typeface="Montserrat"/>
                <a:cs typeface="Montserrat"/>
                <a:sym typeface="Montserrat"/>
              </a:rPr>
              <a:t>   Year_Num,</a:t>
            </a:r>
          </a:p>
          <a:p>
            <a:pPr defTabSz="609630">
              <a:lnSpc>
                <a:spcPts val="1521"/>
              </a:lnSpc>
            </a:pPr>
            <a:r>
              <a:rPr lang="en-US" sz="1086" spc="-54">
                <a:solidFill>
                  <a:srgbClr val="FFFFFF"/>
                </a:solidFill>
                <a:latin typeface="Montserrat"/>
                <a:ea typeface="Montserrat"/>
                <a:cs typeface="Montserrat"/>
                <a:sym typeface="Montserrat"/>
              </a:rPr>
              <a:t>   SUM(Total_Sales) AS Highest_Total_Revenue,</a:t>
            </a:r>
          </a:p>
          <a:p>
            <a:pPr defTabSz="609630">
              <a:lnSpc>
                <a:spcPts val="1521"/>
              </a:lnSpc>
            </a:pPr>
            <a:r>
              <a:rPr lang="en-US" sz="1086" spc="-54">
                <a:solidFill>
                  <a:srgbClr val="FFFFFF"/>
                </a:solidFill>
                <a:latin typeface="Montserrat"/>
                <a:ea typeface="Montserrat"/>
                <a:cs typeface="Montserrat"/>
                <a:sym typeface="Montserrat"/>
              </a:rPr>
              <a:t>   RANK() OVER( PARTITION BY Year_Num ORDER BY  SUM(Total_Sales) DESC) AS Ranked_Revenue</a:t>
            </a:r>
          </a:p>
          <a:p>
            <a:pPr defTabSz="609630">
              <a:lnSpc>
                <a:spcPts val="1521"/>
              </a:lnSpc>
            </a:pPr>
            <a:r>
              <a:rPr lang="en-US" sz="1086" spc="-54">
                <a:solidFill>
                  <a:srgbClr val="FFFFFF"/>
                </a:solidFill>
                <a:latin typeface="Montserrat"/>
                <a:ea typeface="Montserrat"/>
                <a:cs typeface="Montserrat"/>
                <a:sym typeface="Montserrat"/>
              </a:rPr>
              <a:t>   FROM adidas_analytics_table</a:t>
            </a:r>
          </a:p>
          <a:p>
            <a:pPr defTabSz="609630">
              <a:lnSpc>
                <a:spcPts val="1521"/>
              </a:lnSpc>
            </a:pPr>
            <a:r>
              <a:rPr lang="en-US" sz="1086" spc="-54">
                <a:solidFill>
                  <a:srgbClr val="FFFFFF"/>
                </a:solidFill>
                <a:latin typeface="Montserrat"/>
                <a:ea typeface="Montserrat"/>
                <a:cs typeface="Montserrat"/>
                <a:sym typeface="Montserrat"/>
              </a:rPr>
              <a:t>   GROUP BY Month_Name,Year_Num</a:t>
            </a:r>
          </a:p>
          <a:p>
            <a:pPr defTabSz="609630">
              <a:lnSpc>
                <a:spcPts val="1521"/>
              </a:lnSpc>
            </a:pPr>
            <a:r>
              <a:rPr lang="en-US" sz="1086" spc="-54">
                <a:solidFill>
                  <a:srgbClr val="FFFFFF"/>
                </a:solidFill>
                <a:latin typeface="Montserrat"/>
                <a:ea typeface="Montserrat"/>
                <a:cs typeface="Montserrat"/>
                <a:sym typeface="Montserrat"/>
              </a:rPr>
              <a:t>         ),</a:t>
            </a:r>
          </a:p>
          <a:p>
            <a:pPr defTabSz="609630">
              <a:lnSpc>
                <a:spcPts val="1521"/>
              </a:lnSpc>
            </a:pPr>
            <a:r>
              <a:rPr lang="en-US" sz="1086" spc="-54">
                <a:solidFill>
                  <a:srgbClr val="FFFFFF"/>
                </a:solidFill>
                <a:latin typeface="Montserrat"/>
                <a:ea typeface="Montserrat"/>
                <a:cs typeface="Montserrat"/>
                <a:sym typeface="Montserrat"/>
              </a:rPr>
              <a:t> Yearly_Revenue AS (</a:t>
            </a:r>
          </a:p>
          <a:p>
            <a:pPr defTabSz="609630">
              <a:lnSpc>
                <a:spcPts val="1521"/>
              </a:lnSpc>
            </a:pPr>
            <a:r>
              <a:rPr lang="en-US" sz="1086" spc="-54">
                <a:solidFill>
                  <a:srgbClr val="FFFFFF"/>
                </a:solidFill>
                <a:latin typeface="Montserrat"/>
                <a:ea typeface="Montserrat"/>
                <a:cs typeface="Montserrat"/>
                <a:sym typeface="Montserrat"/>
              </a:rPr>
              <a:t>   SELECT</a:t>
            </a:r>
          </a:p>
          <a:p>
            <a:pPr defTabSz="609630">
              <a:lnSpc>
                <a:spcPts val="1521"/>
              </a:lnSpc>
            </a:pPr>
            <a:r>
              <a:rPr lang="en-US" sz="1086" spc="-54">
                <a:solidFill>
                  <a:srgbClr val="FFFFFF"/>
                </a:solidFill>
                <a:latin typeface="Montserrat"/>
                <a:ea typeface="Montserrat"/>
                <a:cs typeface="Montserrat"/>
                <a:sym typeface="Montserrat"/>
              </a:rPr>
              <a:t>   Year_Num,</a:t>
            </a:r>
          </a:p>
          <a:p>
            <a:pPr defTabSz="609630">
              <a:lnSpc>
                <a:spcPts val="1521"/>
              </a:lnSpc>
            </a:pPr>
            <a:r>
              <a:rPr lang="en-US" sz="1086" spc="-54">
                <a:solidFill>
                  <a:srgbClr val="FFFFFF"/>
                </a:solidFill>
                <a:latin typeface="Montserrat"/>
                <a:ea typeface="Montserrat"/>
                <a:cs typeface="Montserrat"/>
                <a:sym typeface="Montserrat"/>
              </a:rPr>
              <a:t>   SUM(Total_Sales) AS Total_Yearly_Revenue</a:t>
            </a:r>
          </a:p>
          <a:p>
            <a:pPr defTabSz="609630">
              <a:lnSpc>
                <a:spcPts val="1521"/>
              </a:lnSpc>
            </a:pPr>
            <a:r>
              <a:rPr lang="en-US" sz="1086" spc="-54">
                <a:solidFill>
                  <a:srgbClr val="FFFFFF"/>
                </a:solidFill>
                <a:latin typeface="Montserrat"/>
                <a:ea typeface="Montserrat"/>
                <a:cs typeface="Montserrat"/>
                <a:sym typeface="Montserrat"/>
              </a:rPr>
              <a:t>   FROM adidas_analytics_table</a:t>
            </a:r>
          </a:p>
          <a:p>
            <a:pPr defTabSz="609630">
              <a:lnSpc>
                <a:spcPts val="1521"/>
              </a:lnSpc>
            </a:pPr>
            <a:r>
              <a:rPr lang="en-US" sz="1086" spc="-54">
                <a:solidFill>
                  <a:srgbClr val="FFFFFF"/>
                </a:solidFill>
                <a:latin typeface="Montserrat"/>
                <a:ea typeface="Montserrat"/>
                <a:cs typeface="Montserrat"/>
                <a:sym typeface="Montserrat"/>
              </a:rPr>
              <a:t>   GROUP BY Year_Num</a:t>
            </a:r>
          </a:p>
          <a:p>
            <a:pPr defTabSz="609630">
              <a:lnSpc>
                <a:spcPts val="1521"/>
              </a:lnSpc>
            </a:pPr>
            <a:r>
              <a:rPr lang="en-US" sz="1086" spc="-54">
                <a:solidFill>
                  <a:srgbClr val="FFFFFF"/>
                </a:solidFill>
                <a:latin typeface="Montserrat"/>
                <a:ea typeface="Montserrat"/>
                <a:cs typeface="Montserrat"/>
                <a:sym typeface="Montserrat"/>
              </a:rPr>
              <a:t>         )</a:t>
            </a:r>
          </a:p>
          <a:p>
            <a:pPr algn="ctr" defTabSz="609630">
              <a:lnSpc>
                <a:spcPts val="1521"/>
              </a:lnSpc>
              <a:spcBef>
                <a:spcPct val="0"/>
              </a:spcBef>
            </a:pPr>
            <a:endParaRPr lang="en-US" sz="1086" spc="-54">
              <a:solidFill>
                <a:srgbClr val="FFFFFF"/>
              </a:solidFill>
              <a:latin typeface="Montserrat"/>
              <a:ea typeface="Montserrat"/>
              <a:cs typeface="Montserrat"/>
              <a:sym typeface="Montserrat"/>
            </a:endParaRPr>
          </a:p>
        </p:txBody>
      </p:sp>
      <p:sp>
        <p:nvSpPr>
          <p:cNvPr id="13" name="TextBox 13"/>
          <p:cNvSpPr txBox="1"/>
          <p:nvPr/>
        </p:nvSpPr>
        <p:spPr>
          <a:xfrm>
            <a:off x="7136516" y="2970969"/>
            <a:ext cx="4871037" cy="2983253"/>
          </a:xfrm>
          <a:prstGeom prst="rect">
            <a:avLst/>
          </a:prstGeom>
        </p:spPr>
        <p:txBody>
          <a:bodyPr lIns="0" tIns="0" rIns="0" bIns="0" rtlCol="0" anchor="t">
            <a:spAutoFit/>
          </a:bodyPr>
          <a:lstStyle/>
          <a:p>
            <a:pPr defTabSz="609630">
              <a:lnSpc>
                <a:spcPts val="1773"/>
              </a:lnSpc>
            </a:pPr>
            <a:r>
              <a:rPr lang="en-US" sz="1266" spc="-63" dirty="0">
                <a:solidFill>
                  <a:srgbClr val="FFFFFF"/>
                </a:solidFill>
                <a:latin typeface="Montserrat"/>
                <a:ea typeface="Montserrat"/>
                <a:cs typeface="Montserrat"/>
                <a:sym typeface="Montserrat"/>
              </a:rPr>
              <a:t>SELECT</a:t>
            </a:r>
          </a:p>
          <a:p>
            <a:pPr defTabSz="609630">
              <a:lnSpc>
                <a:spcPts val="1773"/>
              </a:lnSpc>
            </a:pPr>
            <a:r>
              <a:rPr lang="en-US" sz="1266" spc="-63" dirty="0" err="1">
                <a:solidFill>
                  <a:srgbClr val="FFFFFF"/>
                </a:solidFill>
                <a:latin typeface="Montserrat"/>
                <a:ea typeface="Montserrat"/>
                <a:cs typeface="Montserrat"/>
                <a:sym typeface="Montserrat"/>
              </a:rPr>
              <a:t>m.Year_Num</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err="1">
                <a:solidFill>
                  <a:srgbClr val="FFFFFF"/>
                </a:solidFill>
                <a:latin typeface="Montserrat"/>
                <a:ea typeface="Montserrat"/>
                <a:cs typeface="Montserrat"/>
                <a:sym typeface="Montserrat"/>
              </a:rPr>
              <a:t>m.Month_Name</a:t>
            </a:r>
            <a:r>
              <a:rPr lang="en-US" sz="1266" spc="-63" dirty="0">
                <a:solidFill>
                  <a:srgbClr val="FFFFFF"/>
                </a:solidFill>
                <a:latin typeface="Montserrat"/>
                <a:ea typeface="Montserrat"/>
                <a:cs typeface="Montserrat"/>
                <a:sym typeface="Montserrat"/>
              </a:rPr>
              <a:t>, </a:t>
            </a:r>
          </a:p>
          <a:p>
            <a:pPr defTabSz="609630">
              <a:lnSpc>
                <a:spcPts val="1773"/>
              </a:lnSpc>
            </a:pPr>
            <a:r>
              <a:rPr lang="en-US" sz="1266" spc="-63" dirty="0" err="1">
                <a:solidFill>
                  <a:srgbClr val="FFFFFF"/>
                </a:solidFill>
                <a:latin typeface="Montserrat"/>
                <a:ea typeface="Montserrat"/>
                <a:cs typeface="Montserrat"/>
                <a:sym typeface="Montserrat"/>
              </a:rPr>
              <a:t>m.Highest_Total_Revenue</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err="1">
                <a:solidFill>
                  <a:srgbClr val="FFFFFF"/>
                </a:solidFill>
                <a:latin typeface="Montserrat"/>
                <a:ea typeface="Montserrat"/>
                <a:cs typeface="Montserrat"/>
                <a:sym typeface="Montserrat"/>
              </a:rPr>
              <a:t>y.Total_Yearly_Revenue</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a:solidFill>
                  <a:srgbClr val="FFFFFF"/>
                </a:solidFill>
                <a:latin typeface="Montserrat"/>
                <a:ea typeface="Montserrat"/>
                <a:cs typeface="Montserrat"/>
                <a:sym typeface="Montserrat"/>
              </a:rPr>
              <a:t>((</a:t>
            </a:r>
            <a:r>
              <a:rPr lang="en-US" sz="1266" spc="-63" dirty="0" err="1">
                <a:solidFill>
                  <a:srgbClr val="FFFFFF"/>
                </a:solidFill>
                <a:latin typeface="Montserrat"/>
                <a:ea typeface="Montserrat"/>
                <a:cs typeface="Montserrat"/>
                <a:sym typeface="Montserrat"/>
              </a:rPr>
              <a:t>m.Highest_Total_Revenue</a:t>
            </a:r>
            <a:r>
              <a:rPr lang="en-US" sz="1266" spc="-63" dirty="0">
                <a:solidFill>
                  <a:srgbClr val="FFFFFF"/>
                </a:solidFill>
                <a:latin typeface="Montserrat"/>
                <a:ea typeface="Montserrat"/>
                <a:cs typeface="Montserrat"/>
                <a:sym typeface="Montserrat"/>
              </a:rPr>
              <a:t>)/</a:t>
            </a:r>
            <a:r>
              <a:rPr lang="en-US" sz="1266" spc="-63" dirty="0" err="1">
                <a:solidFill>
                  <a:srgbClr val="FFFFFF"/>
                </a:solidFill>
                <a:latin typeface="Montserrat"/>
                <a:ea typeface="Montserrat"/>
                <a:cs typeface="Montserrat"/>
                <a:sym typeface="Montserrat"/>
              </a:rPr>
              <a:t>y.Total_Yearly_Revenue</a:t>
            </a:r>
            <a:r>
              <a:rPr lang="en-US" sz="1266" spc="-63" dirty="0">
                <a:solidFill>
                  <a:srgbClr val="FFFFFF"/>
                </a:solidFill>
                <a:latin typeface="Montserrat"/>
                <a:ea typeface="Montserrat"/>
                <a:cs typeface="Montserrat"/>
                <a:sym typeface="Montserrat"/>
              </a:rPr>
              <a:t>)*100 AS </a:t>
            </a:r>
            <a:r>
              <a:rPr lang="en-US" sz="1266" spc="-63" dirty="0" err="1">
                <a:solidFill>
                  <a:srgbClr val="FFFFFF"/>
                </a:solidFill>
                <a:latin typeface="Montserrat"/>
                <a:ea typeface="Montserrat"/>
                <a:cs typeface="Montserrat"/>
                <a:sym typeface="Montserrat"/>
              </a:rPr>
              <a:t>Percentage_Revenue_Difference</a:t>
            </a:r>
            <a:r>
              <a:rPr lang="en-US" sz="1266" spc="-63" dirty="0">
                <a:solidFill>
                  <a:srgbClr val="FFFFFF"/>
                </a:solidFill>
                <a:latin typeface="Montserrat"/>
                <a:ea typeface="Montserrat"/>
                <a:cs typeface="Montserrat"/>
                <a:sym typeface="Montserrat"/>
              </a:rPr>
              <a:t>,</a:t>
            </a:r>
          </a:p>
          <a:p>
            <a:pPr defTabSz="609630">
              <a:lnSpc>
                <a:spcPts val="1773"/>
              </a:lnSpc>
            </a:pPr>
            <a:r>
              <a:rPr lang="en-US" sz="1266" spc="-63" dirty="0" err="1">
                <a:solidFill>
                  <a:srgbClr val="FFFFFF"/>
                </a:solidFill>
                <a:latin typeface="Montserrat"/>
                <a:ea typeface="Montserrat"/>
                <a:cs typeface="Montserrat"/>
                <a:sym typeface="Montserrat"/>
              </a:rPr>
              <a:t>m.Ranked_Revenue</a:t>
            </a:r>
            <a:endParaRPr lang="en-US" sz="1266" spc="-63" dirty="0">
              <a:solidFill>
                <a:srgbClr val="FFFFFF"/>
              </a:solidFill>
              <a:latin typeface="Montserrat"/>
              <a:ea typeface="Montserrat"/>
              <a:cs typeface="Montserrat"/>
              <a:sym typeface="Montserrat"/>
            </a:endParaRPr>
          </a:p>
          <a:p>
            <a:pPr defTabSz="609630">
              <a:lnSpc>
                <a:spcPts val="1773"/>
              </a:lnSpc>
            </a:pPr>
            <a:r>
              <a:rPr lang="en-US" sz="1266" spc="-63" dirty="0">
                <a:solidFill>
                  <a:srgbClr val="FFFFFF"/>
                </a:solidFill>
                <a:latin typeface="Montserrat"/>
                <a:ea typeface="Montserrat"/>
                <a:cs typeface="Montserrat"/>
                <a:sym typeface="Montserrat"/>
              </a:rPr>
              <a:t>FROM </a:t>
            </a:r>
            <a:r>
              <a:rPr lang="en-US" sz="1266" spc="-63" dirty="0" err="1">
                <a:solidFill>
                  <a:srgbClr val="FFFFFF"/>
                </a:solidFill>
                <a:latin typeface="Montserrat"/>
                <a:ea typeface="Montserrat"/>
                <a:cs typeface="Montserrat"/>
                <a:sym typeface="Montserrat"/>
              </a:rPr>
              <a:t>Monthly_Revenue</a:t>
            </a:r>
            <a:r>
              <a:rPr lang="en-US" sz="1266" spc="-63" dirty="0">
                <a:solidFill>
                  <a:srgbClr val="FFFFFF"/>
                </a:solidFill>
                <a:latin typeface="Montserrat"/>
                <a:ea typeface="Montserrat"/>
                <a:cs typeface="Montserrat"/>
                <a:sym typeface="Montserrat"/>
              </a:rPr>
              <a:t> m</a:t>
            </a:r>
          </a:p>
          <a:p>
            <a:pPr defTabSz="609630">
              <a:lnSpc>
                <a:spcPts val="1773"/>
              </a:lnSpc>
            </a:pPr>
            <a:r>
              <a:rPr lang="en-US" sz="1266" spc="-63" dirty="0">
                <a:solidFill>
                  <a:srgbClr val="FFFFFF"/>
                </a:solidFill>
                <a:latin typeface="Montserrat"/>
                <a:ea typeface="Montserrat"/>
                <a:cs typeface="Montserrat"/>
                <a:sym typeface="Montserrat"/>
              </a:rPr>
              <a:t>JOIN </a:t>
            </a:r>
            <a:r>
              <a:rPr lang="en-US" sz="1266" spc="-63" dirty="0" err="1">
                <a:solidFill>
                  <a:srgbClr val="FFFFFF"/>
                </a:solidFill>
                <a:latin typeface="Montserrat"/>
                <a:ea typeface="Montserrat"/>
                <a:cs typeface="Montserrat"/>
                <a:sym typeface="Montserrat"/>
              </a:rPr>
              <a:t>Yearly_Revenue</a:t>
            </a:r>
            <a:r>
              <a:rPr lang="en-US" sz="1266" spc="-63" dirty="0">
                <a:solidFill>
                  <a:srgbClr val="FFFFFF"/>
                </a:solidFill>
                <a:latin typeface="Montserrat"/>
                <a:ea typeface="Montserrat"/>
                <a:cs typeface="Montserrat"/>
                <a:sym typeface="Montserrat"/>
              </a:rPr>
              <a:t> y</a:t>
            </a:r>
          </a:p>
          <a:p>
            <a:pPr defTabSz="609630">
              <a:lnSpc>
                <a:spcPts val="1773"/>
              </a:lnSpc>
            </a:pPr>
            <a:r>
              <a:rPr lang="en-US" sz="1266" spc="-63" dirty="0">
                <a:solidFill>
                  <a:srgbClr val="FFFFFF"/>
                </a:solidFill>
                <a:latin typeface="Montserrat"/>
                <a:ea typeface="Montserrat"/>
                <a:cs typeface="Montserrat"/>
                <a:sym typeface="Montserrat"/>
              </a:rPr>
              <a:t>ON </a:t>
            </a:r>
            <a:r>
              <a:rPr lang="en-US" sz="1266" spc="-63" dirty="0" err="1">
                <a:solidFill>
                  <a:srgbClr val="FFFFFF"/>
                </a:solidFill>
                <a:latin typeface="Montserrat"/>
                <a:ea typeface="Montserrat"/>
                <a:cs typeface="Montserrat"/>
                <a:sym typeface="Montserrat"/>
              </a:rPr>
              <a:t>m.Year_Num</a:t>
            </a:r>
            <a:r>
              <a:rPr lang="en-US" sz="1266" spc="-63" dirty="0">
                <a:solidFill>
                  <a:srgbClr val="FFFFFF"/>
                </a:solidFill>
                <a:latin typeface="Montserrat"/>
                <a:ea typeface="Montserrat"/>
                <a:cs typeface="Montserrat"/>
                <a:sym typeface="Montserrat"/>
              </a:rPr>
              <a:t>=</a:t>
            </a:r>
            <a:r>
              <a:rPr lang="en-US" sz="1266" spc="-63" dirty="0" err="1">
                <a:solidFill>
                  <a:srgbClr val="FFFFFF"/>
                </a:solidFill>
                <a:latin typeface="Montserrat"/>
                <a:ea typeface="Montserrat"/>
                <a:cs typeface="Montserrat"/>
                <a:sym typeface="Montserrat"/>
              </a:rPr>
              <a:t>y.Year_Num</a:t>
            </a:r>
            <a:endParaRPr lang="en-US" sz="1266" spc="-63" dirty="0">
              <a:solidFill>
                <a:srgbClr val="FFFFFF"/>
              </a:solidFill>
              <a:latin typeface="Montserrat"/>
              <a:ea typeface="Montserrat"/>
              <a:cs typeface="Montserrat"/>
              <a:sym typeface="Montserrat"/>
            </a:endParaRPr>
          </a:p>
          <a:p>
            <a:pPr defTabSz="609630">
              <a:lnSpc>
                <a:spcPts val="1773"/>
              </a:lnSpc>
            </a:pPr>
            <a:r>
              <a:rPr lang="en-US" sz="1266" spc="-63" dirty="0">
                <a:solidFill>
                  <a:srgbClr val="FFFFFF"/>
                </a:solidFill>
                <a:latin typeface="Montserrat"/>
                <a:ea typeface="Montserrat"/>
                <a:cs typeface="Montserrat"/>
                <a:sym typeface="Montserrat"/>
              </a:rPr>
              <a:t>WHERE </a:t>
            </a:r>
            <a:r>
              <a:rPr lang="en-US" sz="1266" spc="-63" dirty="0" err="1">
                <a:solidFill>
                  <a:srgbClr val="FFFFFF"/>
                </a:solidFill>
                <a:latin typeface="Montserrat"/>
                <a:ea typeface="Montserrat"/>
                <a:cs typeface="Montserrat"/>
                <a:sym typeface="Montserrat"/>
              </a:rPr>
              <a:t>m.Ranked_Revenue</a:t>
            </a:r>
            <a:r>
              <a:rPr lang="en-US" sz="1266" spc="-63" dirty="0">
                <a:solidFill>
                  <a:srgbClr val="FFFFFF"/>
                </a:solidFill>
                <a:latin typeface="Montserrat"/>
                <a:ea typeface="Montserrat"/>
                <a:cs typeface="Montserrat"/>
                <a:sym typeface="Montserrat"/>
              </a:rPr>
              <a:t>=1;</a:t>
            </a:r>
          </a:p>
          <a:p>
            <a:pPr defTabSz="609630">
              <a:lnSpc>
                <a:spcPts val="1773"/>
              </a:lnSpc>
              <a:spcBef>
                <a:spcPct val="0"/>
              </a:spcBef>
            </a:pPr>
            <a:r>
              <a:rPr lang="en-US" sz="1266" spc="-63" dirty="0">
                <a:solidFill>
                  <a:srgbClr val="FFFFFF"/>
                </a:solidFill>
                <a:latin typeface="Montserrat"/>
                <a:ea typeface="Montserrat"/>
                <a:cs typeface="Montserrat"/>
                <a:sym typeface="Montserrat"/>
              </a:rPr>
              <a:t>t</a:t>
            </a:r>
          </a:p>
        </p:txBody>
      </p:sp>
    </p:spTree>
    <p:extLst>
      <p:ext uri="{BB962C8B-B14F-4D97-AF65-F5344CB8AC3E}">
        <p14:creationId xmlns:p14="http://schemas.microsoft.com/office/powerpoint/2010/main" val="3847120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71997" y="1"/>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6.4</a:t>
              </a:r>
            </a:p>
          </p:txBody>
        </p:sp>
      </p:grpSp>
      <p:grpSp>
        <p:nvGrpSpPr>
          <p:cNvPr id="5" name="Group 5"/>
          <p:cNvGrpSpPr/>
          <p:nvPr/>
        </p:nvGrpSpPr>
        <p:grpSpPr>
          <a:xfrm>
            <a:off x="120750" y="2484935"/>
            <a:ext cx="11992475" cy="4224635"/>
            <a:chOff x="0" y="0"/>
            <a:chExt cx="4737768" cy="1668992"/>
          </a:xfrm>
        </p:grpSpPr>
        <p:sp>
          <p:nvSpPr>
            <p:cNvPr id="6" name="Freeform 6"/>
            <p:cNvSpPr/>
            <p:nvPr/>
          </p:nvSpPr>
          <p:spPr>
            <a:xfrm>
              <a:off x="0" y="0"/>
              <a:ext cx="4737768" cy="1668992"/>
            </a:xfrm>
            <a:custGeom>
              <a:avLst/>
              <a:gdLst/>
              <a:ahLst/>
              <a:cxnLst/>
              <a:rect l="l" t="t" r="r" b="b"/>
              <a:pathLst>
                <a:path w="4737768" h="1668992">
                  <a:moveTo>
                    <a:pt x="0" y="0"/>
                  </a:moveTo>
                  <a:lnTo>
                    <a:pt x="4737768" y="0"/>
                  </a:lnTo>
                  <a:lnTo>
                    <a:pt x="4737768" y="1668992"/>
                  </a:lnTo>
                  <a:lnTo>
                    <a:pt x="0" y="1668992"/>
                  </a:lnTo>
                  <a:close/>
                </a:path>
              </a:pathLst>
            </a:custGeom>
            <a:solidFill>
              <a:srgbClr val="0C0C0C"/>
            </a:solidFill>
          </p:spPr>
        </p:sp>
        <p:sp>
          <p:nvSpPr>
            <p:cNvPr id="7" name="TextBox 7"/>
            <p:cNvSpPr txBox="1"/>
            <p:nvPr/>
          </p:nvSpPr>
          <p:spPr>
            <a:xfrm>
              <a:off x="0" y="-38100"/>
              <a:ext cx="4737768" cy="1707092"/>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120750" y="518408"/>
            <a:ext cx="12071250" cy="1361775"/>
            <a:chOff x="0" y="0"/>
            <a:chExt cx="4768889" cy="537985"/>
          </a:xfrm>
        </p:grpSpPr>
        <p:sp>
          <p:nvSpPr>
            <p:cNvPr id="9" name="Freeform 9"/>
            <p:cNvSpPr/>
            <p:nvPr/>
          </p:nvSpPr>
          <p:spPr>
            <a:xfrm>
              <a:off x="0" y="0"/>
              <a:ext cx="4768889" cy="537985"/>
            </a:xfrm>
            <a:custGeom>
              <a:avLst/>
              <a:gdLst/>
              <a:ahLst/>
              <a:cxnLst/>
              <a:rect l="l" t="t" r="r" b="b"/>
              <a:pathLst>
                <a:path w="4768889" h="537985">
                  <a:moveTo>
                    <a:pt x="21806" y="0"/>
                  </a:moveTo>
                  <a:lnTo>
                    <a:pt x="4747083" y="0"/>
                  </a:lnTo>
                  <a:cubicBezTo>
                    <a:pt x="4752866" y="0"/>
                    <a:pt x="4758413" y="2297"/>
                    <a:pt x="4762502" y="6387"/>
                  </a:cubicBezTo>
                  <a:cubicBezTo>
                    <a:pt x="4766591" y="10476"/>
                    <a:pt x="4768889" y="16023"/>
                    <a:pt x="4768889" y="21806"/>
                  </a:cubicBezTo>
                  <a:lnTo>
                    <a:pt x="4768889" y="516179"/>
                  </a:lnTo>
                  <a:cubicBezTo>
                    <a:pt x="4768889" y="521963"/>
                    <a:pt x="4766591" y="527509"/>
                    <a:pt x="4762502" y="531598"/>
                  </a:cubicBezTo>
                  <a:cubicBezTo>
                    <a:pt x="4758413" y="535688"/>
                    <a:pt x="4752866" y="537985"/>
                    <a:pt x="4747083" y="537985"/>
                  </a:cubicBezTo>
                  <a:lnTo>
                    <a:pt x="21806" y="537985"/>
                  </a:lnTo>
                  <a:cubicBezTo>
                    <a:pt x="16023" y="537985"/>
                    <a:pt x="10476" y="535688"/>
                    <a:pt x="6387" y="531598"/>
                  </a:cubicBezTo>
                  <a:cubicBezTo>
                    <a:pt x="2297" y="527509"/>
                    <a:pt x="0" y="521963"/>
                    <a:pt x="0" y="516179"/>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576085"/>
            </a:xfrm>
            <a:prstGeom prst="rect">
              <a:avLst/>
            </a:prstGeom>
          </p:spPr>
          <p:txBody>
            <a:bodyPr lIns="33867" tIns="33867" rIns="33867" bIns="33867" rtlCol="0" anchor="ctr"/>
            <a:lstStyle/>
            <a:p>
              <a:pPr defTabSz="609630">
                <a:lnSpc>
                  <a:spcPts val="1959"/>
                </a:lnSpc>
              </a:pPr>
              <a:r>
                <a:rPr lang="en-US" sz="1399" spc="-69" dirty="0">
                  <a:solidFill>
                    <a:srgbClr val="000000"/>
                  </a:solidFill>
                  <a:latin typeface="Montserrat"/>
                  <a:ea typeface="Montserrat"/>
                  <a:cs typeface="Montserrat"/>
                  <a:sym typeface="Montserrat"/>
                </a:rPr>
                <a:t>In 2020, Friday generated the highest single-day-of-week revenue at $29,702,731  16.31% of that year's total. In 2021, Thursday generated the highest at $120,866,819  16.84% of that year's total.</a:t>
              </a:r>
            </a:p>
            <a:p>
              <a:pPr defTabSz="609630">
                <a:lnSpc>
                  <a:spcPts val="1959"/>
                </a:lnSpc>
              </a:pPr>
              <a:r>
                <a:rPr lang="en-US" sz="1399" spc="-69" dirty="0">
                  <a:solidFill>
                    <a:srgbClr val="000000"/>
                  </a:solidFill>
                  <a:latin typeface="Montserrat"/>
                  <a:ea typeface="Montserrat"/>
                  <a:cs typeface="Montserrat"/>
                  <a:sym typeface="Montserrat"/>
                </a:rPr>
                <a:t>Both peak days fall late in the working week (Thursday/Friday) rather than on the weekend, and both years show a similar peak share (~16–17%), suggesting a moderately consistent pattern rather than a one-off anomaly. However, the peak day itself shifted from Friday (2020) to Thursday (2021), similar to the month-level shift seen in Q2  worth flagging as a recurring theme: this business's "peak timing" is not perfectly stable year-over-year. </a:t>
              </a:r>
            </a:p>
          </p:txBody>
        </p:sp>
      </p:grpSp>
      <p:sp>
        <p:nvSpPr>
          <p:cNvPr id="11" name="TextBox 11"/>
          <p:cNvSpPr txBox="1"/>
          <p:nvPr/>
        </p:nvSpPr>
        <p:spPr>
          <a:xfrm>
            <a:off x="863600" y="-24246"/>
            <a:ext cx="4774975" cy="784254"/>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PEAK DAY BY REVENUE</a:t>
            </a:r>
          </a:p>
          <a:p>
            <a:pPr algn="ctr" defTabSz="609630">
              <a:lnSpc>
                <a:spcPts val="3173"/>
              </a:lnSpc>
            </a:pPr>
            <a:endParaRPr lang="en-US" sz="2266" b="1" dirty="0">
              <a:solidFill>
                <a:srgbClr val="0C0C0C"/>
              </a:solidFill>
              <a:latin typeface="Canva Sans Bold"/>
              <a:ea typeface="Canva Sans Bold"/>
              <a:cs typeface="Canva Sans Bold"/>
              <a:sym typeface="Canva Sans Bold"/>
            </a:endParaRPr>
          </a:p>
        </p:txBody>
      </p:sp>
      <p:sp>
        <p:nvSpPr>
          <p:cNvPr id="12" name="TextBox 12"/>
          <p:cNvSpPr txBox="1"/>
          <p:nvPr/>
        </p:nvSpPr>
        <p:spPr>
          <a:xfrm>
            <a:off x="505112" y="2702531"/>
            <a:ext cx="6228783" cy="4025910"/>
          </a:xfrm>
          <a:prstGeom prst="rect">
            <a:avLst/>
          </a:prstGeom>
        </p:spPr>
        <p:txBody>
          <a:bodyPr lIns="0" tIns="0" rIns="0" bIns="0" rtlCol="0" anchor="t">
            <a:spAutoFit/>
          </a:bodyPr>
          <a:lstStyle/>
          <a:p>
            <a:pPr algn="ctr" defTabSz="609630">
              <a:lnSpc>
                <a:spcPts val="1521"/>
              </a:lnSpc>
            </a:pPr>
            <a:r>
              <a:rPr lang="en-US" sz="1086" b="1" spc="-54">
                <a:solidFill>
                  <a:srgbClr val="FFFFFF"/>
                </a:solidFill>
                <a:latin typeface="Montserrat Bold"/>
                <a:ea typeface="Montserrat Bold"/>
                <a:cs typeface="Montserrat Bold"/>
                <a:sym typeface="Montserrat Bold"/>
              </a:rPr>
              <a:t>#PEAK DAY BY REVENUE</a:t>
            </a:r>
          </a:p>
          <a:p>
            <a:pPr defTabSz="609630">
              <a:lnSpc>
                <a:spcPts val="1521"/>
              </a:lnSpc>
            </a:pPr>
            <a:endParaRPr lang="en-US" sz="1086" b="1" spc="-54">
              <a:solidFill>
                <a:srgbClr val="FFFFFF"/>
              </a:solidFill>
              <a:latin typeface="Montserrat Bold"/>
              <a:ea typeface="Montserrat Bold"/>
              <a:cs typeface="Montserrat Bold"/>
              <a:sym typeface="Montserrat Bold"/>
            </a:endParaRPr>
          </a:p>
          <a:p>
            <a:pPr defTabSz="609630">
              <a:lnSpc>
                <a:spcPts val="1521"/>
              </a:lnSpc>
            </a:pPr>
            <a:r>
              <a:rPr lang="en-US" sz="1086" spc="-54">
                <a:solidFill>
                  <a:srgbClr val="FFFFFF"/>
                </a:solidFill>
                <a:latin typeface="Montserrat"/>
                <a:ea typeface="Montserrat"/>
                <a:cs typeface="Montserrat"/>
                <a:sym typeface="Montserrat"/>
              </a:rPr>
              <a:t> WITH Daily_Revenue AS (</a:t>
            </a:r>
          </a:p>
          <a:p>
            <a:pPr defTabSz="609630">
              <a:lnSpc>
                <a:spcPts val="1521"/>
              </a:lnSpc>
            </a:pPr>
            <a:r>
              <a:rPr lang="en-US" sz="1086" spc="-54">
                <a:solidFill>
                  <a:srgbClr val="FFFFFF"/>
                </a:solidFill>
                <a:latin typeface="Montserrat"/>
                <a:ea typeface="Montserrat"/>
                <a:cs typeface="Montserrat"/>
                <a:sym typeface="Montserrat"/>
              </a:rPr>
              <a:t>   SELECT </a:t>
            </a:r>
          </a:p>
          <a:p>
            <a:pPr defTabSz="609630">
              <a:lnSpc>
                <a:spcPts val="1521"/>
              </a:lnSpc>
            </a:pPr>
            <a:r>
              <a:rPr lang="en-US" sz="1086" spc="-54">
                <a:solidFill>
                  <a:srgbClr val="FFFFFF"/>
                </a:solidFill>
                <a:latin typeface="Montserrat"/>
                <a:ea typeface="Montserrat"/>
                <a:cs typeface="Montserrat"/>
                <a:sym typeface="Montserrat"/>
              </a:rPr>
              <a:t>   Day_Name,</a:t>
            </a:r>
          </a:p>
          <a:p>
            <a:pPr defTabSz="609630">
              <a:lnSpc>
                <a:spcPts val="1521"/>
              </a:lnSpc>
            </a:pPr>
            <a:r>
              <a:rPr lang="en-US" sz="1086" spc="-54">
                <a:solidFill>
                  <a:srgbClr val="FFFFFF"/>
                </a:solidFill>
                <a:latin typeface="Montserrat"/>
                <a:ea typeface="Montserrat"/>
                <a:cs typeface="Montserrat"/>
                <a:sym typeface="Montserrat"/>
              </a:rPr>
              <a:t>   Year_Num,</a:t>
            </a:r>
          </a:p>
          <a:p>
            <a:pPr defTabSz="609630">
              <a:lnSpc>
                <a:spcPts val="1521"/>
              </a:lnSpc>
            </a:pPr>
            <a:r>
              <a:rPr lang="en-US" sz="1086" spc="-54">
                <a:solidFill>
                  <a:srgbClr val="FFFFFF"/>
                </a:solidFill>
                <a:latin typeface="Montserrat"/>
                <a:ea typeface="Montserrat"/>
                <a:cs typeface="Montserrat"/>
                <a:sym typeface="Montserrat"/>
              </a:rPr>
              <a:t>   SUM(Total_Sales) AS Highest_Total_Revenue,</a:t>
            </a:r>
          </a:p>
          <a:p>
            <a:pPr defTabSz="609630">
              <a:lnSpc>
                <a:spcPts val="1521"/>
              </a:lnSpc>
            </a:pPr>
            <a:r>
              <a:rPr lang="en-US" sz="1086" spc="-54">
                <a:solidFill>
                  <a:srgbClr val="FFFFFF"/>
                </a:solidFill>
                <a:latin typeface="Montserrat"/>
                <a:ea typeface="Montserrat"/>
                <a:cs typeface="Montserrat"/>
                <a:sym typeface="Montserrat"/>
              </a:rPr>
              <a:t>   RANK() OVER( PARTITION BY Year_Num ORDER BY  SUM(Total_Sales) DESC) AS Ranked_Revenue</a:t>
            </a:r>
          </a:p>
          <a:p>
            <a:pPr defTabSz="609630">
              <a:lnSpc>
                <a:spcPts val="1521"/>
              </a:lnSpc>
            </a:pPr>
            <a:r>
              <a:rPr lang="en-US" sz="1086" spc="-54">
                <a:solidFill>
                  <a:srgbClr val="FFFFFF"/>
                </a:solidFill>
                <a:latin typeface="Montserrat"/>
                <a:ea typeface="Montserrat"/>
                <a:cs typeface="Montserrat"/>
                <a:sym typeface="Montserrat"/>
              </a:rPr>
              <a:t>   FROM adidas_analytics_table</a:t>
            </a:r>
          </a:p>
          <a:p>
            <a:pPr defTabSz="609630">
              <a:lnSpc>
                <a:spcPts val="1521"/>
              </a:lnSpc>
            </a:pPr>
            <a:r>
              <a:rPr lang="en-US" sz="1086" spc="-54">
                <a:solidFill>
                  <a:srgbClr val="FFFFFF"/>
                </a:solidFill>
                <a:latin typeface="Montserrat"/>
                <a:ea typeface="Montserrat"/>
                <a:cs typeface="Montserrat"/>
                <a:sym typeface="Montserrat"/>
              </a:rPr>
              <a:t>   GROUP BY Day_Name,Year_Num</a:t>
            </a:r>
          </a:p>
          <a:p>
            <a:pPr defTabSz="609630">
              <a:lnSpc>
                <a:spcPts val="1521"/>
              </a:lnSpc>
            </a:pPr>
            <a:r>
              <a:rPr lang="en-US" sz="1086" spc="-54">
                <a:solidFill>
                  <a:srgbClr val="FFFFFF"/>
                </a:solidFill>
                <a:latin typeface="Montserrat"/>
                <a:ea typeface="Montserrat"/>
                <a:cs typeface="Montserrat"/>
                <a:sym typeface="Montserrat"/>
              </a:rPr>
              <a:t>         ),</a:t>
            </a:r>
          </a:p>
          <a:p>
            <a:pPr defTabSz="609630">
              <a:lnSpc>
                <a:spcPts val="1521"/>
              </a:lnSpc>
            </a:pPr>
            <a:r>
              <a:rPr lang="en-US" sz="1086" spc="-54">
                <a:solidFill>
                  <a:srgbClr val="FFFFFF"/>
                </a:solidFill>
                <a:latin typeface="Montserrat"/>
                <a:ea typeface="Montserrat"/>
                <a:cs typeface="Montserrat"/>
                <a:sym typeface="Montserrat"/>
              </a:rPr>
              <a:t> Yearly_Revenue AS (</a:t>
            </a:r>
          </a:p>
          <a:p>
            <a:pPr defTabSz="609630">
              <a:lnSpc>
                <a:spcPts val="1521"/>
              </a:lnSpc>
            </a:pPr>
            <a:r>
              <a:rPr lang="en-US" sz="1086" spc="-54">
                <a:solidFill>
                  <a:srgbClr val="FFFFFF"/>
                </a:solidFill>
                <a:latin typeface="Montserrat"/>
                <a:ea typeface="Montserrat"/>
                <a:cs typeface="Montserrat"/>
                <a:sym typeface="Montserrat"/>
              </a:rPr>
              <a:t>   SELECT</a:t>
            </a:r>
          </a:p>
          <a:p>
            <a:pPr defTabSz="609630">
              <a:lnSpc>
                <a:spcPts val="1521"/>
              </a:lnSpc>
            </a:pPr>
            <a:r>
              <a:rPr lang="en-US" sz="1086" spc="-54">
                <a:solidFill>
                  <a:srgbClr val="FFFFFF"/>
                </a:solidFill>
                <a:latin typeface="Montserrat"/>
                <a:ea typeface="Montserrat"/>
                <a:cs typeface="Montserrat"/>
                <a:sym typeface="Montserrat"/>
              </a:rPr>
              <a:t>   Year_Num,</a:t>
            </a:r>
          </a:p>
          <a:p>
            <a:pPr defTabSz="609630">
              <a:lnSpc>
                <a:spcPts val="1521"/>
              </a:lnSpc>
            </a:pPr>
            <a:r>
              <a:rPr lang="en-US" sz="1086" spc="-54">
                <a:solidFill>
                  <a:srgbClr val="FFFFFF"/>
                </a:solidFill>
                <a:latin typeface="Montserrat"/>
                <a:ea typeface="Montserrat"/>
                <a:cs typeface="Montserrat"/>
                <a:sym typeface="Montserrat"/>
              </a:rPr>
              <a:t>   SUM(Total_Sales) AS Total_Yearly_Revenue</a:t>
            </a:r>
          </a:p>
          <a:p>
            <a:pPr defTabSz="609630">
              <a:lnSpc>
                <a:spcPts val="1521"/>
              </a:lnSpc>
            </a:pPr>
            <a:r>
              <a:rPr lang="en-US" sz="1086" spc="-54">
                <a:solidFill>
                  <a:srgbClr val="FFFFFF"/>
                </a:solidFill>
                <a:latin typeface="Montserrat"/>
                <a:ea typeface="Montserrat"/>
                <a:cs typeface="Montserrat"/>
                <a:sym typeface="Montserrat"/>
              </a:rPr>
              <a:t>   FROM adidas_analytics_table</a:t>
            </a:r>
          </a:p>
          <a:p>
            <a:pPr defTabSz="609630">
              <a:lnSpc>
                <a:spcPts val="1521"/>
              </a:lnSpc>
            </a:pPr>
            <a:r>
              <a:rPr lang="en-US" sz="1086" spc="-54">
                <a:solidFill>
                  <a:srgbClr val="FFFFFF"/>
                </a:solidFill>
                <a:latin typeface="Montserrat"/>
                <a:ea typeface="Montserrat"/>
                <a:cs typeface="Montserrat"/>
                <a:sym typeface="Montserrat"/>
              </a:rPr>
              <a:t>   GROUP BY Year_Num</a:t>
            </a:r>
          </a:p>
          <a:p>
            <a:pPr defTabSz="609630">
              <a:lnSpc>
                <a:spcPts val="1521"/>
              </a:lnSpc>
            </a:pPr>
            <a:r>
              <a:rPr lang="en-US" sz="1086" spc="-54">
                <a:solidFill>
                  <a:srgbClr val="FFFFFF"/>
                </a:solidFill>
                <a:latin typeface="Montserrat"/>
                <a:ea typeface="Montserrat"/>
                <a:cs typeface="Montserrat"/>
                <a:sym typeface="Montserrat"/>
              </a:rPr>
              <a:t>         )</a:t>
            </a:r>
          </a:p>
          <a:p>
            <a:pPr defTabSz="609630">
              <a:lnSpc>
                <a:spcPts val="1521"/>
              </a:lnSpc>
            </a:pPr>
            <a:endParaRPr lang="en-US" sz="1086" spc="-54">
              <a:solidFill>
                <a:srgbClr val="FFFFFF"/>
              </a:solidFill>
              <a:latin typeface="Montserrat"/>
              <a:ea typeface="Montserrat"/>
              <a:cs typeface="Montserrat"/>
              <a:sym typeface="Montserrat"/>
            </a:endParaRPr>
          </a:p>
          <a:p>
            <a:pPr algn="ctr" defTabSz="609630">
              <a:lnSpc>
                <a:spcPts val="1521"/>
              </a:lnSpc>
              <a:spcBef>
                <a:spcPct val="0"/>
              </a:spcBef>
            </a:pPr>
            <a:endParaRPr lang="en-US" sz="1086" spc="-54">
              <a:solidFill>
                <a:srgbClr val="FFFFFF"/>
              </a:solidFill>
              <a:latin typeface="Montserrat"/>
              <a:ea typeface="Montserrat"/>
              <a:cs typeface="Montserrat"/>
              <a:sym typeface="Montserrat"/>
            </a:endParaRPr>
          </a:p>
        </p:txBody>
      </p:sp>
      <p:sp>
        <p:nvSpPr>
          <p:cNvPr id="13" name="TextBox 13"/>
          <p:cNvSpPr txBox="1"/>
          <p:nvPr/>
        </p:nvSpPr>
        <p:spPr>
          <a:xfrm>
            <a:off x="7136516" y="2970969"/>
            <a:ext cx="4871037" cy="3214085"/>
          </a:xfrm>
          <a:prstGeom prst="rect">
            <a:avLst/>
          </a:prstGeom>
        </p:spPr>
        <p:txBody>
          <a:bodyPr lIns="0" tIns="0" rIns="0" bIns="0" rtlCol="0" anchor="t">
            <a:spAutoFit/>
          </a:bodyPr>
          <a:lstStyle/>
          <a:p>
            <a:pPr defTabSz="609630">
              <a:lnSpc>
                <a:spcPts val="1773"/>
              </a:lnSpc>
            </a:pPr>
            <a:r>
              <a:rPr lang="en-US" sz="1266" spc="-63">
                <a:solidFill>
                  <a:srgbClr val="FFFFFF"/>
                </a:solidFill>
                <a:latin typeface="Montserrat"/>
                <a:ea typeface="Montserrat"/>
                <a:cs typeface="Montserrat"/>
                <a:sym typeface="Montserrat"/>
              </a:rPr>
              <a:t>SELECT</a:t>
            </a:r>
          </a:p>
          <a:p>
            <a:pPr defTabSz="609630">
              <a:lnSpc>
                <a:spcPts val="1773"/>
              </a:lnSpc>
            </a:pPr>
            <a:r>
              <a:rPr lang="en-US" sz="1266" spc="-63">
                <a:solidFill>
                  <a:srgbClr val="FFFFFF"/>
                </a:solidFill>
                <a:latin typeface="Montserrat"/>
                <a:ea typeface="Montserrat"/>
                <a:cs typeface="Montserrat"/>
                <a:sym typeface="Montserrat"/>
              </a:rPr>
              <a:t>d.Year_Num,</a:t>
            </a:r>
          </a:p>
          <a:p>
            <a:pPr defTabSz="609630">
              <a:lnSpc>
                <a:spcPts val="1773"/>
              </a:lnSpc>
            </a:pPr>
            <a:r>
              <a:rPr lang="en-US" sz="1266" spc="-63">
                <a:solidFill>
                  <a:srgbClr val="FFFFFF"/>
                </a:solidFill>
                <a:latin typeface="Montserrat"/>
                <a:ea typeface="Montserrat"/>
                <a:cs typeface="Montserrat"/>
                <a:sym typeface="Montserrat"/>
              </a:rPr>
              <a:t>d.Day_Name, </a:t>
            </a:r>
          </a:p>
          <a:p>
            <a:pPr defTabSz="609630">
              <a:lnSpc>
                <a:spcPts val="1773"/>
              </a:lnSpc>
            </a:pPr>
            <a:r>
              <a:rPr lang="en-US" sz="1266" spc="-63">
                <a:solidFill>
                  <a:srgbClr val="FFFFFF"/>
                </a:solidFill>
                <a:latin typeface="Montserrat"/>
                <a:ea typeface="Montserrat"/>
                <a:cs typeface="Montserrat"/>
                <a:sym typeface="Montserrat"/>
              </a:rPr>
              <a:t>d.Highest_Total_Revenue,</a:t>
            </a:r>
          </a:p>
          <a:p>
            <a:pPr defTabSz="609630">
              <a:lnSpc>
                <a:spcPts val="1773"/>
              </a:lnSpc>
            </a:pPr>
            <a:r>
              <a:rPr lang="en-US" sz="1266" spc="-63">
                <a:solidFill>
                  <a:srgbClr val="FFFFFF"/>
                </a:solidFill>
                <a:latin typeface="Montserrat"/>
                <a:ea typeface="Montserrat"/>
                <a:cs typeface="Montserrat"/>
                <a:sym typeface="Montserrat"/>
              </a:rPr>
              <a:t>y.Total_Yearly_Revenue,</a:t>
            </a:r>
          </a:p>
          <a:p>
            <a:pPr defTabSz="609630">
              <a:lnSpc>
                <a:spcPts val="1773"/>
              </a:lnSpc>
            </a:pPr>
            <a:r>
              <a:rPr lang="en-US" sz="1266" spc="-63">
                <a:solidFill>
                  <a:srgbClr val="FFFFFF"/>
                </a:solidFill>
                <a:latin typeface="Montserrat"/>
                <a:ea typeface="Montserrat"/>
                <a:cs typeface="Montserrat"/>
                <a:sym typeface="Montserrat"/>
              </a:rPr>
              <a:t>((d.Highest_Total_Revenue)/y.Total_Yearly_Revenue)*100 AS Percentage_Revenue_Difference,</a:t>
            </a:r>
          </a:p>
          <a:p>
            <a:pPr defTabSz="609630">
              <a:lnSpc>
                <a:spcPts val="1773"/>
              </a:lnSpc>
            </a:pPr>
            <a:r>
              <a:rPr lang="en-US" sz="1266" spc="-63">
                <a:solidFill>
                  <a:srgbClr val="FFFFFF"/>
                </a:solidFill>
                <a:latin typeface="Montserrat"/>
                <a:ea typeface="Montserrat"/>
                <a:cs typeface="Montserrat"/>
                <a:sym typeface="Montserrat"/>
              </a:rPr>
              <a:t>d.Ranked_Revenue</a:t>
            </a:r>
          </a:p>
          <a:p>
            <a:pPr defTabSz="609630">
              <a:lnSpc>
                <a:spcPts val="1773"/>
              </a:lnSpc>
            </a:pPr>
            <a:r>
              <a:rPr lang="en-US" sz="1266" spc="-63">
                <a:solidFill>
                  <a:srgbClr val="FFFFFF"/>
                </a:solidFill>
                <a:latin typeface="Montserrat"/>
                <a:ea typeface="Montserrat"/>
                <a:cs typeface="Montserrat"/>
                <a:sym typeface="Montserrat"/>
              </a:rPr>
              <a:t>FROM Daily_Revenue d</a:t>
            </a:r>
          </a:p>
          <a:p>
            <a:pPr defTabSz="609630">
              <a:lnSpc>
                <a:spcPts val="1773"/>
              </a:lnSpc>
            </a:pPr>
            <a:r>
              <a:rPr lang="en-US" sz="1266" spc="-63">
                <a:solidFill>
                  <a:srgbClr val="FFFFFF"/>
                </a:solidFill>
                <a:latin typeface="Montserrat"/>
                <a:ea typeface="Montserrat"/>
                <a:cs typeface="Montserrat"/>
                <a:sym typeface="Montserrat"/>
              </a:rPr>
              <a:t>JOIN Yearly_Revenue y</a:t>
            </a:r>
          </a:p>
          <a:p>
            <a:pPr defTabSz="609630">
              <a:lnSpc>
                <a:spcPts val="1773"/>
              </a:lnSpc>
            </a:pPr>
            <a:r>
              <a:rPr lang="en-US" sz="1266" spc="-63">
                <a:solidFill>
                  <a:srgbClr val="FFFFFF"/>
                </a:solidFill>
                <a:latin typeface="Montserrat"/>
                <a:ea typeface="Montserrat"/>
                <a:cs typeface="Montserrat"/>
                <a:sym typeface="Montserrat"/>
              </a:rPr>
              <a:t>ON d.Year_Num=y.Year_Num</a:t>
            </a:r>
          </a:p>
          <a:p>
            <a:pPr defTabSz="609630">
              <a:lnSpc>
                <a:spcPts val="1773"/>
              </a:lnSpc>
            </a:pPr>
            <a:r>
              <a:rPr lang="en-US" sz="1266" spc="-63">
                <a:solidFill>
                  <a:srgbClr val="FFFFFF"/>
                </a:solidFill>
                <a:latin typeface="Montserrat"/>
                <a:ea typeface="Montserrat"/>
                <a:cs typeface="Montserrat"/>
                <a:sym typeface="Montserrat"/>
              </a:rPr>
              <a:t>WHERE d.Ranked_Revenue=1;</a:t>
            </a:r>
          </a:p>
          <a:p>
            <a:pPr defTabSz="609630">
              <a:lnSpc>
                <a:spcPts val="1773"/>
              </a:lnSpc>
            </a:pPr>
            <a:r>
              <a:rPr lang="en-US" sz="1266" spc="-63">
                <a:solidFill>
                  <a:srgbClr val="FFFFFF"/>
                </a:solidFill>
                <a:latin typeface="Montserrat"/>
                <a:ea typeface="Montserrat"/>
                <a:cs typeface="Montserrat"/>
                <a:sym typeface="Montserrat"/>
              </a:rPr>
              <a:t> </a:t>
            </a:r>
          </a:p>
          <a:p>
            <a:pPr defTabSz="609630">
              <a:lnSpc>
                <a:spcPts val="1773"/>
              </a:lnSpc>
              <a:spcBef>
                <a:spcPct val="0"/>
              </a:spcBef>
            </a:pPr>
            <a:endParaRPr lang="en-US" sz="1266" spc="-63">
              <a:solidFill>
                <a:srgbClr val="FFFFFF"/>
              </a:solidFill>
              <a:latin typeface="Montserrat"/>
              <a:ea typeface="Montserrat"/>
              <a:cs typeface="Montserrat"/>
              <a:sym typeface="Montserrat"/>
            </a:endParaRPr>
          </a:p>
        </p:txBody>
      </p:sp>
    </p:spTree>
    <p:extLst>
      <p:ext uri="{BB962C8B-B14F-4D97-AF65-F5344CB8AC3E}">
        <p14:creationId xmlns:p14="http://schemas.microsoft.com/office/powerpoint/2010/main" val="1007764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71997" y="1"/>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6.5</a:t>
              </a:r>
            </a:p>
          </p:txBody>
        </p:sp>
      </p:grpSp>
      <p:grpSp>
        <p:nvGrpSpPr>
          <p:cNvPr id="5" name="Group 5"/>
          <p:cNvGrpSpPr/>
          <p:nvPr/>
        </p:nvGrpSpPr>
        <p:grpSpPr>
          <a:xfrm>
            <a:off x="120750" y="3324700"/>
            <a:ext cx="11992475" cy="3384870"/>
            <a:chOff x="0" y="0"/>
            <a:chExt cx="4737768" cy="1337233"/>
          </a:xfrm>
        </p:grpSpPr>
        <p:sp>
          <p:nvSpPr>
            <p:cNvPr id="6" name="Freeform 6"/>
            <p:cNvSpPr/>
            <p:nvPr/>
          </p:nvSpPr>
          <p:spPr>
            <a:xfrm>
              <a:off x="0" y="0"/>
              <a:ext cx="4737768" cy="1337233"/>
            </a:xfrm>
            <a:custGeom>
              <a:avLst/>
              <a:gdLst/>
              <a:ahLst/>
              <a:cxnLst/>
              <a:rect l="l" t="t" r="r" b="b"/>
              <a:pathLst>
                <a:path w="4737768" h="1337233">
                  <a:moveTo>
                    <a:pt x="0" y="0"/>
                  </a:moveTo>
                  <a:lnTo>
                    <a:pt x="4737768" y="0"/>
                  </a:lnTo>
                  <a:lnTo>
                    <a:pt x="4737768" y="1337233"/>
                  </a:lnTo>
                  <a:lnTo>
                    <a:pt x="0" y="1337233"/>
                  </a:lnTo>
                  <a:close/>
                </a:path>
              </a:pathLst>
            </a:custGeom>
            <a:solidFill>
              <a:srgbClr val="0C0C0C"/>
            </a:solidFill>
          </p:spPr>
        </p:sp>
        <p:sp>
          <p:nvSpPr>
            <p:cNvPr id="7" name="TextBox 7"/>
            <p:cNvSpPr txBox="1"/>
            <p:nvPr/>
          </p:nvSpPr>
          <p:spPr>
            <a:xfrm>
              <a:off x="0" y="-38100"/>
              <a:ext cx="4737768" cy="1375333"/>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120750" y="518409"/>
            <a:ext cx="12071250" cy="2806291"/>
            <a:chOff x="0" y="0"/>
            <a:chExt cx="4768889" cy="1108658"/>
          </a:xfrm>
        </p:grpSpPr>
        <p:sp>
          <p:nvSpPr>
            <p:cNvPr id="9" name="Freeform 9"/>
            <p:cNvSpPr/>
            <p:nvPr/>
          </p:nvSpPr>
          <p:spPr>
            <a:xfrm>
              <a:off x="0" y="0"/>
              <a:ext cx="4768889" cy="1108658"/>
            </a:xfrm>
            <a:custGeom>
              <a:avLst/>
              <a:gdLst/>
              <a:ahLst/>
              <a:cxnLst/>
              <a:rect l="l" t="t" r="r" b="b"/>
              <a:pathLst>
                <a:path w="4768889" h="1108658">
                  <a:moveTo>
                    <a:pt x="21806" y="0"/>
                  </a:moveTo>
                  <a:lnTo>
                    <a:pt x="4747083" y="0"/>
                  </a:lnTo>
                  <a:cubicBezTo>
                    <a:pt x="4752866" y="0"/>
                    <a:pt x="4758413" y="2297"/>
                    <a:pt x="4762502" y="6387"/>
                  </a:cubicBezTo>
                  <a:cubicBezTo>
                    <a:pt x="4766591" y="10476"/>
                    <a:pt x="4768889" y="16023"/>
                    <a:pt x="4768889" y="21806"/>
                  </a:cubicBezTo>
                  <a:lnTo>
                    <a:pt x="4768889" y="1086852"/>
                  </a:lnTo>
                  <a:cubicBezTo>
                    <a:pt x="4768889" y="1092636"/>
                    <a:pt x="4766591" y="1098182"/>
                    <a:pt x="4762502" y="1102271"/>
                  </a:cubicBezTo>
                  <a:cubicBezTo>
                    <a:pt x="4758413" y="1106361"/>
                    <a:pt x="4752866" y="1108658"/>
                    <a:pt x="4747083" y="1108658"/>
                  </a:cubicBezTo>
                  <a:lnTo>
                    <a:pt x="21806" y="1108658"/>
                  </a:lnTo>
                  <a:cubicBezTo>
                    <a:pt x="16023" y="1108658"/>
                    <a:pt x="10476" y="1106361"/>
                    <a:pt x="6387" y="1102271"/>
                  </a:cubicBezTo>
                  <a:cubicBezTo>
                    <a:pt x="2297" y="1098182"/>
                    <a:pt x="0" y="1092636"/>
                    <a:pt x="0" y="1086852"/>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1146758"/>
            </a:xfrm>
            <a:prstGeom prst="rect">
              <a:avLst/>
            </a:prstGeom>
          </p:spPr>
          <p:txBody>
            <a:bodyPr lIns="33867" tIns="33867" rIns="33867" bIns="33867" rtlCol="0" anchor="ctr"/>
            <a:lstStyle/>
            <a:p>
              <a:pPr defTabSz="609630">
                <a:lnSpc>
                  <a:spcPts val="1959"/>
                </a:lnSpc>
              </a:pPr>
              <a:r>
                <a:rPr lang="en-US" sz="1399" spc="-69" dirty="0">
                  <a:solidFill>
                    <a:srgbClr val="000000"/>
                  </a:solidFill>
                  <a:latin typeface="Montserrat"/>
                  <a:ea typeface="Montserrat"/>
                  <a:cs typeface="Montserrat"/>
                  <a:sym typeface="Montserrat"/>
                </a:rPr>
                <a:t>In 2020: Men's Street Footwear generated the highest product revenue at $37,823,020  20.77% of that year's total ($182,080,675), from 99,186 units sold. Women's Apparel followed at $35,190,332 (19.33%), then Men's Athletic Footwear at $31,794,462 (17.46%), Women's Street Footwear at $27,426,005 (15.06%), and Men's Apparel at $26,216,964 (14.40%). Women's Athletic Footwear generated the least at $23,629,892  12.98% of the year's total, from 64,177 units sold.</a:t>
              </a:r>
            </a:p>
            <a:p>
              <a:pPr defTabSz="609630">
                <a:lnSpc>
                  <a:spcPts val="1959"/>
                </a:lnSpc>
              </a:pPr>
              <a:r>
                <a:rPr lang="en-US" sz="1399" spc="-69" dirty="0">
                  <a:solidFill>
                    <a:srgbClr val="000000"/>
                  </a:solidFill>
                  <a:latin typeface="Montserrat"/>
                  <a:ea typeface="Montserrat"/>
                  <a:cs typeface="Montserrat"/>
                  <a:sym typeface="Montserrat"/>
                </a:rPr>
                <a:t>2021: Men's Street Footwear again led with $171,003,224  23.82% of that year's total ($717,821,450), from 494,134 units sold. Women's Apparel was second at $143,848,528 (20.04%), followed by Men's Athletic Footwear at $121,879,218 (16.98%), Women's Street Footwear at $100,576,808 (14.01%), and Men's Apparel at $97,511,668 (13.58%). Women's Athletic Footwear again generated the least $83,002,004, or 11.56% of the year's total.</a:t>
              </a:r>
            </a:p>
            <a:p>
              <a:pPr defTabSz="609630">
                <a:lnSpc>
                  <a:spcPts val="1959"/>
                </a:lnSpc>
              </a:pPr>
              <a:r>
                <a:rPr lang="en-US" sz="1399" spc="-69" dirty="0">
                  <a:solidFill>
                    <a:srgbClr val="000000"/>
                  </a:solidFill>
                  <a:latin typeface="Montserrat"/>
                  <a:ea typeface="Montserrat"/>
                  <a:cs typeface="Montserrat"/>
                  <a:sym typeface="Montserrat"/>
                </a:rPr>
                <a:t>Both the top and bottom performers held steady across years: Men's Street Footwear was #1 in both 2020 and 2021, and Women's Athletic Footwear was last in both. The middle of the ranking also stayed almost identical  Women's Apparel in 2nd, Men's Athletic Footwear in 3rd, Women's Street Footwear in 4th, and Men's Apparel in 5th, in both years. The main shift is in scale: total revenue grew nearly 4x from 2020 to 2021 ($182M → $718M), and Men's Street Footwear's share of the pie grew with it, rising from 20.77% to 23.82%.</a:t>
              </a:r>
            </a:p>
          </p:txBody>
        </p:sp>
      </p:grpSp>
      <p:sp>
        <p:nvSpPr>
          <p:cNvPr id="11" name="TextBox 11"/>
          <p:cNvSpPr txBox="1"/>
          <p:nvPr/>
        </p:nvSpPr>
        <p:spPr>
          <a:xfrm>
            <a:off x="2681721" y="-35132"/>
            <a:ext cx="4774975" cy="784254"/>
          </a:xfrm>
          <a:prstGeom prst="rect">
            <a:avLst/>
          </a:prstGeom>
        </p:spPr>
        <p:txBody>
          <a:bodyPr lIns="0" tIns="0" rIns="0" bIns="0" rtlCol="0" anchor="t">
            <a:spAutoFit/>
          </a:bodyPr>
          <a:lstStyle/>
          <a:p>
            <a:pPr algn="ctr" defTabSz="609630">
              <a:lnSpc>
                <a:spcPts val="3173"/>
              </a:lnSpc>
            </a:pPr>
            <a:r>
              <a:rPr lang="en-US" sz="2266" b="1">
                <a:solidFill>
                  <a:srgbClr val="0C0C0C"/>
                </a:solidFill>
                <a:latin typeface="Canva Sans Bold"/>
                <a:ea typeface="Canva Sans Bold"/>
                <a:cs typeface="Canva Sans Bold"/>
                <a:sym typeface="Canva Sans Bold"/>
              </a:rPr>
              <a:t>Top Product Revenue </a:t>
            </a:r>
          </a:p>
          <a:p>
            <a:pPr algn="ctr" defTabSz="609630">
              <a:lnSpc>
                <a:spcPts val="3173"/>
              </a:lnSpc>
            </a:pPr>
            <a:endParaRPr lang="en-US" sz="2266" b="1">
              <a:solidFill>
                <a:srgbClr val="0C0C0C"/>
              </a:solidFill>
              <a:latin typeface="Canva Sans Bold"/>
              <a:ea typeface="Canva Sans Bold"/>
              <a:cs typeface="Canva Sans Bold"/>
              <a:sym typeface="Canva Sans Bold"/>
            </a:endParaRPr>
          </a:p>
        </p:txBody>
      </p:sp>
      <p:sp>
        <p:nvSpPr>
          <p:cNvPr id="12" name="TextBox 12"/>
          <p:cNvSpPr txBox="1"/>
          <p:nvPr/>
        </p:nvSpPr>
        <p:spPr>
          <a:xfrm>
            <a:off x="418800" y="3608896"/>
            <a:ext cx="5677200" cy="2913105"/>
          </a:xfrm>
          <a:prstGeom prst="rect">
            <a:avLst/>
          </a:prstGeom>
        </p:spPr>
        <p:txBody>
          <a:bodyPr lIns="0" tIns="0" rIns="0" bIns="0" rtlCol="0" anchor="t">
            <a:spAutoFit/>
          </a:bodyPr>
          <a:lstStyle/>
          <a:p>
            <a:pPr algn="ctr" defTabSz="609630">
              <a:lnSpc>
                <a:spcPts val="1225"/>
              </a:lnSpc>
            </a:pPr>
            <a:r>
              <a:rPr lang="en-US" sz="875" b="1" spc="-43">
                <a:solidFill>
                  <a:srgbClr val="FFFFFF"/>
                </a:solidFill>
                <a:latin typeface="Montserrat Bold"/>
                <a:ea typeface="Montserrat Bold"/>
                <a:cs typeface="Montserrat Bold"/>
                <a:sym typeface="Montserrat Bold"/>
              </a:rPr>
              <a:t> #Top Product Revenue Share</a:t>
            </a:r>
          </a:p>
          <a:p>
            <a:pPr defTabSz="609630">
              <a:lnSpc>
                <a:spcPts val="1225"/>
              </a:lnSpc>
            </a:pPr>
            <a:r>
              <a:rPr lang="en-US" sz="875" spc="-43">
                <a:solidFill>
                  <a:srgbClr val="FFFFFF"/>
                </a:solidFill>
                <a:latin typeface="Montserrat"/>
                <a:ea typeface="Montserrat"/>
                <a:cs typeface="Montserrat"/>
                <a:sym typeface="Montserrat"/>
              </a:rPr>
              <a:t>WITH Product_Revenue AS (</a:t>
            </a:r>
          </a:p>
          <a:p>
            <a:pPr defTabSz="609630">
              <a:lnSpc>
                <a:spcPts val="1225"/>
              </a:lnSpc>
            </a:pPr>
            <a:r>
              <a:rPr lang="en-US" sz="875" spc="-43">
                <a:solidFill>
                  <a:srgbClr val="FFFFFF"/>
                </a:solidFill>
                <a:latin typeface="Montserrat"/>
                <a:ea typeface="Montserrat"/>
                <a:cs typeface="Montserrat"/>
                <a:sym typeface="Montserrat"/>
              </a:rPr>
              <a:t>  SELECT</a:t>
            </a:r>
          </a:p>
          <a:p>
            <a:pPr defTabSz="609630">
              <a:lnSpc>
                <a:spcPts val="1225"/>
              </a:lnSpc>
            </a:pPr>
            <a:r>
              <a:rPr lang="en-US" sz="875" spc="-43">
                <a:solidFill>
                  <a:srgbClr val="FFFFFF"/>
                </a:solidFill>
                <a:latin typeface="Montserrat"/>
                <a:ea typeface="Montserrat"/>
                <a:cs typeface="Montserrat"/>
                <a:sym typeface="Montserrat"/>
              </a:rPr>
              <a:t>        Year_Num,</a:t>
            </a:r>
          </a:p>
          <a:p>
            <a:pPr defTabSz="609630">
              <a:lnSpc>
                <a:spcPts val="1225"/>
              </a:lnSpc>
            </a:pPr>
            <a:r>
              <a:rPr lang="en-US" sz="875" spc="-43">
                <a:solidFill>
                  <a:srgbClr val="FFFFFF"/>
                </a:solidFill>
                <a:latin typeface="Montserrat"/>
                <a:ea typeface="Montserrat"/>
                <a:cs typeface="Montserrat"/>
                <a:sym typeface="Montserrat"/>
              </a:rPr>
              <a:t>        Product,</a:t>
            </a:r>
          </a:p>
          <a:p>
            <a:pPr defTabSz="609630">
              <a:lnSpc>
                <a:spcPts val="1225"/>
              </a:lnSpc>
            </a:pPr>
            <a:r>
              <a:rPr lang="en-US" sz="875" spc="-43">
                <a:solidFill>
                  <a:srgbClr val="FFFFFF"/>
                </a:solidFill>
                <a:latin typeface="Montserrat"/>
                <a:ea typeface="Montserrat"/>
                <a:cs typeface="Montserrat"/>
                <a:sym typeface="Montserrat"/>
              </a:rPr>
              <a:t>  SUM(Total_Sales) AS Total_Product_Revenue,</a:t>
            </a:r>
          </a:p>
          <a:p>
            <a:pPr defTabSz="609630">
              <a:lnSpc>
                <a:spcPts val="1225"/>
              </a:lnSpc>
            </a:pPr>
            <a:r>
              <a:rPr lang="en-US" sz="875" spc="-43">
                <a:solidFill>
                  <a:srgbClr val="FFFFFF"/>
                </a:solidFill>
                <a:latin typeface="Montserrat"/>
                <a:ea typeface="Montserrat"/>
                <a:cs typeface="Montserrat"/>
                <a:sym typeface="Montserrat"/>
              </a:rPr>
              <a:t>        SUM(Units_Sold) AS Total_Products_Sold,</a:t>
            </a:r>
          </a:p>
          <a:p>
            <a:pPr defTabSz="609630">
              <a:lnSpc>
                <a:spcPts val="1225"/>
              </a:lnSpc>
            </a:pPr>
            <a:r>
              <a:rPr lang="en-US" sz="875" spc="-43">
                <a:solidFill>
                  <a:srgbClr val="FFFFFF"/>
                </a:solidFill>
                <a:latin typeface="Montserrat"/>
                <a:ea typeface="Montserrat"/>
                <a:cs typeface="Montserrat"/>
                <a:sym typeface="Montserrat"/>
              </a:rPr>
              <a:t>        RANK() OVER(PARTITION BY Year_Num ORDER BY SUM(Total_Sales) DESC) AS Ranked_Product_Revenue</a:t>
            </a:r>
          </a:p>
          <a:p>
            <a:pPr defTabSz="609630">
              <a:lnSpc>
                <a:spcPts val="1225"/>
              </a:lnSpc>
            </a:pPr>
            <a:r>
              <a:rPr lang="en-US" sz="875" spc="-43">
                <a:solidFill>
                  <a:srgbClr val="FFFFFF"/>
                </a:solidFill>
                <a:latin typeface="Montserrat"/>
                <a:ea typeface="Montserrat"/>
                <a:cs typeface="Montserrat"/>
                <a:sym typeface="Montserrat"/>
              </a:rPr>
              <a:t>  FROM adidas_analytics_table</a:t>
            </a:r>
          </a:p>
          <a:p>
            <a:pPr defTabSz="609630">
              <a:lnSpc>
                <a:spcPts val="1225"/>
              </a:lnSpc>
            </a:pPr>
            <a:r>
              <a:rPr lang="en-US" sz="875" spc="-43">
                <a:solidFill>
                  <a:srgbClr val="FFFFFF"/>
                </a:solidFill>
                <a:latin typeface="Montserrat"/>
                <a:ea typeface="Montserrat"/>
                <a:cs typeface="Montserrat"/>
                <a:sym typeface="Montserrat"/>
              </a:rPr>
              <a:t>  GROUP BY Product,Year_Num</a:t>
            </a:r>
          </a:p>
          <a:p>
            <a:pPr defTabSz="609630">
              <a:lnSpc>
                <a:spcPts val="1225"/>
              </a:lnSpc>
            </a:pPr>
            <a:r>
              <a:rPr lang="en-US" sz="875" spc="-43">
                <a:solidFill>
                  <a:srgbClr val="FFFFFF"/>
                </a:solidFill>
                <a:latin typeface="Montserrat"/>
                <a:ea typeface="Montserrat"/>
                <a:cs typeface="Montserrat"/>
                <a:sym typeface="Montserrat"/>
              </a:rPr>
              <a:t>        ),</a:t>
            </a:r>
          </a:p>
          <a:p>
            <a:pPr defTabSz="609630">
              <a:lnSpc>
                <a:spcPts val="1225"/>
              </a:lnSpc>
            </a:pPr>
            <a:r>
              <a:rPr lang="en-US" sz="875" spc="-43">
                <a:solidFill>
                  <a:srgbClr val="FFFFFF"/>
                </a:solidFill>
                <a:latin typeface="Montserrat"/>
                <a:ea typeface="Montserrat"/>
                <a:cs typeface="Montserrat"/>
                <a:sym typeface="Montserrat"/>
              </a:rPr>
              <a:t> Yearly_Revenue AS(</a:t>
            </a:r>
          </a:p>
          <a:p>
            <a:pPr defTabSz="609630">
              <a:lnSpc>
                <a:spcPts val="1225"/>
              </a:lnSpc>
            </a:pPr>
            <a:r>
              <a:rPr lang="en-US" sz="875" spc="-43">
                <a:solidFill>
                  <a:srgbClr val="FFFFFF"/>
                </a:solidFill>
                <a:latin typeface="Montserrat"/>
                <a:ea typeface="Montserrat"/>
                <a:cs typeface="Montserrat"/>
                <a:sym typeface="Montserrat"/>
              </a:rPr>
              <a:t>    SELECT</a:t>
            </a:r>
          </a:p>
          <a:p>
            <a:pPr defTabSz="609630">
              <a:lnSpc>
                <a:spcPts val="1225"/>
              </a:lnSpc>
            </a:pPr>
            <a:r>
              <a:rPr lang="en-US" sz="875" spc="-43">
                <a:solidFill>
                  <a:srgbClr val="FFFFFF"/>
                </a:solidFill>
                <a:latin typeface="Montserrat"/>
                <a:ea typeface="Montserrat"/>
                <a:cs typeface="Montserrat"/>
                <a:sym typeface="Montserrat"/>
              </a:rPr>
              <a:t>    Year_Num,</a:t>
            </a:r>
          </a:p>
          <a:p>
            <a:pPr defTabSz="609630">
              <a:lnSpc>
                <a:spcPts val="1225"/>
              </a:lnSpc>
            </a:pPr>
            <a:r>
              <a:rPr lang="en-US" sz="875" spc="-43">
                <a:solidFill>
                  <a:srgbClr val="FFFFFF"/>
                </a:solidFill>
                <a:latin typeface="Montserrat"/>
                <a:ea typeface="Montserrat"/>
                <a:cs typeface="Montserrat"/>
                <a:sym typeface="Montserrat"/>
              </a:rPr>
              <a:t>    SUM(Total_Sales) AS Yearly_Total_Revenue</a:t>
            </a:r>
          </a:p>
          <a:p>
            <a:pPr defTabSz="609630">
              <a:lnSpc>
                <a:spcPts val="1225"/>
              </a:lnSpc>
            </a:pPr>
            <a:r>
              <a:rPr lang="en-US" sz="875" spc="-43">
                <a:solidFill>
                  <a:srgbClr val="FFFFFF"/>
                </a:solidFill>
                <a:latin typeface="Montserrat"/>
                <a:ea typeface="Montserrat"/>
                <a:cs typeface="Montserrat"/>
                <a:sym typeface="Montserrat"/>
              </a:rPr>
              <a:t>    FROM adidas_analytics_table</a:t>
            </a:r>
          </a:p>
          <a:p>
            <a:pPr defTabSz="609630">
              <a:lnSpc>
                <a:spcPts val="1225"/>
              </a:lnSpc>
            </a:pPr>
            <a:r>
              <a:rPr lang="en-US" sz="875" spc="-43">
                <a:solidFill>
                  <a:srgbClr val="FFFFFF"/>
                </a:solidFill>
                <a:latin typeface="Montserrat"/>
                <a:ea typeface="Montserrat"/>
                <a:cs typeface="Montserrat"/>
                <a:sym typeface="Montserrat"/>
              </a:rPr>
              <a:t>    GROUP BY Year_Num</a:t>
            </a:r>
          </a:p>
          <a:p>
            <a:pPr defTabSz="609630">
              <a:lnSpc>
                <a:spcPts val="1225"/>
              </a:lnSpc>
            </a:pPr>
            <a:r>
              <a:rPr lang="en-US" sz="875" spc="-43">
                <a:solidFill>
                  <a:srgbClr val="FFFFFF"/>
                </a:solidFill>
                <a:latin typeface="Montserrat"/>
                <a:ea typeface="Montserrat"/>
                <a:cs typeface="Montserrat"/>
                <a:sym typeface="Montserrat"/>
              </a:rPr>
              <a:t>    )</a:t>
            </a:r>
          </a:p>
          <a:p>
            <a:pPr defTabSz="609630">
              <a:lnSpc>
                <a:spcPts val="1225"/>
              </a:lnSpc>
              <a:spcBef>
                <a:spcPct val="0"/>
              </a:spcBef>
            </a:pPr>
            <a:r>
              <a:rPr lang="en-US" sz="875" spc="-43">
                <a:solidFill>
                  <a:srgbClr val="FFFFFF"/>
                </a:solidFill>
                <a:latin typeface="Montserrat"/>
                <a:ea typeface="Montserrat"/>
                <a:cs typeface="Montserrat"/>
                <a:sym typeface="Montserrat"/>
              </a:rPr>
              <a:t>    </a:t>
            </a:r>
          </a:p>
        </p:txBody>
      </p:sp>
      <p:sp>
        <p:nvSpPr>
          <p:cNvPr id="13" name="TextBox 13"/>
          <p:cNvSpPr txBox="1"/>
          <p:nvPr/>
        </p:nvSpPr>
        <p:spPr>
          <a:xfrm>
            <a:off x="8060343" y="3579526"/>
            <a:ext cx="3764933" cy="3062890"/>
          </a:xfrm>
          <a:prstGeom prst="rect">
            <a:avLst/>
          </a:prstGeom>
        </p:spPr>
        <p:txBody>
          <a:bodyPr lIns="0" tIns="0" rIns="0" bIns="0" rtlCol="0" anchor="t">
            <a:spAutoFit/>
          </a:bodyPr>
          <a:lstStyle/>
          <a:p>
            <a:pPr defTabSz="609630">
              <a:lnSpc>
                <a:spcPts val="1467"/>
              </a:lnSpc>
            </a:pPr>
            <a:endParaRPr sz="1200">
              <a:solidFill>
                <a:prstClr val="black"/>
              </a:solidFill>
              <a:latin typeface="Calibri"/>
            </a:endParaRPr>
          </a:p>
          <a:p>
            <a:pPr defTabSz="609630">
              <a:lnSpc>
                <a:spcPts val="1467"/>
              </a:lnSpc>
            </a:pPr>
            <a:r>
              <a:rPr lang="en-US" sz="1047" spc="-52">
                <a:solidFill>
                  <a:srgbClr val="FFFFFF"/>
                </a:solidFill>
                <a:latin typeface="Montserrat"/>
                <a:ea typeface="Montserrat"/>
                <a:cs typeface="Montserrat"/>
                <a:sym typeface="Montserrat"/>
              </a:rPr>
              <a:t>SELECT </a:t>
            </a:r>
          </a:p>
          <a:p>
            <a:pPr defTabSz="609630">
              <a:lnSpc>
                <a:spcPts val="1467"/>
              </a:lnSpc>
            </a:pPr>
            <a:r>
              <a:rPr lang="en-US" sz="1047" spc="-52">
                <a:solidFill>
                  <a:srgbClr val="FFFFFF"/>
                </a:solidFill>
                <a:latin typeface="Montserrat"/>
                <a:ea typeface="Montserrat"/>
                <a:cs typeface="Montserrat"/>
                <a:sym typeface="Montserrat"/>
              </a:rPr>
              <a:t>y.Year_Num,</a:t>
            </a:r>
          </a:p>
          <a:p>
            <a:pPr defTabSz="609630">
              <a:lnSpc>
                <a:spcPts val="1467"/>
              </a:lnSpc>
            </a:pPr>
            <a:r>
              <a:rPr lang="en-US" sz="1047" spc="-52">
                <a:solidFill>
                  <a:srgbClr val="FFFFFF"/>
                </a:solidFill>
                <a:latin typeface="Montserrat"/>
                <a:ea typeface="Montserrat"/>
                <a:cs typeface="Montserrat"/>
                <a:sym typeface="Montserrat"/>
              </a:rPr>
              <a:t>p.Product,</a:t>
            </a:r>
          </a:p>
          <a:p>
            <a:pPr defTabSz="609630">
              <a:lnSpc>
                <a:spcPts val="1467"/>
              </a:lnSpc>
            </a:pPr>
            <a:r>
              <a:rPr lang="en-US" sz="1047" spc="-52">
                <a:solidFill>
                  <a:srgbClr val="FFFFFF"/>
                </a:solidFill>
                <a:latin typeface="Montserrat"/>
                <a:ea typeface="Montserrat"/>
                <a:cs typeface="Montserrat"/>
                <a:sym typeface="Montserrat"/>
              </a:rPr>
              <a:t>p.Total_Product_Revenue,</a:t>
            </a:r>
          </a:p>
          <a:p>
            <a:pPr defTabSz="609630">
              <a:lnSpc>
                <a:spcPts val="1467"/>
              </a:lnSpc>
            </a:pPr>
            <a:r>
              <a:rPr lang="en-US" sz="1047" spc="-52">
                <a:solidFill>
                  <a:srgbClr val="FFFFFF"/>
                </a:solidFill>
                <a:latin typeface="Montserrat"/>
                <a:ea typeface="Montserrat"/>
                <a:cs typeface="Montserrat"/>
                <a:sym typeface="Montserrat"/>
              </a:rPr>
              <a:t>p.Total_Products_Sold,</a:t>
            </a:r>
          </a:p>
          <a:p>
            <a:pPr defTabSz="609630">
              <a:lnSpc>
                <a:spcPts val="1467"/>
              </a:lnSpc>
            </a:pPr>
            <a:r>
              <a:rPr lang="en-US" sz="1047" spc="-52">
                <a:solidFill>
                  <a:srgbClr val="FFFFFF"/>
                </a:solidFill>
                <a:latin typeface="Montserrat"/>
                <a:ea typeface="Montserrat"/>
                <a:cs typeface="Montserrat"/>
                <a:sym typeface="Montserrat"/>
              </a:rPr>
              <a:t>y.Yearly_Total_Revenue,</a:t>
            </a:r>
          </a:p>
          <a:p>
            <a:pPr defTabSz="609630">
              <a:lnSpc>
                <a:spcPts val="1467"/>
              </a:lnSpc>
            </a:pPr>
            <a:r>
              <a:rPr lang="en-US" sz="1047" spc="-52">
                <a:solidFill>
                  <a:srgbClr val="FFFFFF"/>
                </a:solidFill>
                <a:latin typeface="Montserrat"/>
                <a:ea typeface="Montserrat"/>
                <a:cs typeface="Montserrat"/>
                <a:sym typeface="Montserrat"/>
              </a:rPr>
              <a:t>((p.Total_Product_Revenue/y.Yearly_Total_Revenue)*100) AS Product_Revenue_Per_Year</a:t>
            </a:r>
          </a:p>
          <a:p>
            <a:pPr defTabSz="609630">
              <a:lnSpc>
                <a:spcPts val="1467"/>
              </a:lnSpc>
            </a:pPr>
            <a:r>
              <a:rPr lang="en-US" sz="1047" spc="-52">
                <a:solidFill>
                  <a:srgbClr val="FFFFFF"/>
                </a:solidFill>
                <a:latin typeface="Montserrat"/>
                <a:ea typeface="Montserrat"/>
                <a:cs typeface="Montserrat"/>
                <a:sym typeface="Montserrat"/>
              </a:rPr>
              <a:t>FROM Product_Revenue p</a:t>
            </a:r>
          </a:p>
          <a:p>
            <a:pPr defTabSz="609630">
              <a:lnSpc>
                <a:spcPts val="1467"/>
              </a:lnSpc>
            </a:pPr>
            <a:r>
              <a:rPr lang="en-US" sz="1047" spc="-52">
                <a:solidFill>
                  <a:srgbClr val="FFFFFF"/>
                </a:solidFill>
                <a:latin typeface="Montserrat"/>
                <a:ea typeface="Montserrat"/>
                <a:cs typeface="Montserrat"/>
                <a:sym typeface="Montserrat"/>
              </a:rPr>
              <a:t>JOIN Yearly_Revenue y</a:t>
            </a:r>
          </a:p>
          <a:p>
            <a:pPr defTabSz="609630">
              <a:lnSpc>
                <a:spcPts val="1467"/>
              </a:lnSpc>
            </a:pPr>
            <a:r>
              <a:rPr lang="en-US" sz="1047" spc="-52">
                <a:solidFill>
                  <a:srgbClr val="FFFFFF"/>
                </a:solidFill>
                <a:latin typeface="Montserrat"/>
                <a:ea typeface="Montserrat"/>
                <a:cs typeface="Montserrat"/>
                <a:sym typeface="Montserrat"/>
              </a:rPr>
              <a:t>ON p.Year_Num=y.Year_Num</a:t>
            </a:r>
          </a:p>
          <a:p>
            <a:pPr defTabSz="609630">
              <a:lnSpc>
                <a:spcPts val="1467"/>
              </a:lnSpc>
            </a:pPr>
            <a:r>
              <a:rPr lang="en-US" sz="1047" spc="-52">
                <a:solidFill>
                  <a:srgbClr val="FFFFFF"/>
                </a:solidFill>
                <a:latin typeface="Montserrat"/>
                <a:ea typeface="Montserrat"/>
                <a:cs typeface="Montserrat"/>
                <a:sym typeface="Montserrat"/>
              </a:rPr>
              <a:t>ORDER BY p.Total_Product_Revenue DESC;</a:t>
            </a:r>
          </a:p>
          <a:p>
            <a:pPr defTabSz="609630">
              <a:lnSpc>
                <a:spcPts val="1467"/>
              </a:lnSpc>
            </a:pPr>
            <a:endParaRPr lang="en-US" sz="1047" spc="-52">
              <a:solidFill>
                <a:srgbClr val="FFFFFF"/>
              </a:solidFill>
              <a:latin typeface="Montserrat"/>
              <a:ea typeface="Montserrat"/>
              <a:cs typeface="Montserrat"/>
              <a:sym typeface="Montserrat"/>
            </a:endParaRPr>
          </a:p>
          <a:p>
            <a:pPr defTabSz="609630">
              <a:lnSpc>
                <a:spcPts val="1467"/>
              </a:lnSpc>
            </a:pPr>
            <a:r>
              <a:rPr lang="en-US" sz="1047" spc="-52">
                <a:solidFill>
                  <a:srgbClr val="FFFFFF"/>
                </a:solidFill>
                <a:latin typeface="Montserrat"/>
                <a:ea typeface="Montserrat"/>
                <a:cs typeface="Montserrat"/>
                <a:sym typeface="Montserrat"/>
              </a:rPr>
              <a:t> </a:t>
            </a:r>
          </a:p>
          <a:p>
            <a:pPr defTabSz="609630">
              <a:lnSpc>
                <a:spcPts val="1467"/>
              </a:lnSpc>
              <a:spcBef>
                <a:spcPct val="0"/>
              </a:spcBef>
            </a:pPr>
            <a:endParaRPr lang="en-US" sz="1047" spc="-52">
              <a:solidFill>
                <a:srgbClr val="FFFFFF"/>
              </a:solidFill>
              <a:latin typeface="Montserrat"/>
              <a:ea typeface="Montserrat"/>
              <a:cs typeface="Montserrat"/>
              <a:sym typeface="Montserrat"/>
            </a:endParaRPr>
          </a:p>
        </p:txBody>
      </p:sp>
    </p:spTree>
    <p:extLst>
      <p:ext uri="{BB962C8B-B14F-4D97-AF65-F5344CB8AC3E}">
        <p14:creationId xmlns:p14="http://schemas.microsoft.com/office/powerpoint/2010/main" val="1432477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71997" y="1"/>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6.6</a:t>
              </a:r>
            </a:p>
          </p:txBody>
        </p:sp>
      </p:grpSp>
      <p:grpSp>
        <p:nvGrpSpPr>
          <p:cNvPr id="5" name="Group 5"/>
          <p:cNvGrpSpPr/>
          <p:nvPr/>
        </p:nvGrpSpPr>
        <p:grpSpPr>
          <a:xfrm>
            <a:off x="120750" y="3216793"/>
            <a:ext cx="11992475" cy="3492776"/>
            <a:chOff x="0" y="0"/>
            <a:chExt cx="4737768" cy="1379862"/>
          </a:xfrm>
        </p:grpSpPr>
        <p:sp>
          <p:nvSpPr>
            <p:cNvPr id="6" name="Freeform 6"/>
            <p:cNvSpPr/>
            <p:nvPr/>
          </p:nvSpPr>
          <p:spPr>
            <a:xfrm>
              <a:off x="0" y="0"/>
              <a:ext cx="4737768" cy="1379862"/>
            </a:xfrm>
            <a:custGeom>
              <a:avLst/>
              <a:gdLst/>
              <a:ahLst/>
              <a:cxnLst/>
              <a:rect l="l" t="t" r="r" b="b"/>
              <a:pathLst>
                <a:path w="4737768" h="1379862">
                  <a:moveTo>
                    <a:pt x="0" y="0"/>
                  </a:moveTo>
                  <a:lnTo>
                    <a:pt x="4737768" y="0"/>
                  </a:lnTo>
                  <a:lnTo>
                    <a:pt x="4737768" y="1379862"/>
                  </a:lnTo>
                  <a:lnTo>
                    <a:pt x="0" y="1379862"/>
                  </a:lnTo>
                  <a:close/>
                </a:path>
              </a:pathLst>
            </a:custGeom>
            <a:solidFill>
              <a:srgbClr val="0C0C0C"/>
            </a:solidFill>
          </p:spPr>
        </p:sp>
        <p:sp>
          <p:nvSpPr>
            <p:cNvPr id="7" name="TextBox 7"/>
            <p:cNvSpPr txBox="1"/>
            <p:nvPr/>
          </p:nvSpPr>
          <p:spPr>
            <a:xfrm>
              <a:off x="0" y="-38100"/>
              <a:ext cx="4737768" cy="1417962"/>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120750" y="518408"/>
            <a:ext cx="12071250" cy="2558685"/>
            <a:chOff x="0" y="0"/>
            <a:chExt cx="4768889" cy="1010839"/>
          </a:xfrm>
        </p:grpSpPr>
        <p:sp>
          <p:nvSpPr>
            <p:cNvPr id="9" name="Freeform 9"/>
            <p:cNvSpPr/>
            <p:nvPr/>
          </p:nvSpPr>
          <p:spPr>
            <a:xfrm>
              <a:off x="0" y="0"/>
              <a:ext cx="4768889" cy="1010839"/>
            </a:xfrm>
            <a:custGeom>
              <a:avLst/>
              <a:gdLst/>
              <a:ahLst/>
              <a:cxnLst/>
              <a:rect l="l" t="t" r="r" b="b"/>
              <a:pathLst>
                <a:path w="4768889" h="1010839">
                  <a:moveTo>
                    <a:pt x="21806" y="0"/>
                  </a:moveTo>
                  <a:lnTo>
                    <a:pt x="4747083" y="0"/>
                  </a:lnTo>
                  <a:cubicBezTo>
                    <a:pt x="4752866" y="0"/>
                    <a:pt x="4758413" y="2297"/>
                    <a:pt x="4762502" y="6387"/>
                  </a:cubicBezTo>
                  <a:cubicBezTo>
                    <a:pt x="4766591" y="10476"/>
                    <a:pt x="4768889" y="16023"/>
                    <a:pt x="4768889" y="21806"/>
                  </a:cubicBezTo>
                  <a:lnTo>
                    <a:pt x="4768889" y="989033"/>
                  </a:lnTo>
                  <a:cubicBezTo>
                    <a:pt x="4768889" y="1001076"/>
                    <a:pt x="4759126" y="1010839"/>
                    <a:pt x="4747083" y="1010839"/>
                  </a:cubicBezTo>
                  <a:lnTo>
                    <a:pt x="21806" y="1010839"/>
                  </a:lnTo>
                  <a:cubicBezTo>
                    <a:pt x="16023" y="1010839"/>
                    <a:pt x="10476" y="1008541"/>
                    <a:pt x="6387" y="1004452"/>
                  </a:cubicBezTo>
                  <a:cubicBezTo>
                    <a:pt x="2297" y="1000362"/>
                    <a:pt x="0" y="994816"/>
                    <a:pt x="0" y="989033"/>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1048939"/>
            </a:xfrm>
            <a:prstGeom prst="rect">
              <a:avLst/>
            </a:prstGeom>
          </p:spPr>
          <p:txBody>
            <a:bodyPr lIns="33867" tIns="33867" rIns="33867" bIns="33867" rtlCol="0" anchor="ctr"/>
            <a:lstStyle/>
            <a:p>
              <a:pPr defTabSz="609630">
                <a:lnSpc>
                  <a:spcPts val="1959"/>
                </a:lnSpc>
              </a:pPr>
              <a:r>
                <a:rPr lang="en-US" sz="1399" spc="-69">
                  <a:solidFill>
                    <a:srgbClr val="000000"/>
                  </a:solidFill>
                  <a:latin typeface="Montserrat"/>
                  <a:ea typeface="Montserrat"/>
                  <a:cs typeface="Montserrat"/>
                  <a:sym typeface="Montserrat"/>
                </a:rPr>
                <a:t>2020: West Gear generated the most revenue at $90,299,266  49.59% of that year's total, from 193,767 units sold  making it the dominant retailer by a wide margin. Foot Locker followed at $42,876,805 (23.55%), then Walmart at $32,885,000 (18.06%), and Sports Direct at $15,261,101 (8.38%). Kohl's generated the least revenue that year at just $758,503  0.42% of the total   from only 2,214 units sold.</a:t>
              </a:r>
            </a:p>
            <a:p>
              <a:pPr defTabSz="609630">
                <a:lnSpc>
                  <a:spcPts val="1959"/>
                </a:lnSpc>
              </a:pPr>
              <a:r>
                <a:rPr lang="en-US" sz="1399" spc="-69">
                  <a:solidFill>
                    <a:srgbClr val="000000"/>
                  </a:solidFill>
                  <a:latin typeface="Montserrat"/>
                  <a:ea typeface="Montserrat"/>
                  <a:cs typeface="Montserrat"/>
                  <a:sym typeface="Montserrat"/>
                </a:rPr>
                <a:t>2021: Foot Locker took the top spot with $177,217,915  24.69% of that year's total, from 484,065 units sold. Sports Direct was close behind at $167,209,896 (23.29%), followed by West Gear at $152,665,067 (21.27%), Kohl's at $101,356,250 (14.12%), and Amazon  a new entrant that year  at $77,698,912 (10.82%). Walmart generated the least in 2021 at $41,673,410  5.81% of the total, from 106,427 units sold.</a:t>
              </a:r>
            </a:p>
            <a:p>
              <a:pPr defTabSz="609630">
                <a:lnSpc>
                  <a:spcPts val="1959"/>
                </a:lnSpc>
              </a:pPr>
              <a:r>
                <a:rPr lang="en-US" sz="1399" spc="-69">
                  <a:solidFill>
                    <a:srgbClr val="000000"/>
                  </a:solidFill>
                  <a:latin typeface="Montserrat"/>
                  <a:ea typeface="Montserrat"/>
                  <a:cs typeface="Montserrat"/>
                  <a:sym typeface="Montserrat"/>
                </a:rPr>
                <a:t>The retailer landscape shifted significantly between the two years. West Gear, which commanded nearly half of all revenue in 2020, dropped to 3rd place in 2021 even though its absolute revenue grew (from $90.3M to $152.7M)  its dominance simply didn't keep pace with the market's overall growth. Foot Locker rose from 2nd to 1st, and Kohl's saw a dramatic turnaround, going from the weakest retailer in 2020 (0.42% share) to a solid 4th place in 2021 (14.12% share). Walmart, by contrast, fell from a strong 3rd place in 2020 to the weakest retailer in 2021.</a:t>
              </a:r>
            </a:p>
          </p:txBody>
        </p:sp>
      </p:grpSp>
      <p:sp>
        <p:nvSpPr>
          <p:cNvPr id="11" name="TextBox 11"/>
          <p:cNvSpPr txBox="1"/>
          <p:nvPr/>
        </p:nvSpPr>
        <p:spPr>
          <a:xfrm>
            <a:off x="869913" y="-44450"/>
            <a:ext cx="4774975" cy="784254"/>
          </a:xfrm>
          <a:prstGeom prst="rect">
            <a:avLst/>
          </a:prstGeom>
        </p:spPr>
        <p:txBody>
          <a:bodyPr lIns="0" tIns="0" rIns="0" bIns="0" rtlCol="0" anchor="t">
            <a:spAutoFit/>
          </a:bodyPr>
          <a:lstStyle/>
          <a:p>
            <a:pPr algn="ctr" defTabSz="609630">
              <a:lnSpc>
                <a:spcPts val="3173"/>
              </a:lnSpc>
            </a:pPr>
            <a:r>
              <a:rPr lang="en-US" sz="2266" b="1">
                <a:solidFill>
                  <a:srgbClr val="0C0C0C"/>
                </a:solidFill>
                <a:latin typeface="Canva Sans Bold"/>
                <a:ea typeface="Canva Sans Bold"/>
                <a:cs typeface="Canva Sans Bold"/>
                <a:sym typeface="Canva Sans Bold"/>
              </a:rPr>
              <a:t>Top Retailer Revenue </a:t>
            </a:r>
          </a:p>
          <a:p>
            <a:pPr algn="ctr" defTabSz="609630">
              <a:lnSpc>
                <a:spcPts val="3173"/>
              </a:lnSpc>
            </a:pPr>
            <a:endParaRPr lang="en-US" sz="2266" b="1">
              <a:solidFill>
                <a:srgbClr val="0C0C0C"/>
              </a:solidFill>
              <a:latin typeface="Canva Sans Bold"/>
              <a:ea typeface="Canva Sans Bold"/>
              <a:cs typeface="Canva Sans Bold"/>
              <a:sym typeface="Canva Sans Bold"/>
            </a:endParaRPr>
          </a:p>
        </p:txBody>
      </p:sp>
      <p:sp>
        <p:nvSpPr>
          <p:cNvPr id="12" name="TextBox 12"/>
          <p:cNvSpPr txBox="1"/>
          <p:nvPr/>
        </p:nvSpPr>
        <p:spPr>
          <a:xfrm>
            <a:off x="418800" y="3608896"/>
            <a:ext cx="5677200" cy="2913105"/>
          </a:xfrm>
          <a:prstGeom prst="rect">
            <a:avLst/>
          </a:prstGeom>
        </p:spPr>
        <p:txBody>
          <a:bodyPr lIns="0" tIns="0" rIns="0" bIns="0" rtlCol="0" anchor="t">
            <a:spAutoFit/>
          </a:bodyPr>
          <a:lstStyle/>
          <a:p>
            <a:pPr algn="ctr" defTabSz="609630">
              <a:lnSpc>
                <a:spcPts val="1225"/>
              </a:lnSpc>
            </a:pPr>
            <a:r>
              <a:rPr lang="en-US" sz="875" b="1" spc="-43" dirty="0">
                <a:solidFill>
                  <a:srgbClr val="FFFFFF"/>
                </a:solidFill>
                <a:latin typeface="Montserrat Bold"/>
                <a:ea typeface="Montserrat Bold"/>
                <a:cs typeface="Montserrat Bold"/>
                <a:sym typeface="Montserrat Bold"/>
              </a:rPr>
              <a:t> #Top Retailer Revenue Share</a:t>
            </a:r>
          </a:p>
          <a:p>
            <a:pPr defTabSz="609630">
              <a:lnSpc>
                <a:spcPts val="1225"/>
              </a:lnSpc>
            </a:pPr>
            <a:r>
              <a:rPr lang="en-US" sz="875" spc="-43" dirty="0">
                <a:solidFill>
                  <a:srgbClr val="FFFFFF"/>
                </a:solidFill>
                <a:latin typeface="Montserrat"/>
                <a:ea typeface="Montserrat"/>
                <a:cs typeface="Montserrat"/>
                <a:sym typeface="Montserrat"/>
              </a:rPr>
              <a:t>WITH </a:t>
            </a:r>
            <a:r>
              <a:rPr lang="en-US" sz="875" spc="-43" dirty="0" err="1">
                <a:solidFill>
                  <a:srgbClr val="FFFFFF"/>
                </a:solidFill>
                <a:latin typeface="Montserrat"/>
                <a:ea typeface="Montserrat"/>
                <a:cs typeface="Montserrat"/>
                <a:sym typeface="Montserrat"/>
              </a:rPr>
              <a:t>Retailer_Revenue</a:t>
            </a:r>
            <a:r>
              <a:rPr lang="en-US" sz="875" spc="-43" dirty="0">
                <a:solidFill>
                  <a:srgbClr val="FFFFFF"/>
                </a:solidFill>
                <a:latin typeface="Montserrat"/>
                <a:ea typeface="Montserrat"/>
                <a:cs typeface="Montserrat"/>
                <a:sym typeface="Montserrat"/>
              </a:rPr>
              <a:t> AS (</a:t>
            </a:r>
          </a:p>
          <a:p>
            <a:pPr defTabSz="609630">
              <a:lnSpc>
                <a:spcPts val="1225"/>
              </a:lnSpc>
            </a:pPr>
            <a:r>
              <a:rPr lang="en-US" sz="875" spc="-43" dirty="0">
                <a:solidFill>
                  <a:srgbClr val="FFFFFF"/>
                </a:solidFill>
                <a:latin typeface="Montserrat"/>
                <a:ea typeface="Montserrat"/>
                <a:cs typeface="Montserrat"/>
                <a:sym typeface="Montserrat"/>
              </a:rPr>
              <a:t> SELECT </a:t>
            </a:r>
          </a:p>
          <a:p>
            <a:pPr defTabSz="609630">
              <a:lnSpc>
                <a:spcPts val="1225"/>
              </a:lnSpc>
            </a:pPr>
            <a:r>
              <a:rPr lang="en-US" sz="875" spc="-43" dirty="0">
                <a:solidFill>
                  <a:srgbClr val="FFFFFF"/>
                </a:solidFill>
                <a:latin typeface="Montserrat"/>
                <a:ea typeface="Montserrat"/>
                <a:cs typeface="Montserrat"/>
                <a:sym typeface="Montserrat"/>
              </a:rPr>
              <a:t>    Retailer,</a:t>
            </a:r>
          </a:p>
          <a:p>
            <a:pPr defTabSz="609630">
              <a:lnSpc>
                <a:spcPts val="1225"/>
              </a:lnSpc>
            </a:pPr>
            <a:r>
              <a:rPr lang="en-US" sz="875" spc="-43" dirty="0">
                <a:solidFill>
                  <a:srgbClr val="FFFFFF"/>
                </a:solidFill>
                <a:latin typeface="Montserrat"/>
                <a:ea typeface="Montserrat"/>
                <a:cs typeface="Montserrat"/>
                <a:sym typeface="Montserrat"/>
              </a:rPr>
              <a:t>    </a:t>
            </a:r>
            <a:r>
              <a:rPr lang="en-US" sz="875" spc="-43" dirty="0" err="1">
                <a:solidFill>
                  <a:srgbClr val="FFFFFF"/>
                </a:solidFill>
                <a:latin typeface="Montserrat"/>
                <a:ea typeface="Montserrat"/>
                <a:cs typeface="Montserrat"/>
                <a:sym typeface="Montserrat"/>
              </a:rPr>
              <a:t>Year_Num</a:t>
            </a:r>
            <a:r>
              <a:rPr lang="en-US" sz="875" spc="-43" dirty="0">
                <a:solidFill>
                  <a:srgbClr val="FFFFFF"/>
                </a:solidFill>
                <a:latin typeface="Montserrat"/>
                <a:ea typeface="Montserrat"/>
                <a:cs typeface="Montserrat"/>
                <a:sym typeface="Montserrat"/>
              </a:rPr>
              <a:t>,</a:t>
            </a:r>
          </a:p>
          <a:p>
            <a:pPr defTabSz="609630">
              <a:lnSpc>
                <a:spcPts val="1225"/>
              </a:lnSpc>
            </a:pPr>
            <a:r>
              <a:rPr lang="en-US" sz="875" spc="-43" dirty="0">
                <a:solidFill>
                  <a:srgbClr val="FFFFFF"/>
                </a:solidFill>
                <a:latin typeface="Montserrat"/>
                <a:ea typeface="Montserrat"/>
                <a:cs typeface="Montserrat"/>
                <a:sym typeface="Montserrat"/>
              </a:rPr>
              <a:t>    SUM(</a:t>
            </a:r>
            <a:r>
              <a:rPr lang="en-US" sz="875" spc="-43" dirty="0" err="1">
                <a:solidFill>
                  <a:srgbClr val="FFFFFF"/>
                </a:solidFill>
                <a:latin typeface="Montserrat"/>
                <a:ea typeface="Montserrat"/>
                <a:cs typeface="Montserrat"/>
                <a:sym typeface="Montserrat"/>
              </a:rPr>
              <a:t>Total_Sales</a:t>
            </a:r>
            <a:r>
              <a:rPr lang="en-US" sz="875" spc="-43" dirty="0">
                <a:solidFill>
                  <a:srgbClr val="FFFFFF"/>
                </a:solidFill>
                <a:latin typeface="Montserrat"/>
                <a:ea typeface="Montserrat"/>
                <a:cs typeface="Montserrat"/>
                <a:sym typeface="Montserrat"/>
              </a:rPr>
              <a:t>) AS </a:t>
            </a:r>
            <a:r>
              <a:rPr lang="en-US" sz="875" spc="-43" dirty="0" err="1">
                <a:solidFill>
                  <a:srgbClr val="FFFFFF"/>
                </a:solidFill>
                <a:latin typeface="Montserrat"/>
                <a:ea typeface="Montserrat"/>
                <a:cs typeface="Montserrat"/>
                <a:sym typeface="Montserrat"/>
              </a:rPr>
              <a:t>Total_Retailer_Revenue</a:t>
            </a:r>
            <a:r>
              <a:rPr lang="en-US" sz="875" spc="-43" dirty="0">
                <a:solidFill>
                  <a:srgbClr val="FFFFFF"/>
                </a:solidFill>
                <a:latin typeface="Montserrat"/>
                <a:ea typeface="Montserrat"/>
                <a:cs typeface="Montserrat"/>
                <a:sym typeface="Montserrat"/>
              </a:rPr>
              <a:t>,</a:t>
            </a:r>
          </a:p>
          <a:p>
            <a:pPr defTabSz="609630">
              <a:lnSpc>
                <a:spcPts val="1225"/>
              </a:lnSpc>
            </a:pPr>
            <a:r>
              <a:rPr lang="en-US" sz="875" spc="-43" dirty="0">
                <a:solidFill>
                  <a:srgbClr val="FFFFFF"/>
                </a:solidFill>
                <a:latin typeface="Montserrat"/>
                <a:ea typeface="Montserrat"/>
                <a:cs typeface="Montserrat"/>
                <a:sym typeface="Montserrat"/>
              </a:rPr>
              <a:t>    SUM(</a:t>
            </a:r>
            <a:r>
              <a:rPr lang="en-US" sz="875" spc="-43" dirty="0" err="1">
                <a:solidFill>
                  <a:srgbClr val="FFFFFF"/>
                </a:solidFill>
                <a:latin typeface="Montserrat"/>
                <a:ea typeface="Montserrat"/>
                <a:cs typeface="Montserrat"/>
                <a:sym typeface="Montserrat"/>
              </a:rPr>
              <a:t>Units_Sold</a:t>
            </a:r>
            <a:r>
              <a:rPr lang="en-US" sz="875" spc="-43" dirty="0">
                <a:solidFill>
                  <a:srgbClr val="FFFFFF"/>
                </a:solidFill>
                <a:latin typeface="Montserrat"/>
                <a:ea typeface="Montserrat"/>
                <a:cs typeface="Montserrat"/>
                <a:sym typeface="Montserrat"/>
              </a:rPr>
              <a:t>) AS </a:t>
            </a:r>
            <a:r>
              <a:rPr lang="en-US" sz="875" spc="-43" dirty="0" err="1">
                <a:solidFill>
                  <a:srgbClr val="FFFFFF"/>
                </a:solidFill>
                <a:latin typeface="Montserrat"/>
                <a:ea typeface="Montserrat"/>
                <a:cs typeface="Montserrat"/>
                <a:sym typeface="Montserrat"/>
              </a:rPr>
              <a:t>Total_Units_Sold</a:t>
            </a:r>
            <a:r>
              <a:rPr lang="en-US" sz="875" spc="-43" dirty="0">
                <a:solidFill>
                  <a:srgbClr val="FFFFFF"/>
                </a:solidFill>
                <a:latin typeface="Montserrat"/>
                <a:ea typeface="Montserrat"/>
                <a:cs typeface="Montserrat"/>
                <a:sym typeface="Montserrat"/>
              </a:rPr>
              <a:t>,</a:t>
            </a:r>
          </a:p>
          <a:p>
            <a:pPr defTabSz="609630">
              <a:lnSpc>
                <a:spcPts val="1225"/>
              </a:lnSpc>
            </a:pPr>
            <a:r>
              <a:rPr lang="en-US" sz="875" spc="-43" dirty="0">
                <a:solidFill>
                  <a:srgbClr val="FFFFFF"/>
                </a:solidFill>
                <a:latin typeface="Montserrat"/>
                <a:ea typeface="Montserrat"/>
                <a:cs typeface="Montserrat"/>
                <a:sym typeface="Montserrat"/>
              </a:rPr>
              <a:t>    RANK() OVER(PARTITION BY </a:t>
            </a:r>
            <a:r>
              <a:rPr lang="en-US" sz="875" spc="-43" dirty="0" err="1">
                <a:solidFill>
                  <a:srgbClr val="FFFFFF"/>
                </a:solidFill>
                <a:latin typeface="Montserrat"/>
                <a:ea typeface="Montserrat"/>
                <a:cs typeface="Montserrat"/>
                <a:sym typeface="Montserrat"/>
              </a:rPr>
              <a:t>Year_Num</a:t>
            </a:r>
            <a:r>
              <a:rPr lang="en-US" sz="875" spc="-43" dirty="0">
                <a:solidFill>
                  <a:srgbClr val="FFFFFF"/>
                </a:solidFill>
                <a:latin typeface="Montserrat"/>
                <a:ea typeface="Montserrat"/>
                <a:cs typeface="Montserrat"/>
                <a:sym typeface="Montserrat"/>
              </a:rPr>
              <a:t> ORDER BY SUM(</a:t>
            </a:r>
            <a:r>
              <a:rPr lang="en-US" sz="875" spc="-43" dirty="0" err="1">
                <a:solidFill>
                  <a:srgbClr val="FFFFFF"/>
                </a:solidFill>
                <a:latin typeface="Montserrat"/>
                <a:ea typeface="Montserrat"/>
                <a:cs typeface="Montserrat"/>
                <a:sym typeface="Montserrat"/>
              </a:rPr>
              <a:t>Total_Sales</a:t>
            </a:r>
            <a:r>
              <a:rPr lang="en-US" sz="875" spc="-43" dirty="0">
                <a:solidFill>
                  <a:srgbClr val="FFFFFF"/>
                </a:solidFill>
                <a:latin typeface="Montserrat"/>
                <a:ea typeface="Montserrat"/>
                <a:cs typeface="Montserrat"/>
                <a:sym typeface="Montserrat"/>
              </a:rPr>
              <a:t>) DESC) AS </a:t>
            </a:r>
            <a:r>
              <a:rPr lang="en-US" sz="875" spc="-43" dirty="0" err="1">
                <a:solidFill>
                  <a:srgbClr val="FFFFFF"/>
                </a:solidFill>
                <a:latin typeface="Montserrat"/>
                <a:ea typeface="Montserrat"/>
                <a:cs typeface="Montserrat"/>
                <a:sym typeface="Montserrat"/>
              </a:rPr>
              <a:t>Ranked_Revenue</a:t>
            </a:r>
            <a:endParaRPr lang="en-US" sz="875" spc="-43" dirty="0">
              <a:solidFill>
                <a:srgbClr val="FFFFFF"/>
              </a:solidFill>
              <a:latin typeface="Montserrat"/>
              <a:ea typeface="Montserrat"/>
              <a:cs typeface="Montserrat"/>
              <a:sym typeface="Montserrat"/>
            </a:endParaRPr>
          </a:p>
          <a:p>
            <a:pPr defTabSz="609630">
              <a:lnSpc>
                <a:spcPts val="1225"/>
              </a:lnSpc>
            </a:pPr>
            <a:r>
              <a:rPr lang="en-US" sz="875" spc="-43" dirty="0">
                <a:solidFill>
                  <a:srgbClr val="FFFFFF"/>
                </a:solidFill>
                <a:latin typeface="Montserrat"/>
                <a:ea typeface="Montserrat"/>
                <a:cs typeface="Montserrat"/>
                <a:sym typeface="Montserrat"/>
              </a:rPr>
              <a:t>    FROM </a:t>
            </a:r>
            <a:r>
              <a:rPr lang="en-US" sz="875" spc="-43" dirty="0" err="1">
                <a:solidFill>
                  <a:srgbClr val="FFFFFF"/>
                </a:solidFill>
                <a:latin typeface="Montserrat"/>
                <a:ea typeface="Montserrat"/>
                <a:cs typeface="Montserrat"/>
                <a:sym typeface="Montserrat"/>
              </a:rPr>
              <a:t>adidas_analytics_table</a:t>
            </a:r>
            <a:r>
              <a:rPr lang="en-US" sz="875" spc="-43" dirty="0">
                <a:solidFill>
                  <a:srgbClr val="FFFFFF"/>
                </a:solidFill>
                <a:latin typeface="Montserrat"/>
                <a:ea typeface="Montserrat"/>
                <a:cs typeface="Montserrat"/>
                <a:sym typeface="Montserrat"/>
              </a:rPr>
              <a:t> </a:t>
            </a:r>
          </a:p>
          <a:p>
            <a:pPr defTabSz="609630">
              <a:lnSpc>
                <a:spcPts val="1225"/>
              </a:lnSpc>
            </a:pPr>
            <a:r>
              <a:rPr lang="en-US" sz="875" spc="-43" dirty="0">
                <a:solidFill>
                  <a:srgbClr val="FFFFFF"/>
                </a:solidFill>
                <a:latin typeface="Montserrat"/>
                <a:ea typeface="Montserrat"/>
                <a:cs typeface="Montserrat"/>
                <a:sym typeface="Montserrat"/>
              </a:rPr>
              <a:t>    GROUP BY </a:t>
            </a:r>
            <a:r>
              <a:rPr lang="en-US" sz="875" spc="-43" dirty="0" err="1">
                <a:solidFill>
                  <a:srgbClr val="FFFFFF"/>
                </a:solidFill>
                <a:latin typeface="Montserrat"/>
                <a:ea typeface="Montserrat"/>
                <a:cs typeface="Montserrat"/>
                <a:sym typeface="Montserrat"/>
              </a:rPr>
              <a:t>Retailer,Year_Num</a:t>
            </a:r>
            <a:endParaRPr lang="en-US" sz="875" spc="-43" dirty="0">
              <a:solidFill>
                <a:srgbClr val="FFFFFF"/>
              </a:solidFill>
              <a:latin typeface="Montserrat"/>
              <a:ea typeface="Montserrat"/>
              <a:cs typeface="Montserrat"/>
              <a:sym typeface="Montserrat"/>
            </a:endParaRPr>
          </a:p>
          <a:p>
            <a:pPr defTabSz="609630">
              <a:lnSpc>
                <a:spcPts val="1225"/>
              </a:lnSpc>
            </a:pPr>
            <a:r>
              <a:rPr lang="en-US" sz="875" spc="-43" dirty="0">
                <a:solidFill>
                  <a:srgbClr val="FFFFFF"/>
                </a:solidFill>
                <a:latin typeface="Montserrat"/>
                <a:ea typeface="Montserrat"/>
                <a:cs typeface="Montserrat"/>
                <a:sym typeface="Montserrat"/>
              </a:rPr>
              <a:t>),</a:t>
            </a:r>
          </a:p>
          <a:p>
            <a:pPr defTabSz="609630">
              <a:lnSpc>
                <a:spcPts val="1225"/>
              </a:lnSpc>
            </a:pPr>
            <a:r>
              <a:rPr lang="en-US" sz="875" spc="-43" dirty="0" err="1">
                <a:solidFill>
                  <a:srgbClr val="FFFFFF"/>
                </a:solidFill>
                <a:latin typeface="Montserrat"/>
                <a:ea typeface="Montserrat"/>
                <a:cs typeface="Montserrat"/>
                <a:sym typeface="Montserrat"/>
              </a:rPr>
              <a:t>Yearly_Revenue</a:t>
            </a:r>
            <a:r>
              <a:rPr lang="en-US" sz="875" spc="-43" dirty="0">
                <a:solidFill>
                  <a:srgbClr val="FFFFFF"/>
                </a:solidFill>
                <a:latin typeface="Montserrat"/>
                <a:ea typeface="Montserrat"/>
                <a:cs typeface="Montserrat"/>
                <a:sym typeface="Montserrat"/>
              </a:rPr>
              <a:t> AS (</a:t>
            </a:r>
          </a:p>
          <a:p>
            <a:pPr defTabSz="609630">
              <a:lnSpc>
                <a:spcPts val="1225"/>
              </a:lnSpc>
            </a:pPr>
            <a:r>
              <a:rPr lang="en-US" sz="875" spc="-43" dirty="0">
                <a:solidFill>
                  <a:srgbClr val="FFFFFF"/>
                </a:solidFill>
                <a:latin typeface="Montserrat"/>
                <a:ea typeface="Montserrat"/>
                <a:cs typeface="Montserrat"/>
                <a:sym typeface="Montserrat"/>
              </a:rPr>
              <a:t> SELECT</a:t>
            </a:r>
          </a:p>
          <a:p>
            <a:pPr defTabSz="609630">
              <a:lnSpc>
                <a:spcPts val="1225"/>
              </a:lnSpc>
            </a:pPr>
            <a:r>
              <a:rPr lang="en-US" sz="875" spc="-43" dirty="0">
                <a:solidFill>
                  <a:srgbClr val="FFFFFF"/>
                </a:solidFill>
                <a:latin typeface="Montserrat"/>
                <a:ea typeface="Montserrat"/>
                <a:cs typeface="Montserrat"/>
                <a:sym typeface="Montserrat"/>
              </a:rPr>
              <a:t>    </a:t>
            </a:r>
            <a:r>
              <a:rPr lang="en-US" sz="875" spc="-43" dirty="0" err="1">
                <a:solidFill>
                  <a:srgbClr val="FFFFFF"/>
                </a:solidFill>
                <a:latin typeface="Montserrat"/>
                <a:ea typeface="Montserrat"/>
                <a:cs typeface="Montserrat"/>
                <a:sym typeface="Montserrat"/>
              </a:rPr>
              <a:t>Year_Num</a:t>
            </a:r>
            <a:r>
              <a:rPr lang="en-US" sz="875" spc="-43" dirty="0">
                <a:solidFill>
                  <a:srgbClr val="FFFFFF"/>
                </a:solidFill>
                <a:latin typeface="Montserrat"/>
                <a:ea typeface="Montserrat"/>
                <a:cs typeface="Montserrat"/>
                <a:sym typeface="Montserrat"/>
              </a:rPr>
              <a:t>,</a:t>
            </a:r>
          </a:p>
          <a:p>
            <a:pPr defTabSz="609630">
              <a:lnSpc>
                <a:spcPts val="1225"/>
              </a:lnSpc>
            </a:pPr>
            <a:r>
              <a:rPr lang="en-US" sz="875" spc="-43" dirty="0">
                <a:solidFill>
                  <a:srgbClr val="FFFFFF"/>
                </a:solidFill>
                <a:latin typeface="Montserrat"/>
                <a:ea typeface="Montserrat"/>
                <a:cs typeface="Montserrat"/>
                <a:sym typeface="Montserrat"/>
              </a:rPr>
              <a:t>    SUM(</a:t>
            </a:r>
            <a:r>
              <a:rPr lang="en-US" sz="875" spc="-43" dirty="0" err="1">
                <a:solidFill>
                  <a:srgbClr val="FFFFFF"/>
                </a:solidFill>
                <a:latin typeface="Montserrat"/>
                <a:ea typeface="Montserrat"/>
                <a:cs typeface="Montserrat"/>
                <a:sym typeface="Montserrat"/>
              </a:rPr>
              <a:t>Total_Sales</a:t>
            </a:r>
            <a:r>
              <a:rPr lang="en-US" sz="875" spc="-43" dirty="0">
                <a:solidFill>
                  <a:srgbClr val="FFFFFF"/>
                </a:solidFill>
                <a:latin typeface="Montserrat"/>
                <a:ea typeface="Montserrat"/>
                <a:cs typeface="Montserrat"/>
                <a:sym typeface="Montserrat"/>
              </a:rPr>
              <a:t>) AS </a:t>
            </a:r>
            <a:r>
              <a:rPr lang="en-US" sz="875" spc="-43" dirty="0" err="1">
                <a:solidFill>
                  <a:srgbClr val="FFFFFF"/>
                </a:solidFill>
                <a:latin typeface="Montserrat"/>
                <a:ea typeface="Montserrat"/>
                <a:cs typeface="Montserrat"/>
                <a:sym typeface="Montserrat"/>
              </a:rPr>
              <a:t>Yearly_Total_Revenue</a:t>
            </a:r>
            <a:endParaRPr lang="en-US" sz="875" spc="-43" dirty="0">
              <a:solidFill>
                <a:srgbClr val="FFFFFF"/>
              </a:solidFill>
              <a:latin typeface="Montserrat"/>
              <a:ea typeface="Montserrat"/>
              <a:cs typeface="Montserrat"/>
              <a:sym typeface="Montserrat"/>
            </a:endParaRPr>
          </a:p>
          <a:p>
            <a:pPr defTabSz="609630">
              <a:lnSpc>
                <a:spcPts val="1225"/>
              </a:lnSpc>
            </a:pPr>
            <a:r>
              <a:rPr lang="en-US" sz="875" spc="-43" dirty="0">
                <a:solidFill>
                  <a:srgbClr val="FFFFFF"/>
                </a:solidFill>
                <a:latin typeface="Montserrat"/>
                <a:ea typeface="Montserrat"/>
                <a:cs typeface="Montserrat"/>
                <a:sym typeface="Montserrat"/>
              </a:rPr>
              <a:t>    FROM </a:t>
            </a:r>
            <a:r>
              <a:rPr lang="en-US" sz="875" spc="-43" dirty="0" err="1">
                <a:solidFill>
                  <a:srgbClr val="FFFFFF"/>
                </a:solidFill>
                <a:latin typeface="Montserrat"/>
                <a:ea typeface="Montserrat"/>
                <a:cs typeface="Montserrat"/>
                <a:sym typeface="Montserrat"/>
              </a:rPr>
              <a:t>adidas_analytics_table</a:t>
            </a:r>
            <a:r>
              <a:rPr lang="en-US" sz="875" spc="-43" dirty="0">
                <a:solidFill>
                  <a:srgbClr val="FFFFFF"/>
                </a:solidFill>
                <a:latin typeface="Montserrat"/>
                <a:ea typeface="Montserrat"/>
                <a:cs typeface="Montserrat"/>
                <a:sym typeface="Montserrat"/>
              </a:rPr>
              <a:t> </a:t>
            </a:r>
          </a:p>
          <a:p>
            <a:pPr defTabSz="609630">
              <a:lnSpc>
                <a:spcPts val="1225"/>
              </a:lnSpc>
            </a:pPr>
            <a:r>
              <a:rPr lang="en-US" sz="875" spc="-43" dirty="0">
                <a:solidFill>
                  <a:srgbClr val="FFFFFF"/>
                </a:solidFill>
                <a:latin typeface="Montserrat"/>
                <a:ea typeface="Montserrat"/>
                <a:cs typeface="Montserrat"/>
                <a:sym typeface="Montserrat"/>
              </a:rPr>
              <a:t>    GROUP BY </a:t>
            </a:r>
            <a:r>
              <a:rPr lang="en-US" sz="875" spc="-43" dirty="0" err="1">
                <a:solidFill>
                  <a:srgbClr val="FFFFFF"/>
                </a:solidFill>
                <a:latin typeface="Montserrat"/>
                <a:ea typeface="Montserrat"/>
                <a:cs typeface="Montserrat"/>
                <a:sym typeface="Montserrat"/>
              </a:rPr>
              <a:t>Year_Num</a:t>
            </a:r>
            <a:endParaRPr lang="en-US" sz="875" spc="-43" dirty="0">
              <a:solidFill>
                <a:srgbClr val="FFFFFF"/>
              </a:solidFill>
              <a:latin typeface="Montserrat"/>
              <a:ea typeface="Montserrat"/>
              <a:cs typeface="Montserrat"/>
              <a:sym typeface="Montserrat"/>
            </a:endParaRPr>
          </a:p>
          <a:p>
            <a:pPr defTabSz="609630">
              <a:lnSpc>
                <a:spcPts val="1225"/>
              </a:lnSpc>
            </a:pPr>
            <a:r>
              <a:rPr lang="en-US" sz="875" spc="-43" dirty="0">
                <a:solidFill>
                  <a:srgbClr val="FFFFFF"/>
                </a:solidFill>
                <a:latin typeface="Montserrat"/>
                <a:ea typeface="Montserrat"/>
                <a:cs typeface="Montserrat"/>
                <a:sym typeface="Montserrat"/>
              </a:rPr>
              <a:t>)</a:t>
            </a:r>
          </a:p>
          <a:p>
            <a:pPr defTabSz="609630">
              <a:lnSpc>
                <a:spcPts val="1225"/>
              </a:lnSpc>
              <a:spcBef>
                <a:spcPct val="0"/>
              </a:spcBef>
            </a:pPr>
            <a:r>
              <a:rPr lang="en-US" sz="875" spc="-43" dirty="0">
                <a:solidFill>
                  <a:srgbClr val="FFFFFF"/>
                </a:solidFill>
                <a:latin typeface="Montserrat"/>
                <a:ea typeface="Montserrat"/>
                <a:cs typeface="Montserrat"/>
                <a:sym typeface="Montserrat"/>
              </a:rPr>
              <a:t>    </a:t>
            </a:r>
          </a:p>
        </p:txBody>
      </p:sp>
      <p:sp>
        <p:nvSpPr>
          <p:cNvPr id="13" name="TextBox 13"/>
          <p:cNvSpPr txBox="1"/>
          <p:nvPr/>
        </p:nvSpPr>
        <p:spPr>
          <a:xfrm>
            <a:off x="8060343" y="3579526"/>
            <a:ext cx="3764933" cy="2678169"/>
          </a:xfrm>
          <a:prstGeom prst="rect">
            <a:avLst/>
          </a:prstGeom>
        </p:spPr>
        <p:txBody>
          <a:bodyPr lIns="0" tIns="0" rIns="0" bIns="0" rtlCol="0" anchor="t">
            <a:spAutoFit/>
          </a:bodyPr>
          <a:lstStyle/>
          <a:p>
            <a:pPr defTabSz="609630">
              <a:lnSpc>
                <a:spcPts val="1467"/>
              </a:lnSpc>
            </a:pPr>
            <a:r>
              <a:rPr lang="en-US" sz="1047" spc="-52">
                <a:solidFill>
                  <a:srgbClr val="FFFFFF"/>
                </a:solidFill>
                <a:latin typeface="Montserrat"/>
                <a:ea typeface="Montserrat"/>
                <a:cs typeface="Montserrat"/>
                <a:sym typeface="Montserrat"/>
              </a:rPr>
              <a:t>SELECT </a:t>
            </a:r>
          </a:p>
          <a:p>
            <a:pPr defTabSz="609630">
              <a:lnSpc>
                <a:spcPts val="1467"/>
              </a:lnSpc>
            </a:pPr>
            <a:r>
              <a:rPr lang="en-US" sz="1047" spc="-52">
                <a:solidFill>
                  <a:srgbClr val="FFFFFF"/>
                </a:solidFill>
                <a:latin typeface="Montserrat"/>
                <a:ea typeface="Montserrat"/>
                <a:cs typeface="Montserrat"/>
                <a:sym typeface="Montserrat"/>
              </a:rPr>
              <a:t>y.Year_Num,</a:t>
            </a:r>
          </a:p>
          <a:p>
            <a:pPr defTabSz="609630">
              <a:lnSpc>
                <a:spcPts val="1467"/>
              </a:lnSpc>
            </a:pPr>
            <a:r>
              <a:rPr lang="en-US" sz="1047" spc="-52">
                <a:solidFill>
                  <a:srgbClr val="FFFFFF"/>
                </a:solidFill>
                <a:latin typeface="Montserrat"/>
                <a:ea typeface="Montserrat"/>
                <a:cs typeface="Montserrat"/>
                <a:sym typeface="Montserrat"/>
              </a:rPr>
              <a:t>r.Retailer,</a:t>
            </a:r>
          </a:p>
          <a:p>
            <a:pPr defTabSz="609630">
              <a:lnSpc>
                <a:spcPts val="1467"/>
              </a:lnSpc>
            </a:pPr>
            <a:r>
              <a:rPr lang="en-US" sz="1047" spc="-52">
                <a:solidFill>
                  <a:srgbClr val="FFFFFF"/>
                </a:solidFill>
                <a:latin typeface="Montserrat"/>
                <a:ea typeface="Montserrat"/>
                <a:cs typeface="Montserrat"/>
                <a:sym typeface="Montserrat"/>
              </a:rPr>
              <a:t>r.Total_Retailer_Revenue,</a:t>
            </a:r>
          </a:p>
          <a:p>
            <a:pPr defTabSz="609630">
              <a:lnSpc>
                <a:spcPts val="1467"/>
              </a:lnSpc>
            </a:pPr>
            <a:r>
              <a:rPr lang="en-US" sz="1047" spc="-52">
                <a:solidFill>
                  <a:srgbClr val="FFFFFF"/>
                </a:solidFill>
                <a:latin typeface="Montserrat"/>
                <a:ea typeface="Montserrat"/>
                <a:cs typeface="Montserrat"/>
                <a:sym typeface="Montserrat"/>
              </a:rPr>
              <a:t>r.Total_Units_Sold,</a:t>
            </a:r>
          </a:p>
          <a:p>
            <a:pPr defTabSz="609630">
              <a:lnSpc>
                <a:spcPts val="1467"/>
              </a:lnSpc>
            </a:pPr>
            <a:r>
              <a:rPr lang="en-US" sz="1047" spc="-52">
                <a:solidFill>
                  <a:srgbClr val="FFFFFF"/>
                </a:solidFill>
                <a:latin typeface="Montserrat"/>
                <a:ea typeface="Montserrat"/>
                <a:cs typeface="Montserrat"/>
                <a:sym typeface="Montserrat"/>
              </a:rPr>
              <a:t>(r.Total_Retailer_Revenue/y.Yearly_Total_Revenue)*100 AS Revenue_Range_Per_Retailer,</a:t>
            </a:r>
          </a:p>
          <a:p>
            <a:pPr defTabSz="609630">
              <a:lnSpc>
                <a:spcPts val="1467"/>
              </a:lnSpc>
            </a:pPr>
            <a:r>
              <a:rPr lang="en-US" sz="1047" spc="-52">
                <a:solidFill>
                  <a:srgbClr val="FFFFFF"/>
                </a:solidFill>
                <a:latin typeface="Montserrat"/>
                <a:ea typeface="Montserrat"/>
                <a:cs typeface="Montserrat"/>
                <a:sym typeface="Montserrat"/>
              </a:rPr>
              <a:t>r.Ranked_Revenue</a:t>
            </a:r>
          </a:p>
          <a:p>
            <a:pPr defTabSz="609630">
              <a:lnSpc>
                <a:spcPts val="1467"/>
              </a:lnSpc>
            </a:pPr>
            <a:r>
              <a:rPr lang="en-US" sz="1047" spc="-52">
                <a:solidFill>
                  <a:srgbClr val="FFFFFF"/>
                </a:solidFill>
                <a:latin typeface="Montserrat"/>
                <a:ea typeface="Montserrat"/>
                <a:cs typeface="Montserrat"/>
                <a:sym typeface="Montserrat"/>
              </a:rPr>
              <a:t> FROM Retailer_Revenue r</a:t>
            </a:r>
          </a:p>
          <a:p>
            <a:pPr defTabSz="609630">
              <a:lnSpc>
                <a:spcPts val="1467"/>
              </a:lnSpc>
            </a:pPr>
            <a:r>
              <a:rPr lang="en-US" sz="1047" spc="-52">
                <a:solidFill>
                  <a:srgbClr val="FFFFFF"/>
                </a:solidFill>
                <a:latin typeface="Montserrat"/>
                <a:ea typeface="Montserrat"/>
                <a:cs typeface="Montserrat"/>
                <a:sym typeface="Montserrat"/>
              </a:rPr>
              <a:t>JOIN Yearly_Revenue y</a:t>
            </a:r>
          </a:p>
          <a:p>
            <a:pPr defTabSz="609630">
              <a:lnSpc>
                <a:spcPts val="1467"/>
              </a:lnSpc>
            </a:pPr>
            <a:r>
              <a:rPr lang="en-US" sz="1047" spc="-52">
                <a:solidFill>
                  <a:srgbClr val="FFFFFF"/>
                </a:solidFill>
                <a:latin typeface="Montserrat"/>
                <a:ea typeface="Montserrat"/>
                <a:cs typeface="Montserrat"/>
                <a:sym typeface="Montserrat"/>
              </a:rPr>
              <a:t>ON r.Year_Num = y.Year_Num;</a:t>
            </a:r>
          </a:p>
          <a:p>
            <a:pPr defTabSz="609630">
              <a:lnSpc>
                <a:spcPts val="1467"/>
              </a:lnSpc>
            </a:pPr>
            <a:endParaRPr lang="en-US" sz="1047" spc="-52">
              <a:solidFill>
                <a:srgbClr val="FFFFFF"/>
              </a:solidFill>
              <a:latin typeface="Montserrat"/>
              <a:ea typeface="Montserrat"/>
              <a:cs typeface="Montserrat"/>
              <a:sym typeface="Montserrat"/>
            </a:endParaRPr>
          </a:p>
          <a:p>
            <a:pPr defTabSz="609630">
              <a:lnSpc>
                <a:spcPts val="1467"/>
              </a:lnSpc>
            </a:pPr>
            <a:r>
              <a:rPr lang="en-US" sz="1047" spc="-52">
                <a:solidFill>
                  <a:srgbClr val="FFFFFF"/>
                </a:solidFill>
                <a:latin typeface="Montserrat"/>
                <a:ea typeface="Montserrat"/>
                <a:cs typeface="Montserrat"/>
                <a:sym typeface="Montserrat"/>
              </a:rPr>
              <a:t> </a:t>
            </a:r>
          </a:p>
          <a:p>
            <a:pPr defTabSz="609630">
              <a:lnSpc>
                <a:spcPts val="1467"/>
              </a:lnSpc>
              <a:spcBef>
                <a:spcPct val="0"/>
              </a:spcBef>
            </a:pPr>
            <a:endParaRPr lang="en-US" sz="1047" spc="-52">
              <a:solidFill>
                <a:srgbClr val="FFFFFF"/>
              </a:solidFill>
              <a:latin typeface="Montserrat"/>
              <a:ea typeface="Montserrat"/>
              <a:cs typeface="Montserrat"/>
              <a:sym typeface="Montserrat"/>
            </a:endParaRPr>
          </a:p>
        </p:txBody>
      </p:sp>
    </p:spTree>
    <p:extLst>
      <p:ext uri="{BB962C8B-B14F-4D97-AF65-F5344CB8AC3E}">
        <p14:creationId xmlns:p14="http://schemas.microsoft.com/office/powerpoint/2010/main" val="4225931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71997" y="1"/>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6.7</a:t>
              </a:r>
            </a:p>
          </p:txBody>
        </p:sp>
      </p:grpSp>
      <p:grpSp>
        <p:nvGrpSpPr>
          <p:cNvPr id="5" name="Group 5"/>
          <p:cNvGrpSpPr/>
          <p:nvPr/>
        </p:nvGrpSpPr>
        <p:grpSpPr>
          <a:xfrm>
            <a:off x="120750" y="3216793"/>
            <a:ext cx="11992475" cy="3492776"/>
            <a:chOff x="0" y="0"/>
            <a:chExt cx="4737768" cy="1379862"/>
          </a:xfrm>
        </p:grpSpPr>
        <p:sp>
          <p:nvSpPr>
            <p:cNvPr id="6" name="Freeform 6"/>
            <p:cNvSpPr/>
            <p:nvPr/>
          </p:nvSpPr>
          <p:spPr>
            <a:xfrm>
              <a:off x="0" y="0"/>
              <a:ext cx="4737768" cy="1379862"/>
            </a:xfrm>
            <a:custGeom>
              <a:avLst/>
              <a:gdLst/>
              <a:ahLst/>
              <a:cxnLst/>
              <a:rect l="l" t="t" r="r" b="b"/>
              <a:pathLst>
                <a:path w="4737768" h="1379862">
                  <a:moveTo>
                    <a:pt x="0" y="0"/>
                  </a:moveTo>
                  <a:lnTo>
                    <a:pt x="4737768" y="0"/>
                  </a:lnTo>
                  <a:lnTo>
                    <a:pt x="4737768" y="1379862"/>
                  </a:lnTo>
                  <a:lnTo>
                    <a:pt x="0" y="1379862"/>
                  </a:lnTo>
                  <a:close/>
                </a:path>
              </a:pathLst>
            </a:custGeom>
            <a:solidFill>
              <a:srgbClr val="0C0C0C"/>
            </a:solidFill>
          </p:spPr>
        </p:sp>
        <p:sp>
          <p:nvSpPr>
            <p:cNvPr id="7" name="TextBox 7"/>
            <p:cNvSpPr txBox="1"/>
            <p:nvPr/>
          </p:nvSpPr>
          <p:spPr>
            <a:xfrm>
              <a:off x="0" y="-38100"/>
              <a:ext cx="4737768" cy="1417962"/>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120750" y="518409"/>
            <a:ext cx="12071250" cy="2806291"/>
            <a:chOff x="0" y="0"/>
            <a:chExt cx="4768889" cy="1108658"/>
          </a:xfrm>
        </p:grpSpPr>
        <p:sp>
          <p:nvSpPr>
            <p:cNvPr id="9" name="Freeform 9"/>
            <p:cNvSpPr/>
            <p:nvPr/>
          </p:nvSpPr>
          <p:spPr>
            <a:xfrm>
              <a:off x="0" y="0"/>
              <a:ext cx="4768889" cy="1108658"/>
            </a:xfrm>
            <a:custGeom>
              <a:avLst/>
              <a:gdLst/>
              <a:ahLst/>
              <a:cxnLst/>
              <a:rect l="l" t="t" r="r" b="b"/>
              <a:pathLst>
                <a:path w="4768889" h="1108658">
                  <a:moveTo>
                    <a:pt x="21806" y="0"/>
                  </a:moveTo>
                  <a:lnTo>
                    <a:pt x="4747083" y="0"/>
                  </a:lnTo>
                  <a:cubicBezTo>
                    <a:pt x="4752866" y="0"/>
                    <a:pt x="4758413" y="2297"/>
                    <a:pt x="4762502" y="6387"/>
                  </a:cubicBezTo>
                  <a:cubicBezTo>
                    <a:pt x="4766591" y="10476"/>
                    <a:pt x="4768889" y="16023"/>
                    <a:pt x="4768889" y="21806"/>
                  </a:cubicBezTo>
                  <a:lnTo>
                    <a:pt x="4768889" y="1086852"/>
                  </a:lnTo>
                  <a:cubicBezTo>
                    <a:pt x="4768889" y="1092636"/>
                    <a:pt x="4766591" y="1098182"/>
                    <a:pt x="4762502" y="1102271"/>
                  </a:cubicBezTo>
                  <a:cubicBezTo>
                    <a:pt x="4758413" y="1106361"/>
                    <a:pt x="4752866" y="1108658"/>
                    <a:pt x="4747083" y="1108658"/>
                  </a:cubicBezTo>
                  <a:lnTo>
                    <a:pt x="21806" y="1108658"/>
                  </a:lnTo>
                  <a:cubicBezTo>
                    <a:pt x="16023" y="1108658"/>
                    <a:pt x="10476" y="1106361"/>
                    <a:pt x="6387" y="1102271"/>
                  </a:cubicBezTo>
                  <a:cubicBezTo>
                    <a:pt x="2297" y="1098182"/>
                    <a:pt x="0" y="1092636"/>
                    <a:pt x="0" y="1086852"/>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1146758"/>
            </a:xfrm>
            <a:prstGeom prst="rect">
              <a:avLst/>
            </a:prstGeom>
          </p:spPr>
          <p:txBody>
            <a:bodyPr lIns="33867" tIns="33867" rIns="33867" bIns="33867" rtlCol="0" anchor="ctr"/>
            <a:lstStyle/>
            <a:p>
              <a:pPr defTabSz="609630">
                <a:lnSpc>
                  <a:spcPts val="1959"/>
                </a:lnSpc>
              </a:pPr>
              <a:r>
                <a:rPr lang="en-US" sz="1399" spc="-69">
                  <a:solidFill>
                    <a:srgbClr val="000000"/>
                  </a:solidFill>
                  <a:latin typeface="Montserrat"/>
                  <a:ea typeface="Montserrat"/>
                  <a:cs typeface="Montserrat"/>
                  <a:sym typeface="Montserrat"/>
                </a:rPr>
                <a:t>2020: West generated the most revenue at $76,895,153  42.23% of that year's total  from 163,043 units sold, making it the dominant region by a wide margin. Northeast followed at $40,749,709 (22.38%), then Southeast at $31,600,863 (17.36%), and South at $25,456,882 (13.98%). Midwest generated the least at $7,378,068   just 4.05% of the total   from 20,838 units sold.</a:t>
              </a:r>
            </a:p>
            <a:p>
              <a:pPr defTabSz="609630">
                <a:lnSpc>
                  <a:spcPts val="1959"/>
                </a:lnSpc>
              </a:pPr>
              <a:r>
                <a:rPr lang="en-US" sz="1399" spc="-69">
                  <a:solidFill>
                    <a:srgbClr val="000000"/>
                  </a:solidFill>
                  <a:latin typeface="Montserrat"/>
                  <a:ea typeface="Montserrat"/>
                  <a:cs typeface="Montserrat"/>
                  <a:sym typeface="Montserrat"/>
                </a:rPr>
                <a:t>2021: West again led with $193,048,029  26.89% of that year's total   from 523,942 units sold. Northeast followed at $145,574,358 (20.28%), then Southeast at $131,570,373 (18.33%), Midwest at $128,422,391 (17.89%), and South was lowest at $119,206,299   16.61% of the total, from 401,938 units sold.</a:t>
              </a:r>
            </a:p>
            <a:p>
              <a:pPr defTabSz="609630">
                <a:lnSpc>
                  <a:spcPts val="1959"/>
                </a:lnSpc>
              </a:pPr>
              <a:endParaRPr lang="en-US" sz="1399" spc="-69">
                <a:solidFill>
                  <a:srgbClr val="000000"/>
                </a:solidFill>
                <a:latin typeface="Montserrat"/>
                <a:ea typeface="Montserrat"/>
                <a:cs typeface="Montserrat"/>
                <a:sym typeface="Montserrat"/>
              </a:endParaRPr>
            </a:p>
            <a:p>
              <a:pPr defTabSz="609630">
                <a:lnSpc>
                  <a:spcPts val="1959"/>
                </a:lnSpc>
              </a:pPr>
              <a:r>
                <a:rPr lang="en-US" sz="1399" spc="-69">
                  <a:solidFill>
                    <a:srgbClr val="000000"/>
                  </a:solidFill>
                  <a:latin typeface="Montserrat"/>
                  <a:ea typeface="Montserrat"/>
                  <a:cs typeface="Montserrat"/>
                  <a:sym typeface="Montserrat"/>
                </a:rPr>
                <a:t>West and Northeast held their #1 and #2 rankings in both years, showing consistent regional strength. But the story at the bottom flipped dramatically: Midwest went from the weakest region in 2020 (a mere 4.05% share) to a solid 4th place in 2021 (17.89%)  one of the largest swings seen across any of these breakdowns. South, meanwhile, fell from a mid-pack 4th place in 2020 to last place in 2021, though its share (16.61%) wasn't far behind the rest of the pack  the region gap tightened considerably overall, from a 38-point spread between top and bottom in 2020 down to just a 10-point spread in 2021.</a:t>
              </a:r>
            </a:p>
          </p:txBody>
        </p:sp>
      </p:grpSp>
      <p:sp>
        <p:nvSpPr>
          <p:cNvPr id="11" name="TextBox 11"/>
          <p:cNvSpPr txBox="1"/>
          <p:nvPr/>
        </p:nvSpPr>
        <p:spPr>
          <a:xfrm>
            <a:off x="1071997" y="-35132"/>
            <a:ext cx="4774975" cy="784254"/>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Top Region Revenue Share</a:t>
            </a:r>
          </a:p>
          <a:p>
            <a:pPr algn="ctr" defTabSz="609630">
              <a:lnSpc>
                <a:spcPts val="3173"/>
              </a:lnSpc>
            </a:pPr>
            <a:endParaRPr lang="en-US" sz="2266" b="1" dirty="0">
              <a:solidFill>
                <a:srgbClr val="0C0C0C"/>
              </a:solidFill>
              <a:latin typeface="Canva Sans Bold"/>
              <a:ea typeface="Canva Sans Bold"/>
              <a:cs typeface="Canva Sans Bold"/>
              <a:sym typeface="Canva Sans Bold"/>
            </a:endParaRPr>
          </a:p>
        </p:txBody>
      </p:sp>
      <p:sp>
        <p:nvSpPr>
          <p:cNvPr id="12" name="TextBox 12"/>
          <p:cNvSpPr txBox="1"/>
          <p:nvPr/>
        </p:nvSpPr>
        <p:spPr>
          <a:xfrm>
            <a:off x="418800" y="3608896"/>
            <a:ext cx="5677200" cy="2759217"/>
          </a:xfrm>
          <a:prstGeom prst="rect">
            <a:avLst/>
          </a:prstGeom>
        </p:spPr>
        <p:txBody>
          <a:bodyPr lIns="0" tIns="0" rIns="0" bIns="0" rtlCol="0" anchor="t">
            <a:spAutoFit/>
          </a:bodyPr>
          <a:lstStyle/>
          <a:p>
            <a:pPr algn="ctr" defTabSz="609630">
              <a:lnSpc>
                <a:spcPts val="1225"/>
              </a:lnSpc>
            </a:pPr>
            <a:r>
              <a:rPr lang="en-US" sz="875" b="1" spc="-43">
                <a:solidFill>
                  <a:srgbClr val="FFFFFF"/>
                </a:solidFill>
                <a:latin typeface="Montserrat Bold"/>
                <a:ea typeface="Montserrat Bold"/>
                <a:cs typeface="Montserrat Bold"/>
                <a:sym typeface="Montserrat Bold"/>
              </a:rPr>
              <a:t>#Top Region Revenue Share</a:t>
            </a:r>
          </a:p>
          <a:p>
            <a:pPr defTabSz="609630">
              <a:lnSpc>
                <a:spcPts val="1225"/>
              </a:lnSpc>
            </a:pPr>
            <a:r>
              <a:rPr lang="en-US" sz="875" spc="-43">
                <a:solidFill>
                  <a:srgbClr val="FFFFFF"/>
                </a:solidFill>
                <a:latin typeface="Montserrat"/>
                <a:ea typeface="Montserrat"/>
                <a:cs typeface="Montserrat"/>
                <a:sym typeface="Montserrat"/>
              </a:rPr>
              <a:t>WITH Revenue_by_Region AS (</a:t>
            </a:r>
          </a:p>
          <a:p>
            <a:pPr defTabSz="609630">
              <a:lnSpc>
                <a:spcPts val="1225"/>
              </a:lnSpc>
            </a:pPr>
            <a:r>
              <a:rPr lang="en-US" sz="875" spc="-43">
                <a:solidFill>
                  <a:srgbClr val="FFFFFF"/>
                </a:solidFill>
                <a:latin typeface="Montserrat"/>
                <a:ea typeface="Montserrat"/>
                <a:cs typeface="Montserrat"/>
                <a:sym typeface="Montserrat"/>
              </a:rPr>
              <a:t> SELECT </a:t>
            </a:r>
          </a:p>
          <a:p>
            <a:pPr defTabSz="609630">
              <a:lnSpc>
                <a:spcPts val="1225"/>
              </a:lnSpc>
            </a:pPr>
            <a:r>
              <a:rPr lang="en-US" sz="875" spc="-43">
                <a:solidFill>
                  <a:srgbClr val="FFFFFF"/>
                </a:solidFill>
                <a:latin typeface="Montserrat"/>
                <a:ea typeface="Montserrat"/>
                <a:cs typeface="Montserrat"/>
                <a:sym typeface="Montserrat"/>
              </a:rPr>
              <a:t>    Region,</a:t>
            </a:r>
          </a:p>
          <a:p>
            <a:pPr defTabSz="609630">
              <a:lnSpc>
                <a:spcPts val="1225"/>
              </a:lnSpc>
            </a:pPr>
            <a:r>
              <a:rPr lang="en-US" sz="875" spc="-43">
                <a:solidFill>
                  <a:srgbClr val="FFFFFF"/>
                </a:solidFill>
                <a:latin typeface="Montserrat"/>
                <a:ea typeface="Montserrat"/>
                <a:cs typeface="Montserrat"/>
                <a:sym typeface="Montserrat"/>
              </a:rPr>
              <a:t>    Year_Num,</a:t>
            </a:r>
          </a:p>
          <a:p>
            <a:pPr defTabSz="609630">
              <a:lnSpc>
                <a:spcPts val="1225"/>
              </a:lnSpc>
            </a:pPr>
            <a:r>
              <a:rPr lang="en-US" sz="875" spc="-43">
                <a:solidFill>
                  <a:srgbClr val="FFFFFF"/>
                </a:solidFill>
                <a:latin typeface="Montserrat"/>
                <a:ea typeface="Montserrat"/>
                <a:cs typeface="Montserrat"/>
                <a:sym typeface="Montserrat"/>
              </a:rPr>
              <a:t>    SUM(Total_Sales) AS Total_Region_Revenue,</a:t>
            </a:r>
          </a:p>
          <a:p>
            <a:pPr defTabSz="609630">
              <a:lnSpc>
                <a:spcPts val="1225"/>
              </a:lnSpc>
            </a:pPr>
            <a:r>
              <a:rPr lang="en-US" sz="875" spc="-43">
                <a:solidFill>
                  <a:srgbClr val="FFFFFF"/>
                </a:solidFill>
                <a:latin typeface="Montserrat"/>
                <a:ea typeface="Montserrat"/>
                <a:cs typeface="Montserrat"/>
                <a:sym typeface="Montserrat"/>
              </a:rPr>
              <a:t>    SUM(Units_Sold) AS Total_Units_Sold,</a:t>
            </a:r>
          </a:p>
          <a:p>
            <a:pPr defTabSz="609630">
              <a:lnSpc>
                <a:spcPts val="1225"/>
              </a:lnSpc>
            </a:pPr>
            <a:r>
              <a:rPr lang="en-US" sz="875" spc="-43">
                <a:solidFill>
                  <a:srgbClr val="FFFFFF"/>
                </a:solidFill>
                <a:latin typeface="Montserrat"/>
                <a:ea typeface="Montserrat"/>
                <a:cs typeface="Montserrat"/>
                <a:sym typeface="Montserrat"/>
              </a:rPr>
              <a:t>    RANK() OVER(PARTITION BY Year_Num ORDER BY SUM(Total_Sales) DESC) AS Ranked_Revenue</a:t>
            </a:r>
          </a:p>
          <a:p>
            <a:pPr defTabSz="609630">
              <a:lnSpc>
                <a:spcPts val="1225"/>
              </a:lnSpc>
            </a:pPr>
            <a:r>
              <a:rPr lang="en-US" sz="875" spc="-43">
                <a:solidFill>
                  <a:srgbClr val="FFFFFF"/>
                </a:solidFill>
                <a:latin typeface="Montserrat"/>
                <a:ea typeface="Montserrat"/>
                <a:cs typeface="Montserrat"/>
                <a:sym typeface="Montserrat"/>
              </a:rPr>
              <a:t>    FROM adidas_analytics_table </a:t>
            </a:r>
          </a:p>
          <a:p>
            <a:pPr defTabSz="609630">
              <a:lnSpc>
                <a:spcPts val="1225"/>
              </a:lnSpc>
            </a:pPr>
            <a:r>
              <a:rPr lang="en-US" sz="875" spc="-43">
                <a:solidFill>
                  <a:srgbClr val="FFFFFF"/>
                </a:solidFill>
                <a:latin typeface="Montserrat"/>
                <a:ea typeface="Montserrat"/>
                <a:cs typeface="Montserrat"/>
                <a:sym typeface="Montserrat"/>
              </a:rPr>
              <a:t>    GROUP BY Region,Year_Num</a:t>
            </a:r>
          </a:p>
          <a:p>
            <a:pPr defTabSz="609630">
              <a:lnSpc>
                <a:spcPts val="1225"/>
              </a:lnSpc>
            </a:pPr>
            <a:r>
              <a:rPr lang="en-US" sz="875" spc="-43">
                <a:solidFill>
                  <a:srgbClr val="FFFFFF"/>
                </a:solidFill>
                <a:latin typeface="Montserrat"/>
                <a:ea typeface="Montserrat"/>
                <a:cs typeface="Montserrat"/>
                <a:sym typeface="Montserrat"/>
              </a:rPr>
              <a:t>),</a:t>
            </a:r>
          </a:p>
          <a:p>
            <a:pPr defTabSz="609630">
              <a:lnSpc>
                <a:spcPts val="1225"/>
              </a:lnSpc>
            </a:pPr>
            <a:r>
              <a:rPr lang="en-US" sz="875" spc="-43">
                <a:solidFill>
                  <a:srgbClr val="FFFFFF"/>
                </a:solidFill>
                <a:latin typeface="Montserrat"/>
                <a:ea typeface="Montserrat"/>
                <a:cs typeface="Montserrat"/>
                <a:sym typeface="Montserrat"/>
              </a:rPr>
              <a:t>Yearly_Revenue AS (</a:t>
            </a:r>
          </a:p>
          <a:p>
            <a:pPr defTabSz="609630">
              <a:lnSpc>
                <a:spcPts val="1225"/>
              </a:lnSpc>
            </a:pPr>
            <a:r>
              <a:rPr lang="en-US" sz="875" spc="-43">
                <a:solidFill>
                  <a:srgbClr val="FFFFFF"/>
                </a:solidFill>
                <a:latin typeface="Montserrat"/>
                <a:ea typeface="Montserrat"/>
                <a:cs typeface="Montserrat"/>
                <a:sym typeface="Montserrat"/>
              </a:rPr>
              <a:t> SELECT</a:t>
            </a:r>
          </a:p>
          <a:p>
            <a:pPr defTabSz="609630">
              <a:lnSpc>
                <a:spcPts val="1225"/>
              </a:lnSpc>
            </a:pPr>
            <a:r>
              <a:rPr lang="en-US" sz="875" spc="-43">
                <a:solidFill>
                  <a:srgbClr val="FFFFFF"/>
                </a:solidFill>
                <a:latin typeface="Montserrat"/>
                <a:ea typeface="Montserrat"/>
                <a:cs typeface="Montserrat"/>
                <a:sym typeface="Montserrat"/>
              </a:rPr>
              <a:t>    Year_Num,</a:t>
            </a:r>
          </a:p>
          <a:p>
            <a:pPr defTabSz="609630">
              <a:lnSpc>
                <a:spcPts val="1225"/>
              </a:lnSpc>
            </a:pPr>
            <a:r>
              <a:rPr lang="en-US" sz="875" spc="-43">
                <a:solidFill>
                  <a:srgbClr val="FFFFFF"/>
                </a:solidFill>
                <a:latin typeface="Montserrat"/>
                <a:ea typeface="Montserrat"/>
                <a:cs typeface="Montserrat"/>
                <a:sym typeface="Montserrat"/>
              </a:rPr>
              <a:t>    SUM(Total_Sales) AS Yearly_Total_Revenue</a:t>
            </a:r>
          </a:p>
          <a:p>
            <a:pPr defTabSz="609630">
              <a:lnSpc>
                <a:spcPts val="1225"/>
              </a:lnSpc>
            </a:pPr>
            <a:r>
              <a:rPr lang="en-US" sz="875" spc="-43">
                <a:solidFill>
                  <a:srgbClr val="FFFFFF"/>
                </a:solidFill>
                <a:latin typeface="Montserrat"/>
                <a:ea typeface="Montserrat"/>
                <a:cs typeface="Montserrat"/>
                <a:sym typeface="Montserrat"/>
              </a:rPr>
              <a:t>    FROM adidas_analytics_table </a:t>
            </a:r>
          </a:p>
          <a:p>
            <a:pPr defTabSz="609630">
              <a:lnSpc>
                <a:spcPts val="1225"/>
              </a:lnSpc>
            </a:pPr>
            <a:r>
              <a:rPr lang="en-US" sz="875" spc="-43">
                <a:solidFill>
                  <a:srgbClr val="FFFFFF"/>
                </a:solidFill>
                <a:latin typeface="Montserrat"/>
                <a:ea typeface="Montserrat"/>
                <a:cs typeface="Montserrat"/>
                <a:sym typeface="Montserrat"/>
              </a:rPr>
              <a:t>    GROUP BY Year_Num</a:t>
            </a:r>
          </a:p>
          <a:p>
            <a:pPr defTabSz="609630">
              <a:lnSpc>
                <a:spcPts val="1225"/>
              </a:lnSpc>
              <a:spcBef>
                <a:spcPct val="0"/>
              </a:spcBef>
            </a:pPr>
            <a:r>
              <a:rPr lang="en-US" sz="875" spc="-43">
                <a:solidFill>
                  <a:srgbClr val="FFFFFF"/>
                </a:solidFill>
                <a:latin typeface="Montserrat"/>
                <a:ea typeface="Montserrat"/>
                <a:cs typeface="Montserrat"/>
                <a:sym typeface="Montserrat"/>
              </a:rPr>
              <a:t>)    </a:t>
            </a:r>
          </a:p>
        </p:txBody>
      </p:sp>
      <p:sp>
        <p:nvSpPr>
          <p:cNvPr id="13" name="TextBox 13"/>
          <p:cNvSpPr txBox="1"/>
          <p:nvPr/>
        </p:nvSpPr>
        <p:spPr>
          <a:xfrm>
            <a:off x="8060343" y="3579526"/>
            <a:ext cx="3764933" cy="2678169"/>
          </a:xfrm>
          <a:prstGeom prst="rect">
            <a:avLst/>
          </a:prstGeom>
        </p:spPr>
        <p:txBody>
          <a:bodyPr lIns="0" tIns="0" rIns="0" bIns="0" rtlCol="0" anchor="t">
            <a:spAutoFit/>
          </a:bodyPr>
          <a:lstStyle/>
          <a:p>
            <a:pPr defTabSz="609630">
              <a:lnSpc>
                <a:spcPts val="1467"/>
              </a:lnSpc>
            </a:pPr>
            <a:r>
              <a:rPr lang="en-US" sz="1047" spc="-52">
                <a:solidFill>
                  <a:srgbClr val="FFFFFF"/>
                </a:solidFill>
                <a:latin typeface="Montserrat"/>
                <a:ea typeface="Montserrat"/>
                <a:cs typeface="Montserrat"/>
                <a:sym typeface="Montserrat"/>
              </a:rPr>
              <a:t>SELECT </a:t>
            </a:r>
          </a:p>
          <a:p>
            <a:pPr defTabSz="609630">
              <a:lnSpc>
                <a:spcPts val="1467"/>
              </a:lnSpc>
            </a:pPr>
            <a:r>
              <a:rPr lang="en-US" sz="1047" spc="-52">
                <a:solidFill>
                  <a:srgbClr val="FFFFFF"/>
                </a:solidFill>
                <a:latin typeface="Montserrat"/>
                <a:ea typeface="Montserrat"/>
                <a:cs typeface="Montserrat"/>
                <a:sym typeface="Montserrat"/>
              </a:rPr>
              <a:t>y.Year_Num,</a:t>
            </a:r>
          </a:p>
          <a:p>
            <a:pPr defTabSz="609630">
              <a:lnSpc>
                <a:spcPts val="1467"/>
              </a:lnSpc>
            </a:pPr>
            <a:r>
              <a:rPr lang="en-US" sz="1047" spc="-52">
                <a:solidFill>
                  <a:srgbClr val="FFFFFF"/>
                </a:solidFill>
                <a:latin typeface="Montserrat"/>
                <a:ea typeface="Montserrat"/>
                <a:cs typeface="Montserrat"/>
                <a:sym typeface="Montserrat"/>
              </a:rPr>
              <a:t>r.Region,</a:t>
            </a:r>
          </a:p>
          <a:p>
            <a:pPr defTabSz="609630">
              <a:lnSpc>
                <a:spcPts val="1467"/>
              </a:lnSpc>
            </a:pPr>
            <a:r>
              <a:rPr lang="en-US" sz="1047" spc="-52">
                <a:solidFill>
                  <a:srgbClr val="FFFFFF"/>
                </a:solidFill>
                <a:latin typeface="Montserrat"/>
                <a:ea typeface="Montserrat"/>
                <a:cs typeface="Montserrat"/>
                <a:sym typeface="Montserrat"/>
              </a:rPr>
              <a:t>r.Total_Region_Revenue,</a:t>
            </a:r>
          </a:p>
          <a:p>
            <a:pPr defTabSz="609630">
              <a:lnSpc>
                <a:spcPts val="1467"/>
              </a:lnSpc>
            </a:pPr>
            <a:r>
              <a:rPr lang="en-US" sz="1047" spc="-52">
                <a:solidFill>
                  <a:srgbClr val="FFFFFF"/>
                </a:solidFill>
                <a:latin typeface="Montserrat"/>
                <a:ea typeface="Montserrat"/>
                <a:cs typeface="Montserrat"/>
                <a:sym typeface="Montserrat"/>
              </a:rPr>
              <a:t>r.Total_Units_Sold,</a:t>
            </a:r>
          </a:p>
          <a:p>
            <a:pPr defTabSz="609630">
              <a:lnSpc>
                <a:spcPts val="1467"/>
              </a:lnSpc>
            </a:pPr>
            <a:r>
              <a:rPr lang="en-US" sz="1047" spc="-52">
                <a:solidFill>
                  <a:srgbClr val="FFFFFF"/>
                </a:solidFill>
                <a:latin typeface="Montserrat"/>
                <a:ea typeface="Montserrat"/>
                <a:cs typeface="Montserrat"/>
                <a:sym typeface="Montserrat"/>
              </a:rPr>
              <a:t>(r.Total_Region_Revenue/y.Yearly_Total_Revenue)*100 AS Revenue_Range_Per_Retailer,</a:t>
            </a:r>
          </a:p>
          <a:p>
            <a:pPr defTabSz="609630">
              <a:lnSpc>
                <a:spcPts val="1467"/>
              </a:lnSpc>
            </a:pPr>
            <a:r>
              <a:rPr lang="en-US" sz="1047" spc="-52">
                <a:solidFill>
                  <a:srgbClr val="FFFFFF"/>
                </a:solidFill>
                <a:latin typeface="Montserrat"/>
                <a:ea typeface="Montserrat"/>
                <a:cs typeface="Montserrat"/>
                <a:sym typeface="Montserrat"/>
              </a:rPr>
              <a:t>r.Ranked_Revenue</a:t>
            </a:r>
          </a:p>
          <a:p>
            <a:pPr defTabSz="609630">
              <a:lnSpc>
                <a:spcPts val="1467"/>
              </a:lnSpc>
            </a:pPr>
            <a:r>
              <a:rPr lang="en-US" sz="1047" spc="-52">
                <a:solidFill>
                  <a:srgbClr val="FFFFFF"/>
                </a:solidFill>
                <a:latin typeface="Montserrat"/>
                <a:ea typeface="Montserrat"/>
                <a:cs typeface="Montserrat"/>
                <a:sym typeface="Montserrat"/>
              </a:rPr>
              <a:t> FROM Revenue_by_Region r</a:t>
            </a:r>
          </a:p>
          <a:p>
            <a:pPr defTabSz="609630">
              <a:lnSpc>
                <a:spcPts val="1467"/>
              </a:lnSpc>
            </a:pPr>
            <a:r>
              <a:rPr lang="en-US" sz="1047" spc="-52">
                <a:solidFill>
                  <a:srgbClr val="FFFFFF"/>
                </a:solidFill>
                <a:latin typeface="Montserrat"/>
                <a:ea typeface="Montserrat"/>
                <a:cs typeface="Montserrat"/>
                <a:sym typeface="Montserrat"/>
              </a:rPr>
              <a:t>JOIN Yearly_Revenue y</a:t>
            </a:r>
          </a:p>
          <a:p>
            <a:pPr defTabSz="609630">
              <a:lnSpc>
                <a:spcPts val="1467"/>
              </a:lnSpc>
            </a:pPr>
            <a:r>
              <a:rPr lang="en-US" sz="1047" spc="-52">
                <a:solidFill>
                  <a:srgbClr val="FFFFFF"/>
                </a:solidFill>
                <a:latin typeface="Montserrat"/>
                <a:ea typeface="Montserrat"/>
                <a:cs typeface="Montserrat"/>
                <a:sym typeface="Montserrat"/>
              </a:rPr>
              <a:t>ON r.Year_Num = y.Year_Num;</a:t>
            </a:r>
          </a:p>
          <a:p>
            <a:pPr defTabSz="609630">
              <a:lnSpc>
                <a:spcPts val="1467"/>
              </a:lnSpc>
            </a:pPr>
            <a:endParaRPr lang="en-US" sz="1047" spc="-52">
              <a:solidFill>
                <a:srgbClr val="FFFFFF"/>
              </a:solidFill>
              <a:latin typeface="Montserrat"/>
              <a:ea typeface="Montserrat"/>
              <a:cs typeface="Montserrat"/>
              <a:sym typeface="Montserrat"/>
            </a:endParaRPr>
          </a:p>
          <a:p>
            <a:pPr defTabSz="609630">
              <a:lnSpc>
                <a:spcPts val="1467"/>
              </a:lnSpc>
            </a:pPr>
            <a:r>
              <a:rPr lang="en-US" sz="1047" spc="-52">
                <a:solidFill>
                  <a:srgbClr val="FFFFFF"/>
                </a:solidFill>
                <a:latin typeface="Montserrat"/>
                <a:ea typeface="Montserrat"/>
                <a:cs typeface="Montserrat"/>
                <a:sym typeface="Montserrat"/>
              </a:rPr>
              <a:t> </a:t>
            </a:r>
          </a:p>
          <a:p>
            <a:pPr defTabSz="609630">
              <a:lnSpc>
                <a:spcPts val="1467"/>
              </a:lnSpc>
              <a:spcBef>
                <a:spcPct val="0"/>
              </a:spcBef>
            </a:pPr>
            <a:endParaRPr lang="en-US" sz="1047" spc="-52">
              <a:solidFill>
                <a:srgbClr val="FFFFFF"/>
              </a:solidFill>
              <a:latin typeface="Montserrat"/>
              <a:ea typeface="Montserrat"/>
              <a:cs typeface="Montserrat"/>
              <a:sym typeface="Montserrat"/>
            </a:endParaRPr>
          </a:p>
        </p:txBody>
      </p:sp>
    </p:spTree>
    <p:extLst>
      <p:ext uri="{BB962C8B-B14F-4D97-AF65-F5344CB8AC3E}">
        <p14:creationId xmlns:p14="http://schemas.microsoft.com/office/powerpoint/2010/main" val="950615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071997" y="1"/>
            <a:ext cx="380603" cy="38060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0C0C"/>
            </a:solidFill>
          </p:spPr>
        </p:sp>
        <p:sp>
          <p:nvSpPr>
            <p:cNvPr id="4" name="TextBox 4"/>
            <p:cNvSpPr txBox="1"/>
            <p:nvPr/>
          </p:nvSpPr>
          <p:spPr>
            <a:xfrm>
              <a:off x="76200" y="38100"/>
              <a:ext cx="660400" cy="698500"/>
            </a:xfrm>
            <a:prstGeom prst="rect">
              <a:avLst/>
            </a:prstGeom>
          </p:spPr>
          <p:txBody>
            <a:bodyPr lIns="33867" tIns="33867" rIns="33867" bIns="33867" rtlCol="0" anchor="ctr"/>
            <a:lstStyle/>
            <a:p>
              <a:pPr algn="ctr" defTabSz="609630">
                <a:lnSpc>
                  <a:spcPts val="1773"/>
                </a:lnSpc>
              </a:pPr>
              <a:r>
                <a:rPr lang="en-US" sz="1266" b="1" spc="-63">
                  <a:solidFill>
                    <a:srgbClr val="FFFFFF"/>
                  </a:solidFill>
                  <a:latin typeface="Montserrat Bold"/>
                  <a:ea typeface="Montserrat Bold"/>
                  <a:cs typeface="Montserrat Bold"/>
                  <a:sym typeface="Montserrat Bold"/>
                </a:rPr>
                <a:t>6.8</a:t>
              </a:r>
            </a:p>
          </p:txBody>
        </p:sp>
      </p:grpSp>
      <p:grpSp>
        <p:nvGrpSpPr>
          <p:cNvPr id="5" name="Group 5"/>
          <p:cNvGrpSpPr/>
          <p:nvPr/>
        </p:nvGrpSpPr>
        <p:grpSpPr>
          <a:xfrm>
            <a:off x="193232" y="3682107"/>
            <a:ext cx="11998769" cy="3027463"/>
            <a:chOff x="0" y="0"/>
            <a:chExt cx="4740254" cy="1196035"/>
          </a:xfrm>
        </p:grpSpPr>
        <p:sp>
          <p:nvSpPr>
            <p:cNvPr id="6" name="Freeform 6"/>
            <p:cNvSpPr/>
            <p:nvPr/>
          </p:nvSpPr>
          <p:spPr>
            <a:xfrm>
              <a:off x="0" y="0"/>
              <a:ext cx="4740254" cy="1196035"/>
            </a:xfrm>
            <a:custGeom>
              <a:avLst/>
              <a:gdLst/>
              <a:ahLst/>
              <a:cxnLst/>
              <a:rect l="l" t="t" r="r" b="b"/>
              <a:pathLst>
                <a:path w="4740254" h="1196035">
                  <a:moveTo>
                    <a:pt x="0" y="0"/>
                  </a:moveTo>
                  <a:lnTo>
                    <a:pt x="4740254" y="0"/>
                  </a:lnTo>
                  <a:lnTo>
                    <a:pt x="4740254" y="1196035"/>
                  </a:lnTo>
                  <a:lnTo>
                    <a:pt x="0" y="1196035"/>
                  </a:lnTo>
                  <a:close/>
                </a:path>
              </a:pathLst>
            </a:custGeom>
            <a:solidFill>
              <a:srgbClr val="0C0C0C"/>
            </a:solidFill>
          </p:spPr>
        </p:sp>
        <p:sp>
          <p:nvSpPr>
            <p:cNvPr id="7" name="TextBox 7"/>
            <p:cNvSpPr txBox="1"/>
            <p:nvPr/>
          </p:nvSpPr>
          <p:spPr>
            <a:xfrm>
              <a:off x="0" y="-38100"/>
              <a:ext cx="4740254" cy="1234135"/>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grpSp>
        <p:nvGrpSpPr>
          <p:cNvPr id="8" name="Group 8"/>
          <p:cNvGrpSpPr/>
          <p:nvPr/>
        </p:nvGrpSpPr>
        <p:grpSpPr>
          <a:xfrm>
            <a:off x="193232" y="380604"/>
            <a:ext cx="12071250" cy="3301503"/>
            <a:chOff x="0" y="0"/>
            <a:chExt cx="4768889" cy="1304298"/>
          </a:xfrm>
        </p:grpSpPr>
        <p:sp>
          <p:nvSpPr>
            <p:cNvPr id="9" name="Freeform 9"/>
            <p:cNvSpPr/>
            <p:nvPr/>
          </p:nvSpPr>
          <p:spPr>
            <a:xfrm>
              <a:off x="0" y="0"/>
              <a:ext cx="4768889" cy="1304298"/>
            </a:xfrm>
            <a:custGeom>
              <a:avLst/>
              <a:gdLst/>
              <a:ahLst/>
              <a:cxnLst/>
              <a:rect l="l" t="t" r="r" b="b"/>
              <a:pathLst>
                <a:path w="4768889" h="1304298">
                  <a:moveTo>
                    <a:pt x="21806" y="0"/>
                  </a:moveTo>
                  <a:lnTo>
                    <a:pt x="4747083" y="0"/>
                  </a:lnTo>
                  <a:cubicBezTo>
                    <a:pt x="4752866" y="0"/>
                    <a:pt x="4758413" y="2297"/>
                    <a:pt x="4762502" y="6387"/>
                  </a:cubicBezTo>
                  <a:cubicBezTo>
                    <a:pt x="4766591" y="10476"/>
                    <a:pt x="4768889" y="16023"/>
                    <a:pt x="4768889" y="21806"/>
                  </a:cubicBezTo>
                  <a:lnTo>
                    <a:pt x="4768889" y="1282492"/>
                  </a:lnTo>
                  <a:cubicBezTo>
                    <a:pt x="4768889" y="1294535"/>
                    <a:pt x="4759126" y="1304298"/>
                    <a:pt x="4747083" y="1304298"/>
                  </a:cubicBezTo>
                  <a:lnTo>
                    <a:pt x="21806" y="1304298"/>
                  </a:lnTo>
                  <a:cubicBezTo>
                    <a:pt x="16023" y="1304298"/>
                    <a:pt x="10476" y="1302000"/>
                    <a:pt x="6387" y="1297911"/>
                  </a:cubicBezTo>
                  <a:cubicBezTo>
                    <a:pt x="2297" y="1293821"/>
                    <a:pt x="0" y="1288275"/>
                    <a:pt x="0" y="1282492"/>
                  </a:cubicBezTo>
                  <a:lnTo>
                    <a:pt x="0" y="21806"/>
                  </a:lnTo>
                  <a:cubicBezTo>
                    <a:pt x="0" y="16023"/>
                    <a:pt x="2297" y="10476"/>
                    <a:pt x="6387" y="6387"/>
                  </a:cubicBezTo>
                  <a:cubicBezTo>
                    <a:pt x="10476" y="2297"/>
                    <a:pt x="16023" y="0"/>
                    <a:pt x="21806" y="0"/>
                  </a:cubicBezTo>
                  <a:close/>
                </a:path>
              </a:pathLst>
            </a:custGeom>
            <a:gradFill rotWithShape="1">
              <a:gsLst>
                <a:gs pos="0">
                  <a:srgbClr val="FFDE59">
                    <a:alpha val="100000"/>
                  </a:srgbClr>
                </a:gs>
                <a:gs pos="100000">
                  <a:srgbClr val="FF914D">
                    <a:alpha val="100000"/>
                  </a:srgbClr>
                </a:gs>
              </a:gsLst>
              <a:lin ang="0"/>
            </a:gradFill>
          </p:spPr>
        </p:sp>
        <p:sp>
          <p:nvSpPr>
            <p:cNvPr id="10" name="TextBox 10"/>
            <p:cNvSpPr txBox="1"/>
            <p:nvPr/>
          </p:nvSpPr>
          <p:spPr>
            <a:xfrm>
              <a:off x="0" y="-38100"/>
              <a:ext cx="4768889" cy="1342398"/>
            </a:xfrm>
            <a:prstGeom prst="rect">
              <a:avLst/>
            </a:prstGeom>
          </p:spPr>
          <p:txBody>
            <a:bodyPr lIns="33867" tIns="33867" rIns="33867" bIns="33867" rtlCol="0" anchor="ctr"/>
            <a:lstStyle/>
            <a:p>
              <a:pPr defTabSz="609630">
                <a:lnSpc>
                  <a:spcPts val="1959"/>
                </a:lnSpc>
              </a:pPr>
              <a:r>
                <a:rPr lang="en-US" sz="1399" spc="-69">
                  <a:solidFill>
                    <a:srgbClr val="000000"/>
                  </a:solidFill>
                  <a:latin typeface="Montserrat"/>
                  <a:ea typeface="Montserrat"/>
                  <a:cs typeface="Montserrat"/>
                  <a:sym typeface="Montserrat"/>
                </a:rPr>
                <a:t>2020: Online was used the most, accounting for 530 transactions  40.71% of that year's total transaction count  but generated only $4,519,966 in revenue, just 2.48% of the year's total. In-store, despite being used least often (287 times, 22.04% of transactions), generated the most revenue at $93,903,000  51.72% of the year's total. Outlet sat in between: used 485 times (37.25% of transactions) and generating $83,657,709  45.95% of revenue.</a:t>
              </a:r>
            </a:p>
            <a:p>
              <a:pPr defTabSz="609630">
                <a:lnSpc>
                  <a:spcPts val="1959"/>
                </a:lnSpc>
              </a:pPr>
              <a:r>
                <a:rPr lang="en-US" sz="1399" spc="-69">
                  <a:solidFill>
                    <a:srgbClr val="000000"/>
                  </a:solidFill>
                  <a:latin typeface="Montserrat"/>
                  <a:ea typeface="Montserrat"/>
                  <a:cs typeface="Montserrat"/>
                  <a:sym typeface="Montserrat"/>
                </a:rPr>
                <a:t>2021: Online again led in usage by a wide margin, used 4,359 times  52.23% of that year's total transactions  and this time it also led in revenue, generating $243,152,916, or 33.87% of the year's total. Outlet was used 2,534 times (30.36% of transactions) and generated $211,927,784 (29.52%). In-store was used least often (1,453 times, 17.41% of transactions) but still generated the second-most revenue at $262,740,750  36.60% of the year's total, actually edging out Online despite far fewer transactions.</a:t>
              </a:r>
            </a:p>
            <a:p>
              <a:pPr defTabSz="609630">
                <a:lnSpc>
                  <a:spcPts val="1959"/>
                </a:lnSpc>
              </a:pPr>
              <a:r>
                <a:rPr lang="en-US" sz="1399" spc="-69">
                  <a:solidFill>
                    <a:srgbClr val="000000"/>
                  </a:solidFill>
                  <a:latin typeface="Montserrat"/>
                  <a:ea typeface="Montserrat"/>
                  <a:cs typeface="Montserrat"/>
                  <a:sym typeface="Montserrat"/>
                </a:rPr>
                <a:t>The relationship between transaction volume and revenue flipped dramatically between the two years. In 2020, Online was the most-used method but the weakest revenue generator by far  each online transaction carried very little value relative to in-store sales, which drove the bulk of revenue despite low usage. By 2021, Online's revenue contribution grew enormously (from 2.48% to 33.87% of the year's total) and its usage share grew too, suggesting either a major shift toward online sales infrastructure or a change in average order value per channel. In-store, meanwhile, kept generating the largest or near-largest share of revenue in both years despite consistently being the least-used method  indicating in-store transactions carry a much higher average value per sale than the other channels.</a:t>
              </a:r>
            </a:p>
          </p:txBody>
        </p:sp>
      </p:grpSp>
      <p:sp>
        <p:nvSpPr>
          <p:cNvPr id="11" name="TextBox 11"/>
          <p:cNvSpPr txBox="1"/>
          <p:nvPr/>
        </p:nvSpPr>
        <p:spPr>
          <a:xfrm>
            <a:off x="1071997" y="-35132"/>
            <a:ext cx="5881660" cy="784254"/>
          </a:xfrm>
          <a:prstGeom prst="rect">
            <a:avLst/>
          </a:prstGeom>
        </p:spPr>
        <p:txBody>
          <a:bodyPr lIns="0" tIns="0" rIns="0" bIns="0" rtlCol="0" anchor="t">
            <a:spAutoFit/>
          </a:bodyPr>
          <a:lstStyle/>
          <a:p>
            <a:pPr algn="ctr" defTabSz="609630">
              <a:lnSpc>
                <a:spcPts val="3173"/>
              </a:lnSpc>
            </a:pPr>
            <a:r>
              <a:rPr lang="en-US" sz="2266" b="1">
                <a:solidFill>
                  <a:srgbClr val="0C0C0C"/>
                </a:solidFill>
                <a:latin typeface="Canva Sans Bold"/>
                <a:ea typeface="Canva Sans Bold"/>
                <a:cs typeface="Canva Sans Bold"/>
                <a:sym typeface="Canva Sans Bold"/>
              </a:rPr>
              <a:t>Sales Method Revenue Comparison</a:t>
            </a:r>
          </a:p>
          <a:p>
            <a:pPr algn="ctr" defTabSz="609630">
              <a:lnSpc>
                <a:spcPts val="3173"/>
              </a:lnSpc>
            </a:pPr>
            <a:endParaRPr lang="en-US" sz="2266" b="1">
              <a:solidFill>
                <a:srgbClr val="0C0C0C"/>
              </a:solidFill>
              <a:latin typeface="Canva Sans Bold"/>
              <a:ea typeface="Canva Sans Bold"/>
              <a:cs typeface="Canva Sans Bold"/>
              <a:sym typeface="Canva Sans Bold"/>
            </a:endParaRPr>
          </a:p>
        </p:txBody>
      </p:sp>
      <p:sp>
        <p:nvSpPr>
          <p:cNvPr id="12" name="TextBox 12"/>
          <p:cNvSpPr txBox="1"/>
          <p:nvPr/>
        </p:nvSpPr>
        <p:spPr>
          <a:xfrm>
            <a:off x="551656" y="3910741"/>
            <a:ext cx="4796657" cy="2863926"/>
          </a:xfrm>
          <a:prstGeom prst="rect">
            <a:avLst/>
          </a:prstGeom>
        </p:spPr>
        <p:txBody>
          <a:bodyPr lIns="0" tIns="0" rIns="0" bIns="0" rtlCol="0" anchor="t">
            <a:spAutoFit/>
          </a:bodyPr>
          <a:lstStyle/>
          <a:p>
            <a:pPr algn="ctr" defTabSz="609630">
              <a:lnSpc>
                <a:spcPts val="1192"/>
              </a:lnSpc>
            </a:pPr>
            <a:r>
              <a:rPr lang="en-US" sz="851" b="1" spc="-42">
                <a:solidFill>
                  <a:srgbClr val="FFFFFF"/>
                </a:solidFill>
                <a:latin typeface="Montserrat Bold"/>
                <a:ea typeface="Montserrat Bold"/>
                <a:cs typeface="Montserrat Bold"/>
                <a:sym typeface="Montserrat Bold"/>
              </a:rPr>
              <a:t>#Sales Method Revenue Comparison</a:t>
            </a:r>
          </a:p>
          <a:p>
            <a:pPr algn="ctr" defTabSz="609630">
              <a:lnSpc>
                <a:spcPts val="1192"/>
              </a:lnSpc>
            </a:pPr>
            <a:endParaRPr lang="en-US" sz="851" b="1" spc="-42">
              <a:solidFill>
                <a:srgbClr val="FFFFFF"/>
              </a:solidFill>
              <a:latin typeface="Montserrat Bold"/>
              <a:ea typeface="Montserrat Bold"/>
              <a:cs typeface="Montserrat Bold"/>
              <a:sym typeface="Montserrat Bold"/>
            </a:endParaRPr>
          </a:p>
          <a:p>
            <a:pPr defTabSz="609630">
              <a:lnSpc>
                <a:spcPts val="1035"/>
              </a:lnSpc>
            </a:pPr>
            <a:r>
              <a:rPr lang="en-US" sz="739" spc="-37">
                <a:solidFill>
                  <a:srgbClr val="FFFFFF"/>
                </a:solidFill>
                <a:latin typeface="Montserrat"/>
                <a:ea typeface="Montserrat"/>
                <a:cs typeface="Montserrat"/>
                <a:sym typeface="Montserrat"/>
              </a:rPr>
              <a:t>WITH Sales_Method_Overview AS (</a:t>
            </a:r>
          </a:p>
          <a:p>
            <a:pPr defTabSz="609630">
              <a:lnSpc>
                <a:spcPts val="1035"/>
              </a:lnSpc>
            </a:pPr>
            <a:r>
              <a:rPr lang="en-US" sz="739" spc="-37">
                <a:solidFill>
                  <a:srgbClr val="FFFFFF"/>
                </a:solidFill>
                <a:latin typeface="Montserrat"/>
                <a:ea typeface="Montserrat"/>
                <a:cs typeface="Montserrat"/>
                <a:sym typeface="Montserrat"/>
              </a:rPr>
              <a:t>  SELECT</a:t>
            </a:r>
          </a:p>
          <a:p>
            <a:pPr defTabSz="609630">
              <a:lnSpc>
                <a:spcPts val="1035"/>
              </a:lnSpc>
            </a:pPr>
            <a:r>
              <a:rPr lang="en-US" sz="739" spc="-37">
                <a:solidFill>
                  <a:srgbClr val="FFFFFF"/>
                </a:solidFill>
                <a:latin typeface="Montserrat"/>
                <a:ea typeface="Montserrat"/>
                <a:cs typeface="Montserrat"/>
                <a:sym typeface="Montserrat"/>
              </a:rPr>
              <a:t>        Year_Num,</a:t>
            </a:r>
          </a:p>
          <a:p>
            <a:pPr defTabSz="609630">
              <a:lnSpc>
                <a:spcPts val="1035"/>
              </a:lnSpc>
            </a:pPr>
            <a:r>
              <a:rPr lang="en-US" sz="739" spc="-37">
                <a:solidFill>
                  <a:srgbClr val="FFFFFF"/>
                </a:solidFill>
                <a:latin typeface="Montserrat"/>
                <a:ea typeface="Montserrat"/>
                <a:cs typeface="Montserrat"/>
                <a:sym typeface="Montserrat"/>
              </a:rPr>
              <a:t>  Sales_Method,</a:t>
            </a:r>
          </a:p>
          <a:p>
            <a:pPr defTabSz="609630">
              <a:lnSpc>
                <a:spcPts val="1035"/>
              </a:lnSpc>
            </a:pPr>
            <a:r>
              <a:rPr lang="en-US" sz="739" spc="-37">
                <a:solidFill>
                  <a:srgbClr val="FFFFFF"/>
                </a:solidFill>
                <a:latin typeface="Montserrat"/>
                <a:ea typeface="Montserrat"/>
                <a:cs typeface="Montserrat"/>
                <a:sym typeface="Montserrat"/>
              </a:rPr>
              <a:t>  COUNT(*) AS Total_Times_Used,</a:t>
            </a:r>
          </a:p>
          <a:p>
            <a:pPr defTabSz="609630">
              <a:lnSpc>
                <a:spcPts val="1035"/>
              </a:lnSpc>
            </a:pPr>
            <a:r>
              <a:rPr lang="en-US" sz="739" spc="-37">
                <a:solidFill>
                  <a:srgbClr val="FFFFFF"/>
                </a:solidFill>
                <a:latin typeface="Montserrat"/>
                <a:ea typeface="Montserrat"/>
                <a:cs typeface="Montserrat"/>
                <a:sym typeface="Montserrat"/>
              </a:rPr>
              <a:t>  SUM(Total_Sales) AS Total_Revenue,</a:t>
            </a:r>
          </a:p>
          <a:p>
            <a:pPr defTabSz="609630">
              <a:lnSpc>
                <a:spcPts val="1035"/>
              </a:lnSpc>
            </a:pPr>
            <a:r>
              <a:rPr lang="en-US" sz="739" spc="-37">
                <a:solidFill>
                  <a:srgbClr val="FFFFFF"/>
                </a:solidFill>
                <a:latin typeface="Montserrat"/>
                <a:ea typeface="Montserrat"/>
                <a:cs typeface="Montserrat"/>
                <a:sym typeface="Montserrat"/>
              </a:rPr>
              <a:t>        RANK() OVER(PARTITION BY Year_Num ORDER BY COUNT(*) DESC) AS Ranked_Counts</a:t>
            </a:r>
          </a:p>
          <a:p>
            <a:pPr defTabSz="609630">
              <a:lnSpc>
                <a:spcPts val="1035"/>
              </a:lnSpc>
            </a:pPr>
            <a:r>
              <a:rPr lang="en-US" sz="739" spc="-37">
                <a:solidFill>
                  <a:srgbClr val="FFFFFF"/>
                </a:solidFill>
                <a:latin typeface="Montserrat"/>
                <a:ea typeface="Montserrat"/>
                <a:cs typeface="Montserrat"/>
                <a:sym typeface="Montserrat"/>
              </a:rPr>
              <a:t>  FROM  adidas_analytics_table</a:t>
            </a:r>
          </a:p>
          <a:p>
            <a:pPr defTabSz="609630">
              <a:lnSpc>
                <a:spcPts val="1035"/>
              </a:lnSpc>
            </a:pPr>
            <a:r>
              <a:rPr lang="en-US" sz="739" spc="-37">
                <a:solidFill>
                  <a:srgbClr val="FFFFFF"/>
                </a:solidFill>
                <a:latin typeface="Montserrat"/>
                <a:ea typeface="Montserrat"/>
                <a:cs typeface="Montserrat"/>
                <a:sym typeface="Montserrat"/>
              </a:rPr>
              <a:t>  GROUP BY Sales_Method,Year_Num</a:t>
            </a:r>
          </a:p>
          <a:p>
            <a:pPr defTabSz="609630">
              <a:lnSpc>
                <a:spcPts val="1035"/>
              </a:lnSpc>
            </a:pPr>
            <a:r>
              <a:rPr lang="en-US" sz="739" spc="-37">
                <a:solidFill>
                  <a:srgbClr val="FFFFFF"/>
                </a:solidFill>
                <a:latin typeface="Montserrat"/>
                <a:ea typeface="Montserrat"/>
                <a:cs typeface="Montserrat"/>
                <a:sym typeface="Montserrat"/>
              </a:rPr>
              <a:t>        ),</a:t>
            </a:r>
          </a:p>
          <a:p>
            <a:pPr defTabSz="609630">
              <a:lnSpc>
                <a:spcPts val="1035"/>
              </a:lnSpc>
            </a:pPr>
            <a:r>
              <a:rPr lang="en-US" sz="739" spc="-37">
                <a:solidFill>
                  <a:srgbClr val="FFFFFF"/>
                </a:solidFill>
                <a:latin typeface="Montserrat"/>
                <a:ea typeface="Montserrat"/>
                <a:cs typeface="Montserrat"/>
                <a:sym typeface="Montserrat"/>
              </a:rPr>
              <a:t>    Yearly_Outcomes AS (    </a:t>
            </a:r>
          </a:p>
          <a:p>
            <a:pPr defTabSz="609630">
              <a:lnSpc>
                <a:spcPts val="1035"/>
              </a:lnSpc>
            </a:pPr>
            <a:r>
              <a:rPr lang="en-US" sz="739" spc="-37">
                <a:solidFill>
                  <a:srgbClr val="FFFFFF"/>
                </a:solidFill>
                <a:latin typeface="Montserrat"/>
                <a:ea typeface="Montserrat"/>
                <a:cs typeface="Montserrat"/>
                <a:sym typeface="Montserrat"/>
              </a:rPr>
              <a:t>   SELECT</a:t>
            </a:r>
          </a:p>
          <a:p>
            <a:pPr defTabSz="609630">
              <a:lnSpc>
                <a:spcPts val="1035"/>
              </a:lnSpc>
            </a:pPr>
            <a:r>
              <a:rPr lang="en-US" sz="739" spc="-37">
                <a:solidFill>
                  <a:srgbClr val="FFFFFF"/>
                </a:solidFill>
                <a:latin typeface="Montserrat"/>
                <a:ea typeface="Montserrat"/>
                <a:cs typeface="Montserrat"/>
                <a:sym typeface="Montserrat"/>
              </a:rPr>
              <a:t>            Year_Num,</a:t>
            </a:r>
          </a:p>
          <a:p>
            <a:pPr defTabSz="609630">
              <a:lnSpc>
                <a:spcPts val="1035"/>
              </a:lnSpc>
            </a:pPr>
            <a:r>
              <a:rPr lang="en-US" sz="739" spc="-37">
                <a:solidFill>
                  <a:srgbClr val="FFFFFF"/>
                </a:solidFill>
                <a:latin typeface="Montserrat"/>
                <a:ea typeface="Montserrat"/>
                <a:cs typeface="Montserrat"/>
                <a:sym typeface="Montserrat"/>
              </a:rPr>
              <a:t>   COUNT(*) AS total_sales_methods,</a:t>
            </a:r>
          </a:p>
          <a:p>
            <a:pPr defTabSz="609630">
              <a:lnSpc>
                <a:spcPts val="1035"/>
              </a:lnSpc>
            </a:pPr>
            <a:r>
              <a:rPr lang="en-US" sz="739" spc="-37">
                <a:solidFill>
                  <a:srgbClr val="FFFFFF"/>
                </a:solidFill>
                <a:latin typeface="Montserrat"/>
                <a:ea typeface="Montserrat"/>
                <a:cs typeface="Montserrat"/>
                <a:sym typeface="Montserrat"/>
              </a:rPr>
              <a:t>            SUM(Total_Sales) AS Yearly_Total_Revenue</a:t>
            </a:r>
          </a:p>
          <a:p>
            <a:pPr defTabSz="609630">
              <a:lnSpc>
                <a:spcPts val="1035"/>
              </a:lnSpc>
            </a:pPr>
            <a:r>
              <a:rPr lang="en-US" sz="739" spc="-37">
                <a:solidFill>
                  <a:srgbClr val="FFFFFF"/>
                </a:solidFill>
                <a:latin typeface="Montserrat"/>
                <a:ea typeface="Montserrat"/>
                <a:cs typeface="Montserrat"/>
                <a:sym typeface="Montserrat"/>
              </a:rPr>
              <a:t>            FROM adidas_analytics_table </a:t>
            </a:r>
          </a:p>
          <a:p>
            <a:pPr defTabSz="609630">
              <a:lnSpc>
                <a:spcPts val="1035"/>
              </a:lnSpc>
            </a:pPr>
            <a:r>
              <a:rPr lang="en-US" sz="739" spc="-37">
                <a:solidFill>
                  <a:srgbClr val="FFFFFF"/>
                </a:solidFill>
                <a:latin typeface="Montserrat"/>
                <a:ea typeface="Montserrat"/>
                <a:cs typeface="Montserrat"/>
                <a:sym typeface="Montserrat"/>
              </a:rPr>
              <a:t>            GROUP BY Year_Num</a:t>
            </a:r>
          </a:p>
          <a:p>
            <a:pPr defTabSz="609630">
              <a:lnSpc>
                <a:spcPts val="1035"/>
              </a:lnSpc>
            </a:pPr>
            <a:r>
              <a:rPr lang="en-US" sz="739" spc="-37">
                <a:solidFill>
                  <a:srgbClr val="FFFFFF"/>
                </a:solidFill>
                <a:latin typeface="Montserrat"/>
                <a:ea typeface="Montserrat"/>
                <a:cs typeface="Montserrat"/>
                <a:sym typeface="Montserrat"/>
              </a:rPr>
              <a:t>            )</a:t>
            </a:r>
          </a:p>
          <a:p>
            <a:pPr algn="ctr" defTabSz="609630">
              <a:lnSpc>
                <a:spcPts val="1035"/>
              </a:lnSpc>
            </a:pPr>
            <a:endParaRPr lang="en-US" sz="739" spc="-37">
              <a:solidFill>
                <a:srgbClr val="FFFFFF"/>
              </a:solidFill>
              <a:latin typeface="Montserrat"/>
              <a:ea typeface="Montserrat"/>
              <a:cs typeface="Montserrat"/>
              <a:sym typeface="Montserrat"/>
            </a:endParaRPr>
          </a:p>
          <a:p>
            <a:pPr algn="ctr" defTabSz="609630">
              <a:lnSpc>
                <a:spcPts val="1035"/>
              </a:lnSpc>
              <a:spcBef>
                <a:spcPct val="0"/>
              </a:spcBef>
            </a:pPr>
            <a:r>
              <a:rPr lang="en-US" sz="739" spc="-37">
                <a:solidFill>
                  <a:srgbClr val="FFFFFF"/>
                </a:solidFill>
                <a:latin typeface="Montserrat"/>
                <a:ea typeface="Montserrat"/>
                <a:cs typeface="Montserrat"/>
                <a:sym typeface="Montserrat"/>
              </a:rPr>
              <a:t>  </a:t>
            </a:r>
          </a:p>
        </p:txBody>
      </p:sp>
      <p:sp>
        <p:nvSpPr>
          <p:cNvPr id="13" name="TextBox 13"/>
          <p:cNvSpPr txBox="1"/>
          <p:nvPr/>
        </p:nvSpPr>
        <p:spPr>
          <a:xfrm>
            <a:off x="8060343" y="3898041"/>
            <a:ext cx="3422300" cy="2989344"/>
          </a:xfrm>
          <a:prstGeom prst="rect">
            <a:avLst/>
          </a:prstGeom>
        </p:spPr>
        <p:txBody>
          <a:bodyPr lIns="0" tIns="0" rIns="0" bIns="0" rtlCol="0" anchor="t">
            <a:spAutoFit/>
          </a:bodyPr>
          <a:lstStyle/>
          <a:p>
            <a:pPr defTabSz="609630">
              <a:lnSpc>
                <a:spcPts val="1333"/>
              </a:lnSpc>
            </a:pPr>
            <a:r>
              <a:rPr lang="en-US" sz="952" spc="-47">
                <a:solidFill>
                  <a:srgbClr val="FFFFFF"/>
                </a:solidFill>
                <a:latin typeface="Montserrat"/>
                <a:ea typeface="Montserrat"/>
                <a:cs typeface="Montserrat"/>
                <a:sym typeface="Montserrat"/>
              </a:rPr>
              <a:t>SELECT </a:t>
            </a:r>
          </a:p>
          <a:p>
            <a:pPr defTabSz="609630">
              <a:lnSpc>
                <a:spcPts val="1333"/>
              </a:lnSpc>
            </a:pPr>
            <a:r>
              <a:rPr lang="en-US" sz="952" spc="-47">
                <a:solidFill>
                  <a:srgbClr val="FFFFFF"/>
                </a:solidFill>
                <a:latin typeface="Montserrat"/>
                <a:ea typeface="Montserrat"/>
                <a:cs typeface="Montserrat"/>
                <a:sym typeface="Montserrat"/>
              </a:rPr>
              <a:t> y.Year_Num,</a:t>
            </a:r>
          </a:p>
          <a:p>
            <a:pPr defTabSz="609630">
              <a:lnSpc>
                <a:spcPts val="1333"/>
              </a:lnSpc>
            </a:pPr>
            <a:r>
              <a:rPr lang="en-US" sz="952" spc="-47">
                <a:solidFill>
                  <a:srgbClr val="FFFFFF"/>
                </a:solidFill>
                <a:latin typeface="Montserrat"/>
                <a:ea typeface="Montserrat"/>
                <a:cs typeface="Montserrat"/>
                <a:sym typeface="Montserrat"/>
              </a:rPr>
              <a:t> s.Sales_Method,</a:t>
            </a:r>
          </a:p>
          <a:p>
            <a:pPr defTabSz="609630">
              <a:lnSpc>
                <a:spcPts val="1333"/>
              </a:lnSpc>
            </a:pPr>
            <a:r>
              <a:rPr lang="en-US" sz="952" spc="-47">
                <a:solidFill>
                  <a:srgbClr val="FFFFFF"/>
                </a:solidFill>
                <a:latin typeface="Montserrat"/>
                <a:ea typeface="Montserrat"/>
                <a:cs typeface="Montserrat"/>
                <a:sym typeface="Montserrat"/>
              </a:rPr>
              <a:t> s.Total_Times_Used,</a:t>
            </a:r>
          </a:p>
          <a:p>
            <a:pPr defTabSz="609630">
              <a:lnSpc>
                <a:spcPts val="1333"/>
              </a:lnSpc>
            </a:pPr>
            <a:r>
              <a:rPr lang="en-US" sz="952" spc="-47">
                <a:solidFill>
                  <a:srgbClr val="FFFFFF"/>
                </a:solidFill>
                <a:latin typeface="Montserrat"/>
                <a:ea typeface="Montserrat"/>
                <a:cs typeface="Montserrat"/>
                <a:sym typeface="Montserrat"/>
              </a:rPr>
              <a:t> s.Total_Revenue,</a:t>
            </a:r>
          </a:p>
          <a:p>
            <a:pPr defTabSz="609630">
              <a:lnSpc>
                <a:spcPts val="1333"/>
              </a:lnSpc>
            </a:pPr>
            <a:r>
              <a:rPr lang="en-US" sz="952" spc="-47">
                <a:solidFill>
                  <a:srgbClr val="FFFFFF"/>
                </a:solidFill>
                <a:latin typeface="Montserrat"/>
                <a:ea typeface="Montserrat"/>
                <a:cs typeface="Montserrat"/>
                <a:sym typeface="Montserrat"/>
              </a:rPr>
              <a:t> y.total_sales_methods,</a:t>
            </a:r>
          </a:p>
          <a:p>
            <a:pPr defTabSz="609630">
              <a:lnSpc>
                <a:spcPts val="1333"/>
              </a:lnSpc>
            </a:pPr>
            <a:r>
              <a:rPr lang="en-US" sz="952" spc="-47">
                <a:solidFill>
                  <a:srgbClr val="FFFFFF"/>
                </a:solidFill>
                <a:latin typeface="Montserrat"/>
                <a:ea typeface="Montserrat"/>
                <a:cs typeface="Montserrat"/>
                <a:sym typeface="Montserrat"/>
              </a:rPr>
              <a:t> (s.Total_Times_Used/y.total_sales_methods)*100 AS Total_Sales_Method_by_year,</a:t>
            </a:r>
          </a:p>
          <a:p>
            <a:pPr defTabSz="609630">
              <a:lnSpc>
                <a:spcPts val="1333"/>
              </a:lnSpc>
            </a:pPr>
            <a:r>
              <a:rPr lang="en-US" sz="952" spc="-47">
                <a:solidFill>
                  <a:srgbClr val="FFFFFF"/>
                </a:solidFill>
                <a:latin typeface="Montserrat"/>
                <a:ea typeface="Montserrat"/>
                <a:cs typeface="Montserrat"/>
                <a:sym typeface="Montserrat"/>
              </a:rPr>
              <a:t> (s.Total_Revenue/y.Yearly_Total_Revenue)*100 AS Total_Revenue_BY_Sales_Method</a:t>
            </a:r>
          </a:p>
          <a:p>
            <a:pPr defTabSz="609630">
              <a:lnSpc>
                <a:spcPts val="1333"/>
              </a:lnSpc>
            </a:pPr>
            <a:r>
              <a:rPr lang="en-US" sz="952" spc="-47">
                <a:solidFill>
                  <a:srgbClr val="FFFFFF"/>
                </a:solidFill>
                <a:latin typeface="Montserrat"/>
                <a:ea typeface="Montserrat"/>
                <a:cs typeface="Montserrat"/>
                <a:sym typeface="Montserrat"/>
              </a:rPr>
              <a:t> FROM Sales_Method_Overview s</a:t>
            </a:r>
          </a:p>
          <a:p>
            <a:pPr defTabSz="609630">
              <a:lnSpc>
                <a:spcPts val="1333"/>
              </a:lnSpc>
            </a:pPr>
            <a:r>
              <a:rPr lang="en-US" sz="952" spc="-47">
                <a:solidFill>
                  <a:srgbClr val="FFFFFF"/>
                </a:solidFill>
                <a:latin typeface="Montserrat"/>
                <a:ea typeface="Montserrat"/>
                <a:cs typeface="Montserrat"/>
                <a:sym typeface="Montserrat"/>
              </a:rPr>
              <a:t> JOIN Yearly_Outcomes y</a:t>
            </a:r>
          </a:p>
          <a:p>
            <a:pPr defTabSz="609630">
              <a:lnSpc>
                <a:spcPts val="1333"/>
              </a:lnSpc>
            </a:pPr>
            <a:r>
              <a:rPr lang="en-US" sz="952" spc="-47">
                <a:solidFill>
                  <a:srgbClr val="FFFFFF"/>
                </a:solidFill>
                <a:latin typeface="Montserrat"/>
                <a:ea typeface="Montserrat"/>
                <a:cs typeface="Montserrat"/>
                <a:sym typeface="Montserrat"/>
              </a:rPr>
              <a:t> ON s.Year_Num=y.Year_Num</a:t>
            </a:r>
          </a:p>
          <a:p>
            <a:pPr defTabSz="609630">
              <a:lnSpc>
                <a:spcPts val="1333"/>
              </a:lnSpc>
            </a:pPr>
            <a:r>
              <a:rPr lang="en-US" sz="952" spc="-47">
                <a:solidFill>
                  <a:srgbClr val="FFFFFF"/>
                </a:solidFill>
                <a:latin typeface="Montserrat"/>
                <a:ea typeface="Montserrat"/>
                <a:cs typeface="Montserrat"/>
                <a:sym typeface="Montserrat"/>
              </a:rPr>
              <a:t> ORDER BY s.Total_Times_Used DESC;</a:t>
            </a:r>
          </a:p>
          <a:p>
            <a:pPr defTabSz="609630">
              <a:lnSpc>
                <a:spcPts val="1333"/>
              </a:lnSpc>
            </a:pPr>
            <a:r>
              <a:rPr lang="en-US" sz="952" spc="-47">
                <a:solidFill>
                  <a:srgbClr val="FFFFFF"/>
                </a:solidFill>
                <a:latin typeface="Montserrat"/>
                <a:ea typeface="Montserrat"/>
                <a:cs typeface="Montserrat"/>
                <a:sym typeface="Montserrat"/>
              </a:rPr>
              <a:t>) </a:t>
            </a:r>
          </a:p>
          <a:p>
            <a:pPr defTabSz="609630">
              <a:lnSpc>
                <a:spcPts val="1333"/>
              </a:lnSpc>
            </a:pPr>
            <a:endParaRPr lang="en-US" sz="952" spc="-47">
              <a:solidFill>
                <a:srgbClr val="FFFFFF"/>
              </a:solidFill>
              <a:latin typeface="Montserrat"/>
              <a:ea typeface="Montserrat"/>
              <a:cs typeface="Montserrat"/>
              <a:sym typeface="Montserrat"/>
            </a:endParaRPr>
          </a:p>
          <a:p>
            <a:pPr defTabSz="609630">
              <a:lnSpc>
                <a:spcPts val="1333"/>
              </a:lnSpc>
            </a:pPr>
            <a:r>
              <a:rPr lang="en-US" sz="952" spc="-47">
                <a:solidFill>
                  <a:srgbClr val="FFFFFF"/>
                </a:solidFill>
                <a:latin typeface="Montserrat"/>
                <a:ea typeface="Montserrat"/>
                <a:cs typeface="Montserrat"/>
                <a:sym typeface="Montserrat"/>
              </a:rPr>
              <a:t> </a:t>
            </a:r>
          </a:p>
          <a:p>
            <a:pPr defTabSz="609630">
              <a:lnSpc>
                <a:spcPts val="1333"/>
              </a:lnSpc>
              <a:spcBef>
                <a:spcPct val="0"/>
              </a:spcBef>
            </a:pPr>
            <a:endParaRPr lang="en-US" sz="952" spc="-47">
              <a:solidFill>
                <a:srgbClr val="FFFFFF"/>
              </a:solidFill>
              <a:latin typeface="Montserrat"/>
              <a:ea typeface="Montserrat"/>
              <a:cs typeface="Montserrat"/>
              <a:sym typeface="Montserrat"/>
            </a:endParaRPr>
          </a:p>
        </p:txBody>
      </p:sp>
    </p:spTree>
    <p:extLst>
      <p:ext uri="{BB962C8B-B14F-4D97-AF65-F5344CB8AC3E}">
        <p14:creationId xmlns:p14="http://schemas.microsoft.com/office/powerpoint/2010/main" val="3599279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sp>
        <p:nvSpPr>
          <p:cNvPr id="2" name="TextBox 2"/>
          <p:cNvSpPr txBox="1"/>
          <p:nvPr/>
        </p:nvSpPr>
        <p:spPr>
          <a:xfrm>
            <a:off x="224158" y="267052"/>
            <a:ext cx="2896736" cy="494302"/>
          </a:xfrm>
          <a:prstGeom prst="rect">
            <a:avLst/>
          </a:prstGeom>
        </p:spPr>
        <p:txBody>
          <a:bodyPr lIns="0" tIns="0" rIns="0" bIns="0" rtlCol="0" anchor="t">
            <a:spAutoFit/>
          </a:bodyPr>
          <a:lstStyle/>
          <a:p>
            <a:pPr algn="just" defTabSz="609630">
              <a:lnSpc>
                <a:spcPts val="3828"/>
              </a:lnSpc>
            </a:pPr>
            <a:r>
              <a:rPr lang="en-US" sz="3828" spc="-53" dirty="0">
                <a:solidFill>
                  <a:srgbClr val="0C0C0C"/>
                </a:solidFill>
                <a:latin typeface="Anton"/>
                <a:ea typeface="Anton"/>
                <a:cs typeface="Anton"/>
                <a:sym typeface="Anton"/>
              </a:rPr>
              <a:t>KEY INSIGHTS</a:t>
            </a:r>
          </a:p>
        </p:txBody>
      </p:sp>
      <p:sp>
        <p:nvSpPr>
          <p:cNvPr id="3" name="TextBox 3"/>
          <p:cNvSpPr txBox="1"/>
          <p:nvPr/>
        </p:nvSpPr>
        <p:spPr>
          <a:xfrm>
            <a:off x="224158" y="866789"/>
            <a:ext cx="7058974" cy="321306"/>
          </a:xfrm>
          <a:prstGeom prst="rect">
            <a:avLst/>
          </a:prstGeom>
        </p:spPr>
        <p:txBody>
          <a:bodyPr lIns="0" tIns="0" rIns="0" bIns="0" rtlCol="0" anchor="t">
            <a:spAutoFit/>
          </a:bodyPr>
          <a:lstStyle/>
          <a:p>
            <a:pPr marL="201518" lvl="1" indent="-100759" defTabSz="609630">
              <a:lnSpc>
                <a:spcPts val="1307"/>
              </a:lnSpc>
              <a:buFont typeface="Arial"/>
              <a:buChar char="•"/>
            </a:pPr>
            <a:r>
              <a:rPr lang="en-US" sz="933" spc="-47">
                <a:solidFill>
                  <a:srgbClr val="0C0C0C"/>
                </a:solidFill>
                <a:latin typeface="Montserrat"/>
                <a:ea typeface="Montserrat"/>
                <a:cs typeface="Montserrat"/>
                <a:sym typeface="Montserrat"/>
              </a:rPr>
              <a:t>Revenue grew 294.3% year-over-year, from $182.1M in 2020 to $717.8M in 2021   the single largest driver of this report's overall story.</a:t>
            </a:r>
          </a:p>
        </p:txBody>
      </p:sp>
      <p:sp>
        <p:nvSpPr>
          <p:cNvPr id="4" name="TextBox 4"/>
          <p:cNvSpPr txBox="1"/>
          <p:nvPr/>
        </p:nvSpPr>
        <p:spPr>
          <a:xfrm>
            <a:off x="224158" y="1186785"/>
            <a:ext cx="11065537" cy="321306"/>
          </a:xfrm>
          <a:prstGeom prst="rect">
            <a:avLst/>
          </a:prstGeom>
        </p:spPr>
        <p:txBody>
          <a:bodyPr lIns="0" tIns="0" rIns="0" bIns="0" rtlCol="0" anchor="t">
            <a:spAutoFit/>
          </a:bodyPr>
          <a:lstStyle/>
          <a:p>
            <a:pPr marL="201518" lvl="1" indent="-100759" defTabSz="609630">
              <a:lnSpc>
                <a:spcPts val="1307"/>
              </a:lnSpc>
              <a:buFont typeface="Arial"/>
              <a:buChar char="•"/>
            </a:pPr>
            <a:r>
              <a:rPr lang="en-US" sz="933" spc="-47">
                <a:solidFill>
                  <a:srgbClr val="0C0C0C"/>
                </a:solidFill>
                <a:latin typeface="Montserrat"/>
                <a:ea typeface="Montserrat"/>
                <a:cs typeface="Montserrat"/>
                <a:sym typeface="Montserrat"/>
              </a:rPr>
              <a:t>Both years contain a full 12 months of transaction data (359 and 365 distinct days respectively), confirming the revenue growth reflects genuine business performance rather than incomplete 2020 records.</a:t>
            </a:r>
          </a:p>
        </p:txBody>
      </p:sp>
      <p:sp>
        <p:nvSpPr>
          <p:cNvPr id="5" name="TextBox 5"/>
          <p:cNvSpPr txBox="1"/>
          <p:nvPr/>
        </p:nvSpPr>
        <p:spPr>
          <a:xfrm>
            <a:off x="224157" y="1504307"/>
            <a:ext cx="11967843" cy="321306"/>
          </a:xfrm>
          <a:prstGeom prst="rect">
            <a:avLst/>
          </a:prstGeom>
        </p:spPr>
        <p:txBody>
          <a:bodyPr lIns="0" tIns="0" rIns="0" bIns="0" rtlCol="0" anchor="t">
            <a:spAutoFit/>
          </a:bodyPr>
          <a:lstStyle/>
          <a:p>
            <a:pPr marL="201518" lvl="1" indent="-100759" defTabSz="609630">
              <a:lnSpc>
                <a:spcPts val="1307"/>
              </a:lnSpc>
              <a:buFont typeface="Arial"/>
              <a:buChar char="•"/>
            </a:pPr>
            <a:r>
              <a:rPr lang="en-US" sz="933" spc="-47">
                <a:solidFill>
                  <a:srgbClr val="0C0C0C"/>
                </a:solidFill>
                <a:latin typeface="Montserrat"/>
                <a:ea typeface="Montserrat"/>
                <a:cs typeface="Montserrat"/>
                <a:sym typeface="Montserrat"/>
              </a:rPr>
              <a:t>Peak revenue timing shifted between years at both the month and day level  April (2020) vs. July (2021) for peak month, and Friday (2020) vs. Thursday (2021) for peak day  indicating demand timing has not yet stabilized into a consistent recurring pattern across only two years of data.</a:t>
            </a:r>
          </a:p>
        </p:txBody>
      </p:sp>
      <p:sp>
        <p:nvSpPr>
          <p:cNvPr id="6" name="TextBox 6"/>
          <p:cNvSpPr txBox="1"/>
          <p:nvPr/>
        </p:nvSpPr>
        <p:spPr>
          <a:xfrm>
            <a:off x="164903" y="1920055"/>
            <a:ext cx="10886723" cy="704937"/>
          </a:xfrm>
          <a:prstGeom prst="rect">
            <a:avLst/>
          </a:prstGeom>
        </p:spPr>
        <p:txBody>
          <a:bodyPr lIns="0" tIns="0" rIns="0" bIns="0" rtlCol="0" anchor="t">
            <a:spAutoFit/>
          </a:bodyPr>
          <a:lstStyle/>
          <a:p>
            <a:pPr marL="215911" lvl="1" indent="-107955" defTabSz="609630">
              <a:lnSpc>
                <a:spcPts val="1400"/>
              </a:lnSpc>
              <a:buFont typeface="Arial"/>
              <a:buChar char="•"/>
            </a:pPr>
            <a:r>
              <a:rPr lang="en-US" sz="1000" spc="-50">
                <a:solidFill>
                  <a:srgbClr val="0C0C0C"/>
                </a:solidFill>
                <a:latin typeface="Montserrat"/>
                <a:ea typeface="Montserrat"/>
                <a:cs typeface="Montserrat"/>
                <a:sym typeface="Montserrat"/>
              </a:rPr>
              <a:t>Men's Street Footwear was the top-revenue product in both years, generating 20.77% of total revenue in 2020 and 23.82% in 2021  the only product to hold the #1 position across both years.</a:t>
            </a:r>
          </a:p>
          <a:p>
            <a:pPr algn="ctr" defTabSz="609630">
              <a:lnSpc>
                <a:spcPts val="1400"/>
              </a:lnSpc>
            </a:pPr>
            <a:endParaRPr lang="en-US" sz="1000" spc="-50">
              <a:solidFill>
                <a:srgbClr val="0C0C0C"/>
              </a:solidFill>
              <a:latin typeface="Montserrat"/>
              <a:ea typeface="Montserrat"/>
              <a:cs typeface="Montserrat"/>
              <a:sym typeface="Montserrat"/>
            </a:endParaRPr>
          </a:p>
          <a:p>
            <a:pPr algn="ctr" defTabSz="609630">
              <a:lnSpc>
                <a:spcPts val="1400"/>
              </a:lnSpc>
              <a:spcBef>
                <a:spcPct val="0"/>
              </a:spcBef>
            </a:pPr>
            <a:endParaRPr lang="en-US" sz="1000" spc="-50">
              <a:solidFill>
                <a:srgbClr val="0C0C0C"/>
              </a:solidFill>
              <a:latin typeface="Montserrat"/>
              <a:ea typeface="Montserrat"/>
              <a:cs typeface="Montserrat"/>
              <a:sym typeface="Montserrat"/>
            </a:endParaRPr>
          </a:p>
        </p:txBody>
      </p:sp>
      <p:sp>
        <p:nvSpPr>
          <p:cNvPr id="7" name="TextBox 7"/>
          <p:cNvSpPr txBox="1"/>
          <p:nvPr/>
        </p:nvSpPr>
        <p:spPr>
          <a:xfrm>
            <a:off x="224157" y="2260001"/>
            <a:ext cx="9949216" cy="321306"/>
          </a:xfrm>
          <a:prstGeom prst="rect">
            <a:avLst/>
          </a:prstGeom>
        </p:spPr>
        <p:txBody>
          <a:bodyPr lIns="0" tIns="0" rIns="0" bIns="0" rtlCol="0" anchor="t">
            <a:spAutoFit/>
          </a:bodyPr>
          <a:lstStyle/>
          <a:p>
            <a:pPr marL="201518" lvl="1" indent="-100759" defTabSz="609630">
              <a:lnSpc>
                <a:spcPts val="1307"/>
              </a:lnSpc>
              <a:buFont typeface="Arial"/>
              <a:buChar char="•"/>
            </a:pPr>
            <a:r>
              <a:rPr lang="en-US" sz="933" spc="-47">
                <a:solidFill>
                  <a:srgbClr val="0C0C0C"/>
                </a:solidFill>
                <a:latin typeface="Montserrat"/>
                <a:ea typeface="Montserrat"/>
                <a:cs typeface="Montserrat"/>
                <a:sym typeface="Montserrat"/>
              </a:rPr>
              <a:t>Women's Athletic Footwear was the lowest-revenue product in both years, at 12.98% (2020) and 11.56% (2021) of total revenue, consistently underperforming the other five product lines.</a:t>
            </a:r>
          </a:p>
        </p:txBody>
      </p:sp>
      <p:sp>
        <p:nvSpPr>
          <p:cNvPr id="8" name="TextBox 8"/>
          <p:cNvSpPr txBox="1"/>
          <p:nvPr/>
        </p:nvSpPr>
        <p:spPr>
          <a:xfrm>
            <a:off x="224157" y="2599571"/>
            <a:ext cx="10820400" cy="488019"/>
          </a:xfrm>
          <a:prstGeom prst="rect">
            <a:avLst/>
          </a:prstGeom>
        </p:spPr>
        <p:txBody>
          <a:bodyPr lIns="0" tIns="0" rIns="0" bIns="0" rtlCol="0" anchor="t">
            <a:spAutoFit/>
          </a:bodyPr>
          <a:lstStyle/>
          <a:p>
            <a:pPr marL="201518" lvl="1" indent="-100759" defTabSz="609630">
              <a:lnSpc>
                <a:spcPts val="1307"/>
              </a:lnSpc>
              <a:buFont typeface="Arial"/>
              <a:buChar char="•"/>
            </a:pPr>
            <a:r>
              <a:rPr lang="en-US" sz="933" spc="-47" dirty="0">
                <a:solidFill>
                  <a:srgbClr val="0C0C0C"/>
                </a:solidFill>
                <a:latin typeface="Montserrat"/>
                <a:ea typeface="Montserrat"/>
                <a:cs typeface="Montserrat"/>
                <a:sym typeface="Montserrat"/>
              </a:rPr>
              <a:t>Peak-day revenue concentration (~16–17% of annual revenue on a single weekday) is higher than a flat 7-day distribution would predict (14.3%), suggesting a real, moderate weekday effect rather than random noise.</a:t>
            </a:r>
          </a:p>
          <a:p>
            <a:pPr defTabSz="609630">
              <a:lnSpc>
                <a:spcPts val="1307"/>
              </a:lnSpc>
              <a:spcBef>
                <a:spcPct val="0"/>
              </a:spcBef>
            </a:pPr>
            <a:endParaRPr lang="en-US" sz="933" spc="-47" dirty="0">
              <a:solidFill>
                <a:srgbClr val="0C0C0C"/>
              </a:solidFill>
              <a:latin typeface="Montserrat"/>
              <a:ea typeface="Montserrat"/>
              <a:cs typeface="Montserrat"/>
              <a:sym typeface="Montserrat"/>
            </a:endParaRPr>
          </a:p>
        </p:txBody>
      </p:sp>
      <p:sp>
        <p:nvSpPr>
          <p:cNvPr id="9" name="TextBox 9"/>
          <p:cNvSpPr txBox="1"/>
          <p:nvPr/>
        </p:nvSpPr>
        <p:spPr>
          <a:xfrm>
            <a:off x="224158" y="3018672"/>
            <a:ext cx="12027098" cy="524824"/>
          </a:xfrm>
          <a:prstGeom prst="rect">
            <a:avLst/>
          </a:prstGeom>
        </p:spPr>
        <p:txBody>
          <a:bodyPr lIns="0" tIns="0" rIns="0" bIns="0" rtlCol="0" anchor="t">
            <a:spAutoFit/>
          </a:bodyPr>
          <a:lstStyle/>
          <a:p>
            <a:pPr marL="212212" lvl="1" indent="-106106" defTabSz="609630">
              <a:lnSpc>
                <a:spcPts val="1376"/>
              </a:lnSpc>
              <a:buFont typeface="Arial"/>
              <a:buChar char="•"/>
            </a:pPr>
            <a:r>
              <a:rPr lang="en-US" sz="983" spc="-49" dirty="0">
                <a:solidFill>
                  <a:srgbClr val="0C0C0C"/>
                </a:solidFill>
                <a:latin typeface="Montserrat"/>
                <a:ea typeface="Montserrat"/>
                <a:cs typeface="Montserrat"/>
                <a:sym typeface="Montserrat"/>
              </a:rPr>
              <a:t>Men's Street Footwear was the top revenue-generating product in both 2020 and 2021, and its own year-over-year growth (352.1%) outpaced the company's overall revenue growth (294.3%)   meaning this product didn't just remain the top performer, it actually gained revenue share within the business, growing from 20.77% of total revenue in 2020 to 23.82% in 2021. Units sold grew even faster, from 99,186 to 494,134   a 398.2% increase  suggesting the revenue growth was driven primarily by volume rather than price increases</a:t>
            </a:r>
          </a:p>
        </p:txBody>
      </p:sp>
      <p:sp>
        <p:nvSpPr>
          <p:cNvPr id="10" name="TextBox 10"/>
          <p:cNvSpPr txBox="1"/>
          <p:nvPr/>
        </p:nvSpPr>
        <p:spPr>
          <a:xfrm>
            <a:off x="224157" y="3615941"/>
            <a:ext cx="11967843" cy="987706"/>
          </a:xfrm>
          <a:prstGeom prst="rect">
            <a:avLst/>
          </a:prstGeom>
        </p:spPr>
        <p:txBody>
          <a:bodyPr lIns="0" tIns="0" rIns="0" bIns="0" rtlCol="0" anchor="t">
            <a:spAutoFit/>
          </a:bodyPr>
          <a:lstStyle/>
          <a:p>
            <a:pPr marL="198389" lvl="1" indent="-99194" defTabSz="609630">
              <a:lnSpc>
                <a:spcPts val="1286"/>
              </a:lnSpc>
              <a:buFont typeface="Arial"/>
              <a:buChar char="•"/>
            </a:pPr>
            <a:r>
              <a:rPr lang="en-US" sz="919" spc="-45" dirty="0">
                <a:solidFill>
                  <a:srgbClr val="0C0C0C"/>
                </a:solidFill>
                <a:latin typeface="Montserrat"/>
                <a:ea typeface="Montserrat"/>
                <a:cs typeface="Montserrat"/>
                <a:sym typeface="Montserrat"/>
              </a:rPr>
              <a:t>In 2020, West Gear was the top revenue-generating retailer, contributing $90.3M (49.59% of total revenue)   nearly half the year's business came through a single retailer. In 2021, Foot Locker became the top retailer with $177.2M (24.69%), while West Gear fell to third place at $152.7M (21.27%).</a:t>
            </a:r>
          </a:p>
          <a:p>
            <a:pPr marL="198389" lvl="1" indent="-99194" defTabSz="609630">
              <a:lnSpc>
                <a:spcPts val="1286"/>
              </a:lnSpc>
              <a:buFont typeface="Arial"/>
              <a:buChar char="•"/>
            </a:pPr>
            <a:r>
              <a:rPr lang="en-US" sz="919" spc="-45" dirty="0">
                <a:solidFill>
                  <a:srgbClr val="0C0C0C"/>
                </a:solidFill>
                <a:latin typeface="Montserrat"/>
                <a:ea typeface="Montserrat"/>
                <a:cs typeface="Montserrat"/>
                <a:sym typeface="Montserrat"/>
              </a:rPr>
              <a:t>Despite the rank change, West Gear's revenue did not decline  it grew 69.1% year-over-year. However, this significantly trailed the company's overall growth rate of 294.3%, and was far outpaced by Sports Direct (+408.6%) and Foot Locker (+313.4%). This means West Gear's falling share reflects being outgrown by faster-scaling retailer relationships, not a shrinking business on its own.</a:t>
            </a:r>
          </a:p>
          <a:p>
            <a:pPr marL="198389" lvl="1" indent="-99194" defTabSz="609630">
              <a:lnSpc>
                <a:spcPts val="1286"/>
              </a:lnSpc>
              <a:buFont typeface="Arial"/>
              <a:buChar char="•"/>
            </a:pPr>
            <a:r>
              <a:rPr lang="en-US" sz="919" spc="-45" dirty="0">
                <a:solidFill>
                  <a:srgbClr val="0C0C0C"/>
                </a:solidFill>
                <a:latin typeface="Montserrat"/>
                <a:ea typeface="Montserrat"/>
                <a:cs typeface="Montserrat"/>
                <a:sym typeface="Montserrat"/>
              </a:rPr>
              <a:t>Two additional retailer-level shifts stand out: Amazon entered as a new retail partner in 2021, immediately contributing 10.82% of that year's revenue, and Kohl's grew from a negligible $758,503 (0.42%) in 2020 to $101.4M (14.12%) in 2021   the most extreme swing of any retailer in the dataset and worth investigating separately (e.g., confirming whether the Kohl's partnership only began late in 2020).</a:t>
            </a:r>
          </a:p>
        </p:txBody>
      </p:sp>
      <p:sp>
        <p:nvSpPr>
          <p:cNvPr id="11" name="TextBox 11"/>
          <p:cNvSpPr txBox="1"/>
          <p:nvPr/>
        </p:nvSpPr>
        <p:spPr>
          <a:xfrm>
            <a:off x="164903" y="4659402"/>
            <a:ext cx="11855979" cy="604461"/>
          </a:xfrm>
          <a:prstGeom prst="rect">
            <a:avLst/>
          </a:prstGeom>
        </p:spPr>
        <p:txBody>
          <a:bodyPr lIns="0" tIns="0" rIns="0" bIns="0" rtlCol="0" anchor="t">
            <a:spAutoFit/>
          </a:bodyPr>
          <a:lstStyle/>
          <a:p>
            <a:pPr marL="186895" lvl="1" indent="-93448" defTabSz="609630">
              <a:lnSpc>
                <a:spcPts val="1211"/>
              </a:lnSpc>
              <a:buFont typeface="Arial"/>
              <a:buChar char="•"/>
            </a:pPr>
            <a:r>
              <a:rPr lang="en-US" sz="865" spc="-43" dirty="0">
                <a:solidFill>
                  <a:srgbClr val="0C0C0C"/>
                </a:solidFill>
                <a:latin typeface="Montserrat"/>
                <a:ea typeface="Montserrat"/>
                <a:cs typeface="Montserrat"/>
                <a:sym typeface="Montserrat"/>
              </a:rPr>
              <a:t>In both 2020 and 2021, West was the top revenue-generating region, growing from $76.9M to $193.0M. However, this 151.1% growth rate was the slowest of all five regions and well below the company-wide average of 294.3%  meaning West's declining share (42.23% → 26.89%) reflects being outgrown by every other region, not an underperforming business in absolute terms.</a:t>
            </a:r>
          </a:p>
          <a:p>
            <a:pPr marL="186895" lvl="1" indent="-93448" defTabSz="609630">
              <a:lnSpc>
                <a:spcPts val="1211"/>
              </a:lnSpc>
              <a:buFont typeface="Arial"/>
              <a:buChar char="•"/>
            </a:pPr>
            <a:r>
              <a:rPr lang="en-US" sz="865" spc="-43" dirty="0">
                <a:solidFill>
                  <a:srgbClr val="0C0C0C"/>
                </a:solidFill>
                <a:latin typeface="Montserrat"/>
                <a:ea typeface="Montserrat"/>
                <a:cs typeface="Montserrat"/>
                <a:sym typeface="Montserrat"/>
              </a:rPr>
              <a:t>The standout finding at the regional level is Midwest, which grew 1,640.5% year-over-year  from just $7.4M (4.05% of revenue, the smallest region by far) to $128.4M (17.89%), nearly matching South and Southeast by 2021. This is the largest percentage swing of any dimension analyzed so far in this report .</a:t>
            </a:r>
          </a:p>
        </p:txBody>
      </p:sp>
      <p:sp>
        <p:nvSpPr>
          <p:cNvPr id="12" name="TextBox 12"/>
          <p:cNvSpPr txBox="1"/>
          <p:nvPr/>
        </p:nvSpPr>
        <p:spPr>
          <a:xfrm>
            <a:off x="224157" y="5592932"/>
            <a:ext cx="11967843" cy="1119602"/>
          </a:xfrm>
          <a:prstGeom prst="rect">
            <a:avLst/>
          </a:prstGeom>
        </p:spPr>
        <p:txBody>
          <a:bodyPr lIns="0" tIns="0" rIns="0" bIns="0" rtlCol="0" anchor="t">
            <a:spAutoFit/>
          </a:bodyPr>
          <a:lstStyle/>
          <a:p>
            <a:pPr marL="187125" lvl="1" indent="-93562" defTabSz="609630">
              <a:lnSpc>
                <a:spcPts val="1213"/>
              </a:lnSpc>
              <a:buFont typeface="Arial"/>
              <a:buChar char="•"/>
            </a:pPr>
            <a:r>
              <a:rPr lang="en-US" sz="867" spc="-43" dirty="0">
                <a:solidFill>
                  <a:srgbClr val="0C0C0C"/>
                </a:solidFill>
                <a:latin typeface="Montserrat"/>
                <a:ea typeface="Montserrat"/>
                <a:cs typeface="Montserrat"/>
                <a:sym typeface="Montserrat"/>
              </a:rPr>
              <a:t>In-store was the highest revenue-generating sales method in both 2020 ($93.9M) and 2021 ($262.7M), despite having the fewest number of transactions of the three methods in both years (287 and 1,453 respectively). Online, by contrast, was used most frequently in both years (530 and 4,359 transactions) but generated substantially less revenue  particularly in 2020, where it contributed only $4.5M despite the highest transaction count.</a:t>
            </a:r>
          </a:p>
          <a:p>
            <a:pPr marL="201518" lvl="1" indent="-100759" defTabSz="609630">
              <a:lnSpc>
                <a:spcPts val="1307"/>
              </a:lnSpc>
              <a:buFont typeface="Arial"/>
              <a:buChar char="•"/>
            </a:pPr>
            <a:r>
              <a:rPr lang="en-US" sz="933" spc="-47" dirty="0">
                <a:solidFill>
                  <a:srgbClr val="0C0C0C"/>
                </a:solidFill>
                <a:latin typeface="Montserrat"/>
                <a:ea typeface="Montserrat"/>
                <a:cs typeface="Montserrat"/>
                <a:sym typeface="Montserrat"/>
              </a:rPr>
              <a:t>This gap reflects a large difference in average transaction value by method: in 2020, the average in-store transaction ($327,222) was roughly 38x larger than the average online transaction ($8,528); by 2021 this gap narrowed to roughly 3.2x ($180,833 vs. $55,782). </a:t>
            </a:r>
            <a:r>
              <a:rPr lang="en-US" sz="933" spc="-47" dirty="0" err="1">
                <a:solidFill>
                  <a:srgbClr val="0C0C0C"/>
                </a:solidFill>
                <a:latin typeface="Montserrat"/>
                <a:ea typeface="Montserrat"/>
                <a:cs typeface="Montserrat"/>
                <a:sym typeface="Montserrat"/>
              </a:rPr>
              <a:t>Online's</a:t>
            </a:r>
            <a:r>
              <a:rPr lang="en-US" sz="933" spc="-47" dirty="0">
                <a:solidFill>
                  <a:srgbClr val="0C0C0C"/>
                </a:solidFill>
                <a:latin typeface="Montserrat"/>
                <a:ea typeface="Montserrat"/>
                <a:cs typeface="Montserrat"/>
                <a:sym typeface="Montserrat"/>
              </a:rPr>
              <a:t> average transaction value grew 554% between the two years  separate from, and more specific than, its 5,279.5% total revenue growth   suggesting online sales matured significantly, either through higher-value product mix, bundling, or improved conversion. This shift is worth validating against </a:t>
            </a:r>
            <a:r>
              <a:rPr lang="en-US" sz="933" spc="-47" dirty="0" err="1">
                <a:solidFill>
                  <a:srgbClr val="0C0C0C"/>
                </a:solidFill>
                <a:latin typeface="Montserrat"/>
                <a:ea typeface="Montserrat"/>
                <a:cs typeface="Montserrat"/>
                <a:sym typeface="Montserrat"/>
              </a:rPr>
              <a:t>Invoice_Date</a:t>
            </a:r>
            <a:r>
              <a:rPr lang="en-US" sz="933" spc="-47" dirty="0">
                <a:solidFill>
                  <a:srgbClr val="0C0C0C"/>
                </a:solidFill>
                <a:latin typeface="Montserrat"/>
                <a:ea typeface="Montserrat"/>
                <a:cs typeface="Montserrat"/>
                <a:sym typeface="Montserrat"/>
              </a:rPr>
              <a:t> coverage for Online in 2020 to rule out a partial-year launch before treating it as a confirmed trend.</a:t>
            </a:r>
          </a:p>
          <a:p>
            <a:pPr marL="187125" lvl="1" indent="-93562" defTabSz="609630">
              <a:lnSpc>
                <a:spcPts val="1213"/>
              </a:lnSpc>
              <a:buFont typeface="Arial"/>
              <a:buChar char="•"/>
            </a:pPr>
            <a:endParaRPr lang="en-US" sz="933" spc="-47" dirty="0">
              <a:solidFill>
                <a:srgbClr val="0C0C0C"/>
              </a:solidFill>
              <a:latin typeface="Montserrat"/>
              <a:ea typeface="Montserrat"/>
              <a:cs typeface="Montserrat"/>
              <a:sym typeface="Montserrat"/>
            </a:endParaRPr>
          </a:p>
        </p:txBody>
      </p:sp>
    </p:spTree>
    <p:extLst>
      <p:ext uri="{BB962C8B-B14F-4D97-AF65-F5344CB8AC3E}">
        <p14:creationId xmlns:p14="http://schemas.microsoft.com/office/powerpoint/2010/main" val="2612887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4087614" y="63500"/>
            <a:ext cx="4016774" cy="774058"/>
          </a:xfrm>
          <a:prstGeom prst="rect">
            <a:avLst/>
          </a:prstGeom>
        </p:spPr>
        <p:txBody>
          <a:bodyPr lIns="0" tIns="0" rIns="0" bIns="0" rtlCol="0" anchor="t">
            <a:spAutoFit/>
          </a:bodyPr>
          <a:lstStyle/>
          <a:p>
            <a:pPr algn="just" defTabSz="609630">
              <a:lnSpc>
                <a:spcPts val="2996"/>
              </a:lnSpc>
            </a:pPr>
            <a:r>
              <a:rPr lang="en-US" sz="2996" spc="-41">
                <a:solidFill>
                  <a:srgbClr val="FFF8D4"/>
                </a:solidFill>
                <a:latin typeface="Anton"/>
                <a:ea typeface="Anton"/>
                <a:cs typeface="Anton"/>
                <a:sym typeface="Anton"/>
              </a:rPr>
              <a:t>BUSINESS INTERPRETATION</a:t>
            </a:r>
          </a:p>
          <a:p>
            <a:pPr algn="just" defTabSz="609630">
              <a:lnSpc>
                <a:spcPts val="2996"/>
              </a:lnSpc>
            </a:pPr>
            <a:endParaRPr lang="en-US" sz="2996" spc="-41">
              <a:solidFill>
                <a:srgbClr val="FFF8D4"/>
              </a:solidFill>
              <a:latin typeface="Anton"/>
              <a:ea typeface="Anton"/>
              <a:cs typeface="Anton"/>
              <a:sym typeface="Anton"/>
            </a:endParaRPr>
          </a:p>
        </p:txBody>
      </p:sp>
      <p:sp>
        <p:nvSpPr>
          <p:cNvPr id="3" name="TextBox 3"/>
          <p:cNvSpPr txBox="1"/>
          <p:nvPr/>
        </p:nvSpPr>
        <p:spPr>
          <a:xfrm>
            <a:off x="111272" y="508737"/>
            <a:ext cx="11969456" cy="3252429"/>
          </a:xfrm>
          <a:prstGeom prst="rect">
            <a:avLst/>
          </a:prstGeom>
        </p:spPr>
        <p:txBody>
          <a:bodyPr lIns="0" tIns="0" rIns="0" bIns="0" rtlCol="0" anchor="t">
            <a:spAutoFit/>
          </a:bodyPr>
          <a:lstStyle/>
          <a:p>
            <a:pPr marL="228956" lvl="1" indent="-114478" defTabSz="609630">
              <a:lnSpc>
                <a:spcPts val="1484"/>
              </a:lnSpc>
              <a:buFont typeface="Arial"/>
              <a:buChar char="•"/>
            </a:pPr>
            <a:r>
              <a:rPr lang="en-US" sz="1060" spc="-53">
                <a:solidFill>
                  <a:srgbClr val="FFF8D4"/>
                </a:solidFill>
                <a:latin typeface="Montserrat"/>
                <a:ea typeface="Montserrat"/>
                <a:cs typeface="Montserrat"/>
                <a:sym typeface="Montserrat"/>
              </a:rPr>
              <a:t>Revenue grew 294.3% year-over-year, from $182.1M in 2020 to $717.8M in 2021   the single largest driver of this report's overall story. This growth is not concentrated in one area but appears consistently across retailers, regions, and products: Amazon entered as a new retailer contributing 10.82% of 2021 revenue, Kohl's grew from a negligible 0.42% to 14.12% of revenue, and both Sports Direct (+408.6%) and Foot Locker (+313.4%) grew faster than the company average. The same pattern holds regionally, where Midwest grew 1,640.5%, and at the product level, where the top-selling product (Men's Street Footwear) grew 352.1%  also above the company average. The fact that outsized growth shows up independently across three different dimensions of the business suggests this is a genuine, structural expansion rather than a single isolated event (such as one large customer or one regional launch). This dataset does not include marketing spend, store-opening dates, or macroeconomic context, so the specific combination of drivers behind the expansion cannot be weighted precisely   a useful follow-up would be cross-referencing which retailers were active in which regions to see whether the growth in Midwest and the growth from new/expanding retailers like Amazon and Kohl's are in fact the same underlying event.</a:t>
            </a:r>
          </a:p>
          <a:p>
            <a:pPr marL="228956" lvl="1" indent="-114478" defTabSz="609630">
              <a:lnSpc>
                <a:spcPts val="1484"/>
              </a:lnSpc>
              <a:buFont typeface="Arial"/>
              <a:buChar char="•"/>
            </a:pPr>
            <a:r>
              <a:rPr lang="en-US" sz="1060" spc="-53">
                <a:solidFill>
                  <a:srgbClr val="FFF8D4"/>
                </a:solidFill>
                <a:latin typeface="Montserrat"/>
                <a:ea typeface="Montserrat"/>
                <a:cs typeface="Montserrat"/>
                <a:sym typeface="Montserrat"/>
              </a:rPr>
              <a:t>Notice the ending does two things your version didn't: it names the specific missing data, and it proposes a genuinely useful next query   one that connects two of your own findings (is Midwest's growth actually just Amazon/Kohl's expanding into that region?) rather than treating them as coincidentally separate facts.</a:t>
            </a:r>
          </a:p>
          <a:p>
            <a:pPr marL="228956" lvl="1" indent="-114478" defTabSz="609630">
              <a:lnSpc>
                <a:spcPts val="1484"/>
              </a:lnSpc>
              <a:buFont typeface="Arial"/>
              <a:buChar char="•"/>
            </a:pPr>
            <a:r>
              <a:rPr lang="en-US" sz="1060" spc="-53">
                <a:solidFill>
                  <a:srgbClr val="FFF8D4"/>
                </a:solidFill>
                <a:latin typeface="Montserrat"/>
                <a:ea typeface="Montserrat"/>
                <a:cs typeface="Montserrat"/>
                <a:sym typeface="Montserrat"/>
              </a:rPr>
              <a:t>Want to try the retailer-specific interpretation (West Gear/Kohl's/Amazon) I asked for last time using this same tightened approach, or move straight to assembling the full Business Interpretation section together?</a:t>
            </a: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a:p>
            <a:pPr algn="ctr" defTabSz="609630">
              <a:lnSpc>
                <a:spcPts val="831"/>
              </a:lnSpc>
            </a:pPr>
            <a:endParaRPr lang="en-US" sz="1060" spc="-53">
              <a:solidFill>
                <a:srgbClr val="FFF8D4"/>
              </a:solidFill>
              <a:latin typeface="Montserrat"/>
              <a:ea typeface="Montserrat"/>
              <a:cs typeface="Montserrat"/>
              <a:sym typeface="Montserrat"/>
            </a:endParaRPr>
          </a:p>
          <a:p>
            <a:pPr algn="ctr" defTabSz="609630">
              <a:lnSpc>
                <a:spcPts val="831"/>
              </a:lnSpc>
              <a:spcBef>
                <a:spcPct val="0"/>
              </a:spcBef>
            </a:pPr>
            <a:endParaRPr lang="en-US" sz="1060" spc="-53">
              <a:solidFill>
                <a:srgbClr val="FFF8D4"/>
              </a:solidFill>
              <a:latin typeface="Montserrat"/>
              <a:ea typeface="Montserrat"/>
              <a:cs typeface="Montserrat"/>
              <a:sym typeface="Montserrat"/>
            </a:endParaRPr>
          </a:p>
        </p:txBody>
      </p:sp>
      <p:sp>
        <p:nvSpPr>
          <p:cNvPr id="4" name="TextBox 4"/>
          <p:cNvSpPr txBox="1"/>
          <p:nvPr/>
        </p:nvSpPr>
        <p:spPr>
          <a:xfrm>
            <a:off x="86953" y="2906131"/>
            <a:ext cx="12105047" cy="1598258"/>
          </a:xfrm>
          <a:prstGeom prst="rect">
            <a:avLst/>
          </a:prstGeom>
        </p:spPr>
        <p:txBody>
          <a:bodyPr lIns="0" tIns="0" rIns="0" bIns="0" rtlCol="0" anchor="t">
            <a:spAutoFit/>
          </a:bodyPr>
          <a:lstStyle/>
          <a:p>
            <a:pPr marL="273486" lvl="1" indent="-136744" defTabSz="609630">
              <a:lnSpc>
                <a:spcPts val="1773"/>
              </a:lnSpc>
              <a:buFont typeface="Arial"/>
              <a:buChar char="•"/>
            </a:pPr>
            <a:r>
              <a:rPr lang="en-US" sz="1266" spc="-63">
                <a:solidFill>
                  <a:srgbClr val="FFF8D4"/>
                </a:solidFill>
                <a:latin typeface="Montserrat"/>
                <a:ea typeface="Montserrat"/>
                <a:cs typeface="Montserrat"/>
                <a:sym typeface="Montserrat"/>
              </a:rPr>
              <a:t>Peak revenue timing shifted between years at both the month and day level  April (2020) vs. July (2021) for peak month, and Friday (2020) vs. Thursday (2021) for peak day indicating demand timing has not yet stabilized into a consistent recurring pattern across only two years of data. With only two years available, it is not yet statistically meaningful to distinguish a genuine seasonal pattern from ordinary year-to-year variation a third year of data would be needed to confirm whether either peak recurs. It's also possible this instability is connected to the broader business changes identified elsewhere in this report: since 2021 saw new retailers (Amazon) and a dramatically expanded region (Midwest), the timing of when revenue occurs may simply be shifting because where and through whom it occurs is also shifting, rather than reflecting a true change in underlying seasonal customer demand. This dataset does not include promotional calendars or campaign dates for either year, so a specific one-off cause (e.g., a July 2021 promotion) cannot be ruled in or out without that additional data.</a:t>
            </a:r>
          </a:p>
        </p:txBody>
      </p:sp>
      <p:sp>
        <p:nvSpPr>
          <p:cNvPr id="5" name="TextBox 5"/>
          <p:cNvSpPr txBox="1"/>
          <p:nvPr/>
        </p:nvSpPr>
        <p:spPr>
          <a:xfrm>
            <a:off x="111272" y="4642274"/>
            <a:ext cx="11969456" cy="2290755"/>
          </a:xfrm>
          <a:prstGeom prst="rect">
            <a:avLst/>
          </a:prstGeom>
        </p:spPr>
        <p:txBody>
          <a:bodyPr lIns="0" tIns="0" rIns="0" bIns="0" rtlCol="0" anchor="t">
            <a:spAutoFit/>
          </a:bodyPr>
          <a:lstStyle/>
          <a:p>
            <a:pPr marL="273486" lvl="1" indent="-136744" defTabSz="609630">
              <a:lnSpc>
                <a:spcPts val="1773"/>
              </a:lnSpc>
              <a:buFont typeface="Arial"/>
              <a:buChar char="•"/>
            </a:pPr>
            <a:r>
              <a:rPr lang="en-US" sz="1266" spc="-63">
                <a:solidFill>
                  <a:srgbClr val="FFF8D4"/>
                </a:solidFill>
                <a:latin typeface="Montserrat"/>
                <a:ea typeface="Montserrat"/>
                <a:cs typeface="Montserrat"/>
                <a:sym typeface="Montserrat"/>
              </a:rPr>
              <a:t>Men's Street Footwear was the top-revenue product in both years, generating 20.77% of total revenue in 2020 and 23.82% in 2021  the only product to hold the #1 position across both years. This aligns with it also having the highest units sold in both years (99,186 and 494,134 respectively), suggesting its revenue leadership is driven primarily by sales volume rather than a premium price point.</a:t>
            </a:r>
          </a:p>
          <a:p>
            <a:pPr marL="273486" lvl="1" indent="-136744" defTabSz="609630">
              <a:lnSpc>
                <a:spcPts val="1773"/>
              </a:lnSpc>
              <a:buFont typeface="Arial"/>
              <a:buChar char="•"/>
            </a:pPr>
            <a:r>
              <a:rPr lang="en-US" sz="1266" spc="-63">
                <a:solidFill>
                  <a:srgbClr val="FFF8D4"/>
                </a:solidFill>
                <a:latin typeface="Montserrat"/>
                <a:ea typeface="Montserrat"/>
                <a:cs typeface="Montserrat"/>
                <a:sym typeface="Montserrat"/>
              </a:rPr>
              <a:t>Women's Athletic Footwear was the lowest-revenue product in both years (12.98% and 11.56%), but notably, it was not the lowest by units sold  Men's Apparel held that position in both years (61,227 and 245,456 units, versus Women's Athletic Footwear's 64,177 and 253,059). This means Women's Athletic Footwear's low revenue is not simply a volume problem; it likely reflects a comparatively low price per unit rather than weak demand. This would need to be confirmed directly against Price_Per_Unit by product, but if correct, it suggests a different lever for improvement than Men's Apparel: Women's Athletic Footwear may benefit from a pricing or bundling review, while Men's Apparel   selling the fewest units but not generating the least revenue   may be a lower-volume, higher-margin product where the opportunity is closer to expanding reach or units sold rather than pricing.</a:t>
            </a:r>
          </a:p>
          <a:p>
            <a:pPr marL="273486" lvl="1" indent="-136744" defTabSz="609630">
              <a:lnSpc>
                <a:spcPts val="1773"/>
              </a:lnSpc>
              <a:buFont typeface="Arial"/>
              <a:buChar char="•"/>
            </a:pPr>
            <a:endParaRPr lang="en-US" sz="1266" spc="-63">
              <a:solidFill>
                <a:srgbClr val="FFF8D4"/>
              </a:solidFill>
              <a:latin typeface="Montserrat"/>
              <a:ea typeface="Montserrat"/>
              <a:cs typeface="Montserrat"/>
              <a:sym typeface="Montserrat"/>
            </a:endParaRPr>
          </a:p>
        </p:txBody>
      </p:sp>
    </p:spTree>
    <p:extLst>
      <p:ext uri="{BB962C8B-B14F-4D97-AF65-F5344CB8AC3E}">
        <p14:creationId xmlns:p14="http://schemas.microsoft.com/office/powerpoint/2010/main" val="1695561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4087614" y="63500"/>
            <a:ext cx="4016774" cy="774058"/>
          </a:xfrm>
          <a:prstGeom prst="rect">
            <a:avLst/>
          </a:prstGeom>
        </p:spPr>
        <p:txBody>
          <a:bodyPr lIns="0" tIns="0" rIns="0" bIns="0" rtlCol="0" anchor="t">
            <a:spAutoFit/>
          </a:bodyPr>
          <a:lstStyle/>
          <a:p>
            <a:pPr algn="just" defTabSz="609630">
              <a:lnSpc>
                <a:spcPts val="2996"/>
              </a:lnSpc>
            </a:pPr>
            <a:r>
              <a:rPr lang="en-US" sz="2996" spc="-41">
                <a:solidFill>
                  <a:srgbClr val="FFF8D4"/>
                </a:solidFill>
                <a:latin typeface="Anton"/>
                <a:ea typeface="Anton"/>
                <a:cs typeface="Anton"/>
                <a:sym typeface="Anton"/>
              </a:rPr>
              <a:t>BUSINESS INTERPRETATION</a:t>
            </a:r>
          </a:p>
          <a:p>
            <a:pPr algn="just" defTabSz="609630">
              <a:lnSpc>
                <a:spcPts val="2996"/>
              </a:lnSpc>
            </a:pPr>
            <a:endParaRPr lang="en-US" sz="2996" spc="-41">
              <a:solidFill>
                <a:srgbClr val="FFF8D4"/>
              </a:solidFill>
              <a:latin typeface="Anton"/>
              <a:ea typeface="Anton"/>
              <a:cs typeface="Anton"/>
              <a:sym typeface="Anton"/>
            </a:endParaRPr>
          </a:p>
        </p:txBody>
      </p:sp>
      <p:sp>
        <p:nvSpPr>
          <p:cNvPr id="3" name="TextBox 3"/>
          <p:cNvSpPr txBox="1"/>
          <p:nvPr/>
        </p:nvSpPr>
        <p:spPr>
          <a:xfrm>
            <a:off x="111272" y="508737"/>
            <a:ext cx="11969456" cy="2948884"/>
          </a:xfrm>
          <a:prstGeom prst="rect">
            <a:avLst/>
          </a:prstGeom>
        </p:spPr>
        <p:txBody>
          <a:bodyPr lIns="0" tIns="0" rIns="0" bIns="0" rtlCol="0" anchor="t">
            <a:spAutoFit/>
          </a:bodyPr>
          <a:lstStyle/>
          <a:p>
            <a:pPr marL="228956" lvl="1" indent="-114478" defTabSz="609630">
              <a:lnSpc>
                <a:spcPts val="1484"/>
              </a:lnSpc>
              <a:buFont typeface="Arial"/>
              <a:buChar char="•"/>
            </a:pPr>
            <a:r>
              <a:rPr lang="en-US" sz="1060" spc="-53" dirty="0">
                <a:solidFill>
                  <a:srgbClr val="FFF8D4"/>
                </a:solidFill>
                <a:latin typeface="Montserrat"/>
                <a:ea typeface="Montserrat"/>
                <a:cs typeface="Montserrat"/>
                <a:sym typeface="Montserrat"/>
              </a:rPr>
              <a:t>The retailer-level data shows the company's 2021 growth was not driven by one or two partners, but by a broad mix of very different growth stories happening simultaneously. Kohl's extreme growth (+13,262.7%) and Amazon's introduction as a new retailer together suggest 2021 involved active retailer-network expansion  either onboarding new partners or dramatically scaling up small/dormant ones  rather than solely growing existing relationships. Sports Direct's near-1,000% growth reinforces this: it moved from a minor contributor (8.38% of 2020 revenue) to a top-2 retailer (23.29% of 2021 revenue) in a single year, a shift too large to attribute to normal account growth alone.</a:t>
            </a:r>
          </a:p>
          <a:p>
            <a:pPr marL="128200" lvl="1" indent="-64100" defTabSz="609630">
              <a:lnSpc>
                <a:spcPts val="831"/>
              </a:lnSpc>
              <a:buFont typeface="Arial"/>
              <a:buChar char="•"/>
            </a:pPr>
            <a:endParaRPr lang="en-US" sz="1060" spc="-53" dirty="0">
              <a:solidFill>
                <a:srgbClr val="FFF8D4"/>
              </a:solidFill>
              <a:latin typeface="Montserrat"/>
              <a:ea typeface="Montserrat"/>
              <a:cs typeface="Montserrat"/>
              <a:sym typeface="Montserrat"/>
            </a:endParaRPr>
          </a:p>
          <a:p>
            <a:pPr marL="257744" lvl="1" indent="-128872" defTabSz="609630">
              <a:lnSpc>
                <a:spcPts val="1671"/>
              </a:lnSpc>
              <a:buFont typeface="Arial"/>
              <a:buChar char="•"/>
            </a:pPr>
            <a:r>
              <a:rPr lang="en-US" sz="1193" spc="-59" dirty="0">
                <a:solidFill>
                  <a:srgbClr val="FFF8D4"/>
                </a:solidFill>
                <a:latin typeface="Montserrat"/>
                <a:ea typeface="Montserrat"/>
                <a:cs typeface="Montserrat"/>
                <a:sym typeface="Montserrat"/>
              </a:rPr>
              <a:t>By contrast, Walmart's +26.7% growth  the slowest of any retailer and well below the company average stands out as a genuine underperformance once viewed against this backdrop, whereas in isolation it might have looked like reasonable growth. This dataset does not indicate contract start dates, account-tier changes, or retailer-specific marketing investment, so it cannot confirm whether Kohl's and Sports Direct's growth reflects new contract terms, expanded store/SKU count, or a marketing push  but the scale and consistency of the pattern (multiple retailers moving in the same direction at once) makes a coordinated business change more plausible than coincidence across five independent retailers.</a:t>
            </a:r>
          </a:p>
          <a:p>
            <a:pPr marL="257744" lvl="1" indent="-128872" defTabSz="609630">
              <a:lnSpc>
                <a:spcPts val="1671"/>
              </a:lnSpc>
              <a:buFont typeface="Arial"/>
              <a:buChar char="•"/>
            </a:pPr>
            <a:r>
              <a:rPr lang="en-US" sz="1193" spc="-59" dirty="0">
                <a:solidFill>
                  <a:srgbClr val="FFF8D4"/>
                </a:solidFill>
                <a:latin typeface="Montserrat"/>
                <a:ea typeface="Montserrat"/>
                <a:cs typeface="Montserrat"/>
                <a:sym typeface="Montserrat"/>
              </a:rPr>
              <a:t>West Gear's declining revenue-per-unit (-24%, the largest such shift among retailers) adds a distinct thread: while other retailers' pricing stayed roughly stable, West Gear's did not, suggesting whatever happened at West Gear in 2021 was different in kind, not just in speed, from what happened at Sports Direct, Kohl's, or Foot Locker. A follow-up review of West Gear's </a:t>
            </a:r>
            <a:r>
              <a:rPr lang="en-US" sz="1193" spc="-59" dirty="0" err="1">
                <a:solidFill>
                  <a:srgbClr val="FFF8D4"/>
                </a:solidFill>
                <a:latin typeface="Montserrat"/>
                <a:ea typeface="Montserrat"/>
                <a:cs typeface="Montserrat"/>
                <a:sym typeface="Montserrat"/>
              </a:rPr>
              <a:t>Sales_Method</a:t>
            </a:r>
            <a:r>
              <a:rPr lang="en-US" sz="1193" spc="-59" dirty="0">
                <a:solidFill>
                  <a:srgbClr val="FFF8D4"/>
                </a:solidFill>
                <a:latin typeface="Montserrat"/>
                <a:ea typeface="Montserrat"/>
                <a:cs typeface="Montserrat"/>
                <a:sym typeface="Montserrat"/>
              </a:rPr>
              <a:t> and </a:t>
            </a:r>
            <a:r>
              <a:rPr lang="en-US" sz="1193" spc="-59" dirty="0" err="1">
                <a:solidFill>
                  <a:srgbClr val="FFF8D4"/>
                </a:solidFill>
                <a:latin typeface="Montserrat"/>
                <a:ea typeface="Montserrat"/>
                <a:cs typeface="Montserrat"/>
                <a:sym typeface="Montserrat"/>
              </a:rPr>
              <a:t>Price_Per_Unit</a:t>
            </a:r>
            <a:r>
              <a:rPr lang="en-US" sz="1193" spc="-59" dirty="0">
                <a:solidFill>
                  <a:srgbClr val="FFF8D4"/>
                </a:solidFill>
                <a:latin typeface="Montserrat"/>
                <a:ea typeface="Montserrat"/>
                <a:cs typeface="Montserrat"/>
                <a:sym typeface="Montserrat"/>
              </a:rPr>
              <a:t> distribution across the two years, alongside contract or account records if available, would help separate "West Gear grew slowly" from "West Gear's pricing strategy changed" as two distinct explanations currently bundled into one finding</a:t>
            </a:r>
          </a:p>
          <a:p>
            <a:pPr algn="ctr" defTabSz="609630">
              <a:lnSpc>
                <a:spcPts val="831"/>
              </a:lnSpc>
              <a:spcBef>
                <a:spcPct val="0"/>
              </a:spcBef>
            </a:pPr>
            <a:endParaRPr lang="en-US" sz="1193" spc="-59" dirty="0">
              <a:solidFill>
                <a:srgbClr val="FFF8D4"/>
              </a:solidFill>
              <a:latin typeface="Montserrat"/>
              <a:ea typeface="Montserrat"/>
              <a:cs typeface="Montserrat"/>
              <a:sym typeface="Montserrat"/>
            </a:endParaRPr>
          </a:p>
        </p:txBody>
      </p:sp>
      <p:sp>
        <p:nvSpPr>
          <p:cNvPr id="4" name="TextBox 4"/>
          <p:cNvSpPr txBox="1"/>
          <p:nvPr/>
        </p:nvSpPr>
        <p:spPr>
          <a:xfrm>
            <a:off x="122911" y="3309534"/>
            <a:ext cx="11922902" cy="1136593"/>
          </a:xfrm>
          <a:prstGeom prst="rect">
            <a:avLst/>
          </a:prstGeom>
        </p:spPr>
        <p:txBody>
          <a:bodyPr lIns="0" tIns="0" rIns="0" bIns="0" rtlCol="0" anchor="t">
            <a:spAutoFit/>
          </a:bodyPr>
          <a:lstStyle/>
          <a:p>
            <a:pPr marL="273486" lvl="1" indent="-136744" defTabSz="609630">
              <a:lnSpc>
                <a:spcPts val="1773"/>
              </a:lnSpc>
              <a:buFont typeface="Arial"/>
              <a:buChar char="•"/>
            </a:pPr>
            <a:r>
              <a:rPr lang="en-US" sz="1266" spc="-63">
                <a:solidFill>
                  <a:srgbClr val="FFF8D4"/>
                </a:solidFill>
                <a:latin typeface="Montserrat"/>
                <a:ea typeface="Montserrat"/>
                <a:cs typeface="Montserrat"/>
                <a:sym typeface="Montserrat"/>
              </a:rPr>
              <a:t>Regional performance in 2021 shows a clear convergence pattern: revenue share moved from being heavily concentrated in West (42.23% in 2020) toward a more evenly distributed footprint across all five regions (ranging narrowly between 16.6% and 26.9% by 2021). Every region grew in absolute revenue, but growth rates varied enormously  from West's +151.1% (the slowest, and the only region below the company average of 294.3%) to Midwest's +1,640.6% (by far the fastest, and confirmed in a separate follow-up analysis to be driven by three new retailers  Sports Direct, West Gear, and Amazon  entering the region in 2021, alongside steep growth from the two incumbent retailers already there).</a:t>
            </a:r>
          </a:p>
        </p:txBody>
      </p:sp>
      <p:sp>
        <p:nvSpPr>
          <p:cNvPr id="5" name="TextBox 5"/>
          <p:cNvSpPr txBox="1"/>
          <p:nvPr/>
        </p:nvSpPr>
        <p:spPr>
          <a:xfrm>
            <a:off x="55636" y="4513960"/>
            <a:ext cx="12057451" cy="905761"/>
          </a:xfrm>
          <a:prstGeom prst="rect">
            <a:avLst/>
          </a:prstGeom>
        </p:spPr>
        <p:txBody>
          <a:bodyPr lIns="0" tIns="0" rIns="0" bIns="0" rtlCol="0" anchor="t">
            <a:spAutoFit/>
          </a:bodyPr>
          <a:lstStyle/>
          <a:p>
            <a:pPr marL="273486" lvl="1" indent="-136744" defTabSz="609630">
              <a:lnSpc>
                <a:spcPts val="1773"/>
              </a:lnSpc>
              <a:buFont typeface="Arial"/>
              <a:buChar char="•"/>
            </a:pPr>
            <a:r>
              <a:rPr lang="en-US" sz="1266" spc="-63" dirty="0">
                <a:solidFill>
                  <a:srgbClr val="FFF8D4"/>
                </a:solidFill>
                <a:latin typeface="Montserrat"/>
                <a:ea typeface="Montserrat"/>
                <a:cs typeface="Montserrat"/>
                <a:sym typeface="Montserrat"/>
              </a:rPr>
              <a:t>Three regions  South (+368.3%), Southeast (+316.4%), and Midwest (+1,640.6%)  grew faster than the company average, while Northeast (+257.2%) and West (+151.1%) grew slower. This suggests 2021's growth was disproportionately generated in regions that started from a smaller 2020 base, which is a common and generally healthy expansion pattern rather than a warning sign: it indicates the business is broadening its geographic footprint rather than simply growing deeper in its already-strongest market.</a:t>
            </a:r>
          </a:p>
        </p:txBody>
      </p:sp>
      <p:sp>
        <p:nvSpPr>
          <p:cNvPr id="6" name="TextBox 6"/>
          <p:cNvSpPr txBox="1"/>
          <p:nvPr/>
        </p:nvSpPr>
        <p:spPr>
          <a:xfrm>
            <a:off x="99633" y="5502487"/>
            <a:ext cx="11946179" cy="1010533"/>
          </a:xfrm>
          <a:prstGeom prst="rect">
            <a:avLst/>
          </a:prstGeom>
        </p:spPr>
        <p:txBody>
          <a:bodyPr lIns="0" tIns="0" rIns="0" bIns="0" rtlCol="0" anchor="t">
            <a:spAutoFit/>
          </a:bodyPr>
          <a:lstStyle/>
          <a:p>
            <a:pPr marL="244700" lvl="1" indent="-122349" defTabSz="609630">
              <a:lnSpc>
                <a:spcPts val="1587"/>
              </a:lnSpc>
              <a:buFont typeface="Arial"/>
              <a:buChar char="•"/>
            </a:pPr>
            <a:r>
              <a:rPr lang="en-US" sz="1133" spc="-57" dirty="0">
                <a:solidFill>
                  <a:srgbClr val="FFF8D4"/>
                </a:solidFill>
                <a:latin typeface="Montserrat"/>
                <a:ea typeface="Montserrat"/>
                <a:cs typeface="Montserrat"/>
                <a:sym typeface="Montserrat"/>
              </a:rPr>
              <a:t>One additional pattern worth flagging: revenue-per-unit fell in three of five regions (West: $471.62 → $368.45; Midwest: $354.07  $346.62; South: $281.85 - $296.58 rose slightly) while it rose in Northeast and Southeast. West's revenue-per-unit decline (-21.9%) is the steepest of any region, echoing the same signal found at the retailer level (West Gear's revenue-per-unit also fell by a similar margin). Given that West Gear is very likely a major contributor to the West region's revenue, this is probably not a coincidence  the West Gear pricing/mix shift identified earlier in this report may be the same underlying event showing up in both the retailer and regional breakdowns. This dataset does not directly link the two without a cross-tabulated query, so confirming this connection is a natural next step: filtering the region-by-retailer data specifically for West Gear × West region across both years</a:t>
            </a:r>
          </a:p>
        </p:txBody>
      </p:sp>
    </p:spTree>
    <p:extLst>
      <p:ext uri="{BB962C8B-B14F-4D97-AF65-F5344CB8AC3E}">
        <p14:creationId xmlns:p14="http://schemas.microsoft.com/office/powerpoint/2010/main" val="2988041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4087614" y="63500"/>
            <a:ext cx="4016774" cy="774058"/>
          </a:xfrm>
          <a:prstGeom prst="rect">
            <a:avLst/>
          </a:prstGeom>
        </p:spPr>
        <p:txBody>
          <a:bodyPr lIns="0" tIns="0" rIns="0" bIns="0" rtlCol="0" anchor="t">
            <a:spAutoFit/>
          </a:bodyPr>
          <a:lstStyle/>
          <a:p>
            <a:pPr algn="just" defTabSz="609630">
              <a:lnSpc>
                <a:spcPts val="2996"/>
              </a:lnSpc>
            </a:pPr>
            <a:r>
              <a:rPr lang="en-US" sz="2996" spc="-41">
                <a:solidFill>
                  <a:srgbClr val="FFF8D4"/>
                </a:solidFill>
                <a:latin typeface="Anton"/>
                <a:ea typeface="Anton"/>
                <a:cs typeface="Anton"/>
                <a:sym typeface="Anton"/>
              </a:rPr>
              <a:t>BUSINESS INTERPRETATION</a:t>
            </a:r>
          </a:p>
          <a:p>
            <a:pPr algn="just" defTabSz="609630">
              <a:lnSpc>
                <a:spcPts val="2996"/>
              </a:lnSpc>
            </a:pPr>
            <a:endParaRPr lang="en-US" sz="2996" spc="-41">
              <a:solidFill>
                <a:srgbClr val="FFF8D4"/>
              </a:solidFill>
              <a:latin typeface="Anton"/>
              <a:ea typeface="Anton"/>
              <a:cs typeface="Anton"/>
              <a:sym typeface="Anton"/>
            </a:endParaRPr>
          </a:p>
        </p:txBody>
      </p:sp>
      <p:sp>
        <p:nvSpPr>
          <p:cNvPr id="3" name="TextBox 3"/>
          <p:cNvSpPr txBox="1"/>
          <p:nvPr/>
        </p:nvSpPr>
        <p:spPr>
          <a:xfrm>
            <a:off x="222544" y="810902"/>
            <a:ext cx="11969456" cy="879984"/>
          </a:xfrm>
          <a:prstGeom prst="rect">
            <a:avLst/>
          </a:prstGeom>
        </p:spPr>
        <p:txBody>
          <a:bodyPr lIns="0" tIns="0" rIns="0" bIns="0" rtlCol="0" anchor="t">
            <a:spAutoFit/>
          </a:bodyPr>
          <a:lstStyle/>
          <a:p>
            <a:pPr marL="228956" lvl="1" indent="-114478" defTabSz="609630">
              <a:lnSpc>
                <a:spcPts val="1484"/>
              </a:lnSpc>
              <a:buFont typeface="Arial"/>
              <a:buChar char="•"/>
            </a:pPr>
            <a:r>
              <a:rPr lang="en-US" sz="1060" spc="-53">
                <a:solidFill>
                  <a:srgbClr val="FFF8D4"/>
                </a:solidFill>
                <a:latin typeface="Montserrat"/>
                <a:ea typeface="Montserrat"/>
                <a:cs typeface="Montserrat"/>
                <a:sym typeface="Montserrat"/>
              </a:rPr>
              <a:t>In-store was the highest revenue-generating sales method in both 2020 ($93.9M) and 2021 ($262.7M), despite having the fewest transactions of the three methods in both years (287 and 1,453 respectively). Online, by contrast, was used most frequently (530 and 4,359 transactions) but generated substantially less revenue  particularly in 2020, where it contributed only $4.5M despite the highest transaction count. This reflects a large gap in average transaction value: in 2020, the average in-store transaction ($327,222) was roughly 38x larger than the average online transaction ($8,528); by 2021 this gap narrowed to roughly 3.2x ($180,833 vs. $55,782).</a:t>
            </a:r>
          </a:p>
          <a:p>
            <a:pPr marL="128200" lvl="1" indent="-64100" defTabSz="609630">
              <a:lnSpc>
                <a:spcPts val="831"/>
              </a:lnSpc>
              <a:buFont typeface="Arial"/>
              <a:buChar char="•"/>
            </a:pPr>
            <a:endParaRPr lang="en-US" sz="1060" spc="-53">
              <a:solidFill>
                <a:srgbClr val="FFF8D4"/>
              </a:solidFill>
              <a:latin typeface="Montserrat"/>
              <a:ea typeface="Montserrat"/>
              <a:cs typeface="Montserrat"/>
              <a:sym typeface="Montserrat"/>
            </a:endParaRPr>
          </a:p>
        </p:txBody>
      </p:sp>
      <p:sp>
        <p:nvSpPr>
          <p:cNvPr id="4" name="TextBox 4"/>
          <p:cNvSpPr txBox="1"/>
          <p:nvPr/>
        </p:nvSpPr>
        <p:spPr>
          <a:xfrm>
            <a:off x="222544" y="1772615"/>
            <a:ext cx="11922902" cy="905761"/>
          </a:xfrm>
          <a:prstGeom prst="rect">
            <a:avLst/>
          </a:prstGeom>
        </p:spPr>
        <p:txBody>
          <a:bodyPr lIns="0" tIns="0" rIns="0" bIns="0" rtlCol="0" anchor="t">
            <a:spAutoFit/>
          </a:bodyPr>
          <a:lstStyle/>
          <a:p>
            <a:pPr marL="273486" lvl="1" indent="-136744" defTabSz="609630">
              <a:lnSpc>
                <a:spcPts val="1773"/>
              </a:lnSpc>
              <a:buFont typeface="Arial"/>
              <a:buChar char="•"/>
            </a:pPr>
            <a:r>
              <a:rPr lang="en-US" sz="1266" spc="-63">
                <a:solidFill>
                  <a:srgbClr val="FFF8D4"/>
                </a:solidFill>
                <a:latin typeface="Montserrat"/>
                <a:ea typeface="Montserrat"/>
                <a:cs typeface="Montserrat"/>
                <a:sym typeface="Montserrat"/>
              </a:rPr>
              <a:t>Online's average transaction value grew 554% between the two years  separate from, and more specific than, its 5,279.5% total revenue growth  suggesting online sales matured significantly, either through a higher-value product mix, bundling, or improved conversion, rather than growth being driven purely by more transactions. This shift is worth validating against Invoice_Date coverage for Online in 2020 to rule out a partial-year launch before treating it as a confirmed trend, since a channel launching mid-year would produce exactly this kind of artificially low early-period average.</a:t>
            </a:r>
          </a:p>
        </p:txBody>
      </p:sp>
      <p:sp>
        <p:nvSpPr>
          <p:cNvPr id="5" name="TextBox 5"/>
          <p:cNvSpPr txBox="1"/>
          <p:nvPr/>
        </p:nvSpPr>
        <p:spPr>
          <a:xfrm>
            <a:off x="222544" y="2768483"/>
            <a:ext cx="11922902" cy="1136145"/>
          </a:xfrm>
          <a:prstGeom prst="rect">
            <a:avLst/>
          </a:prstGeom>
        </p:spPr>
        <p:txBody>
          <a:bodyPr lIns="0" tIns="0" rIns="0" bIns="0" rtlCol="0" anchor="t">
            <a:spAutoFit/>
          </a:bodyPr>
          <a:lstStyle/>
          <a:p>
            <a:pPr marL="270435" lvl="1" indent="-135217" defTabSz="609630">
              <a:lnSpc>
                <a:spcPts val="1753"/>
              </a:lnSpc>
              <a:buFont typeface="Arial"/>
              <a:buChar char="•"/>
            </a:pPr>
            <a:r>
              <a:rPr lang="en-US" sz="1252" spc="-62">
                <a:solidFill>
                  <a:srgbClr val="FFF8D4"/>
                </a:solidFill>
                <a:latin typeface="Montserrat"/>
                <a:ea typeface="Montserrat"/>
                <a:cs typeface="Montserrat"/>
                <a:sym typeface="Montserrat"/>
              </a:rPr>
              <a:t>This pattern is also worth reading alongside the company's broader 2021 growth story identified elsewhere in this report: new retailers (Amazon, and expanded Sports Direct/Kohl's activity) and new regional reach (Midwest) both materialized in 2021, and it's plausible that these newer retailer and regional relationships lean more heavily on online and outlet channels than the legacy in-store-dominant retailers like West Gear. If so, sales-method mix, retailer expansion, and regional expansion may not be three independent stories but three views of the same underlying shift in how and where Adidas sells. Confirming this would require a three-way breakdown of Sales_Method by Retailer and Region together  a natural final cross-check before finalizing this report's conclusions.</a:t>
            </a:r>
          </a:p>
        </p:txBody>
      </p:sp>
    </p:spTree>
    <p:extLst>
      <p:ext uri="{BB962C8B-B14F-4D97-AF65-F5344CB8AC3E}">
        <p14:creationId xmlns:p14="http://schemas.microsoft.com/office/powerpoint/2010/main" val="199909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4734692" y="154850"/>
            <a:ext cx="4016774" cy="389337"/>
          </a:xfrm>
          <a:prstGeom prst="rect">
            <a:avLst/>
          </a:prstGeom>
        </p:spPr>
        <p:txBody>
          <a:bodyPr lIns="0" tIns="0" rIns="0" bIns="0" rtlCol="0" anchor="t">
            <a:spAutoFit/>
          </a:bodyPr>
          <a:lstStyle/>
          <a:p>
            <a:pPr algn="just" defTabSz="609630">
              <a:lnSpc>
                <a:spcPts val="2996"/>
              </a:lnSpc>
            </a:pPr>
            <a:r>
              <a:rPr lang="en-US" sz="2996" spc="-41">
                <a:solidFill>
                  <a:srgbClr val="FFF8D4"/>
                </a:solidFill>
                <a:latin typeface="Anton"/>
                <a:ea typeface="Anton"/>
                <a:cs typeface="Anton"/>
                <a:sym typeface="Anton"/>
              </a:rPr>
              <a:t>RECOMMENDATIONS</a:t>
            </a:r>
          </a:p>
        </p:txBody>
      </p:sp>
      <p:sp>
        <p:nvSpPr>
          <p:cNvPr id="3" name="TextBox 3"/>
          <p:cNvSpPr txBox="1"/>
          <p:nvPr/>
        </p:nvSpPr>
        <p:spPr>
          <a:xfrm>
            <a:off x="134549" y="610733"/>
            <a:ext cx="12057451" cy="947311"/>
          </a:xfrm>
          <a:prstGeom prst="rect">
            <a:avLst/>
          </a:prstGeom>
        </p:spPr>
        <p:txBody>
          <a:bodyPr lIns="0" tIns="0" rIns="0" bIns="0" rtlCol="0" anchor="t">
            <a:spAutoFit/>
          </a:bodyPr>
          <a:lstStyle/>
          <a:p>
            <a:pPr defTabSz="609630">
              <a:lnSpc>
                <a:spcPts val="1484"/>
              </a:lnSpc>
            </a:pPr>
            <a:r>
              <a:rPr lang="en-US" sz="1060" spc="-53" dirty="0">
                <a:solidFill>
                  <a:srgbClr val="FFF8D4"/>
                </a:solidFill>
                <a:latin typeface="Montserrat"/>
                <a:ea typeface="Montserrat"/>
                <a:cs typeface="Montserrat"/>
                <a:sym typeface="Montserrat"/>
              </a:rPr>
              <a:t>5. Determine whether West Gear's pricing shift explains West region's pricing shift</a:t>
            </a:r>
          </a:p>
          <a:p>
            <a:pPr defTabSz="609630">
              <a:lnSpc>
                <a:spcPts val="1484"/>
              </a:lnSpc>
            </a:pPr>
            <a:r>
              <a:rPr lang="en-US" sz="1060" spc="-53" dirty="0">
                <a:solidFill>
                  <a:srgbClr val="FFF8D4"/>
                </a:solidFill>
                <a:latin typeface="Montserrat"/>
                <a:ea typeface="Montserrat"/>
                <a:cs typeface="Montserrat"/>
                <a:sym typeface="Montserrat"/>
              </a:rPr>
              <a:t>Action: Run a cross-tabulation of </a:t>
            </a:r>
            <a:r>
              <a:rPr lang="en-US" sz="1060" spc="-53" dirty="0" err="1">
                <a:solidFill>
                  <a:srgbClr val="FFF8D4"/>
                </a:solidFill>
                <a:latin typeface="Montserrat"/>
                <a:ea typeface="Montserrat"/>
                <a:cs typeface="Montserrat"/>
                <a:sym typeface="Montserrat"/>
              </a:rPr>
              <a:t>Sales_Method</a:t>
            </a:r>
            <a:r>
              <a:rPr lang="en-US" sz="1060" spc="-53" dirty="0">
                <a:solidFill>
                  <a:srgbClr val="FFF8D4"/>
                </a:solidFill>
                <a:latin typeface="Montserrat"/>
                <a:ea typeface="Montserrat"/>
                <a:cs typeface="Montserrat"/>
                <a:sym typeface="Montserrat"/>
              </a:rPr>
              <a:t>, </a:t>
            </a:r>
            <a:r>
              <a:rPr lang="en-US" sz="1060" spc="-53" dirty="0" err="1">
                <a:solidFill>
                  <a:srgbClr val="FFF8D4"/>
                </a:solidFill>
                <a:latin typeface="Montserrat"/>
                <a:ea typeface="Montserrat"/>
                <a:cs typeface="Montserrat"/>
                <a:sym typeface="Montserrat"/>
              </a:rPr>
              <a:t>Price_Per_Unit</a:t>
            </a:r>
            <a:r>
              <a:rPr lang="en-US" sz="1060" spc="-53" dirty="0">
                <a:solidFill>
                  <a:srgbClr val="FFF8D4"/>
                </a:solidFill>
                <a:latin typeface="Montserrat"/>
                <a:ea typeface="Montserrat"/>
                <a:cs typeface="Montserrat"/>
                <a:sym typeface="Montserrat"/>
              </a:rPr>
              <a:t>, and Retailer, filtered to West Gear and the West region specifically, across both years.</a:t>
            </a:r>
          </a:p>
          <a:p>
            <a:pPr defTabSz="609630">
              <a:lnSpc>
                <a:spcPts val="1484"/>
              </a:lnSpc>
            </a:pPr>
            <a:r>
              <a:rPr lang="en-US" sz="1060" spc="-53" dirty="0">
                <a:solidFill>
                  <a:srgbClr val="FFF8D4"/>
                </a:solidFill>
                <a:latin typeface="Montserrat"/>
                <a:ea typeface="Montserrat"/>
                <a:cs typeface="Montserrat"/>
                <a:sym typeface="Montserrat"/>
              </a:rPr>
              <a:t>Why it matters: West Gear's revenue-per-unit fell 24% and West region's fell 21.9%  a close enough match to suggest they may be the same underlying event rather than two coincidental trends.</a:t>
            </a:r>
          </a:p>
          <a:p>
            <a:pPr defTabSz="609630">
              <a:lnSpc>
                <a:spcPts val="1484"/>
              </a:lnSpc>
            </a:pPr>
            <a:r>
              <a:rPr lang="en-US" sz="1060" spc="-53" dirty="0">
                <a:solidFill>
                  <a:srgbClr val="FFF8D4"/>
                </a:solidFill>
                <a:latin typeface="Montserrat"/>
                <a:ea typeface="Montserrat"/>
                <a:cs typeface="Montserrat"/>
                <a:sym typeface="Montserrat"/>
              </a:rPr>
              <a:t>Expected outcome: If confirmed, the appropriate fix is a targeted pricing/discount conversation with West Gear specifically a smaller, cheaper action than a broad West-region pricing review, which would be the wrong scope if West Gear turns out to be the sole cause.</a:t>
            </a:r>
          </a:p>
        </p:txBody>
      </p:sp>
      <p:sp>
        <p:nvSpPr>
          <p:cNvPr id="4" name="TextBox 4"/>
          <p:cNvSpPr txBox="1"/>
          <p:nvPr/>
        </p:nvSpPr>
        <p:spPr>
          <a:xfrm>
            <a:off x="134550" y="1615301"/>
            <a:ext cx="12010897" cy="2059923"/>
          </a:xfrm>
          <a:prstGeom prst="rect">
            <a:avLst/>
          </a:prstGeom>
        </p:spPr>
        <p:txBody>
          <a:bodyPr lIns="0" tIns="0" rIns="0" bIns="0" rtlCol="0" anchor="t">
            <a:spAutoFit/>
          </a:bodyPr>
          <a:lstStyle/>
          <a:p>
            <a:pPr algn="just" defTabSz="609630">
              <a:lnSpc>
                <a:spcPts val="1773"/>
              </a:lnSpc>
            </a:pPr>
            <a:r>
              <a:rPr lang="en-US" sz="1266" spc="-63">
                <a:solidFill>
                  <a:srgbClr val="FFF8D4"/>
                </a:solidFill>
                <a:latin typeface="Montserrat"/>
                <a:ea typeface="Montserrat"/>
                <a:cs typeface="Montserrat"/>
                <a:sym typeface="Montserrat"/>
              </a:rPr>
              <a:t>6. Review pricing strategy for Women's Athletic Footwear</a:t>
            </a:r>
          </a:p>
          <a:p>
            <a:pPr algn="just" defTabSz="609630">
              <a:lnSpc>
                <a:spcPts val="1773"/>
              </a:lnSpc>
            </a:pPr>
            <a:r>
              <a:rPr lang="en-US" sz="1266" spc="-63">
                <a:solidFill>
                  <a:srgbClr val="FFF8D4"/>
                </a:solidFill>
                <a:latin typeface="Montserrat"/>
                <a:ea typeface="Montserrat"/>
                <a:cs typeface="Montserrat"/>
                <a:sym typeface="Montserrat"/>
              </a:rPr>
              <a:t>Action: Pull Price_Per_Unit for Women's Athletic Footwear against the other five product lines.</a:t>
            </a:r>
          </a:p>
          <a:p>
            <a:pPr algn="just" defTabSz="609630">
              <a:lnSpc>
                <a:spcPts val="1773"/>
              </a:lnSpc>
            </a:pPr>
            <a:r>
              <a:rPr lang="en-US" sz="1266" spc="-63">
                <a:solidFill>
                  <a:srgbClr val="FFF8D4"/>
                </a:solidFill>
                <a:latin typeface="Montserrat"/>
                <a:ea typeface="Montserrat"/>
                <a:cs typeface="Montserrat"/>
                <a:sym typeface="Montserrat"/>
              </a:rPr>
              <a:t>Why it matters: It was the lowest-revenue product in both years despite not being the lowest by units sold (Men's Apparel held that position) — suggesting a pricing gap rather than a demand problem.</a:t>
            </a:r>
          </a:p>
          <a:p>
            <a:pPr algn="just" defTabSz="609630">
              <a:lnSpc>
                <a:spcPts val="1773"/>
              </a:lnSpc>
            </a:pPr>
            <a:r>
              <a:rPr lang="en-US" sz="1266" spc="-63">
                <a:solidFill>
                  <a:srgbClr val="FFF8D4"/>
                </a:solidFill>
                <a:latin typeface="Montserrat"/>
                <a:ea typeface="Montserrat"/>
                <a:cs typeface="Montserrat"/>
                <a:sym typeface="Montserrat"/>
              </a:rPr>
              <a:t>Expected outcome: If price-per-unit is confirmed low relative to comparable products, evaluate a price or bundling adjustment; if not, the underperformance needs a different explanation.</a:t>
            </a:r>
          </a:p>
          <a:p>
            <a:pPr defTabSz="609630">
              <a:lnSpc>
                <a:spcPts val="1773"/>
              </a:lnSpc>
            </a:pPr>
            <a:endParaRPr lang="en-US" sz="1266" spc="-63">
              <a:solidFill>
                <a:srgbClr val="FFF8D4"/>
              </a:solidFill>
              <a:latin typeface="Montserrat"/>
              <a:ea typeface="Montserrat"/>
              <a:cs typeface="Montserrat"/>
              <a:sym typeface="Montserrat"/>
            </a:endParaRPr>
          </a:p>
          <a:p>
            <a:pPr defTabSz="609630">
              <a:lnSpc>
                <a:spcPts val="1773"/>
              </a:lnSpc>
            </a:pPr>
            <a:endParaRPr lang="en-US" sz="1266" spc="-63">
              <a:solidFill>
                <a:srgbClr val="FFF8D4"/>
              </a:solidFill>
              <a:latin typeface="Montserrat"/>
              <a:ea typeface="Montserrat"/>
              <a:cs typeface="Montserrat"/>
              <a:sym typeface="Montserrat"/>
            </a:endParaRPr>
          </a:p>
          <a:p>
            <a:pPr defTabSz="609630">
              <a:lnSpc>
                <a:spcPts val="1773"/>
              </a:lnSpc>
            </a:pPr>
            <a:endParaRPr lang="en-US" sz="1266" spc="-63">
              <a:solidFill>
                <a:srgbClr val="FFF8D4"/>
              </a:solidFill>
              <a:latin typeface="Montserrat"/>
              <a:ea typeface="Montserrat"/>
              <a:cs typeface="Montserrat"/>
              <a:sym typeface="Montserrat"/>
            </a:endParaRPr>
          </a:p>
        </p:txBody>
      </p:sp>
      <p:sp>
        <p:nvSpPr>
          <p:cNvPr id="5" name="TextBox 5"/>
          <p:cNvSpPr txBox="1"/>
          <p:nvPr/>
        </p:nvSpPr>
        <p:spPr>
          <a:xfrm>
            <a:off x="134550" y="3092787"/>
            <a:ext cx="11922902" cy="1366977"/>
          </a:xfrm>
          <a:prstGeom prst="rect">
            <a:avLst/>
          </a:prstGeom>
        </p:spPr>
        <p:txBody>
          <a:bodyPr lIns="0" tIns="0" rIns="0" bIns="0" rtlCol="0" anchor="t">
            <a:spAutoFit/>
          </a:bodyPr>
          <a:lstStyle/>
          <a:p>
            <a:pPr defTabSz="609630">
              <a:lnSpc>
                <a:spcPts val="1753"/>
              </a:lnSpc>
            </a:pPr>
            <a:r>
              <a:rPr lang="en-US" sz="1252" spc="-62" dirty="0">
                <a:solidFill>
                  <a:srgbClr val="FFF8D4"/>
                </a:solidFill>
                <a:latin typeface="Montserrat"/>
                <a:ea typeface="Montserrat"/>
                <a:cs typeface="Montserrat"/>
                <a:sym typeface="Montserrat"/>
              </a:rPr>
              <a:t>7. Test whether sales-method mix, retailer expansion, and regional expansion are one connected story</a:t>
            </a:r>
          </a:p>
          <a:p>
            <a:pPr defTabSz="609630">
              <a:lnSpc>
                <a:spcPts val="1753"/>
              </a:lnSpc>
            </a:pPr>
            <a:r>
              <a:rPr lang="en-US" sz="1252" spc="-62" dirty="0">
                <a:solidFill>
                  <a:srgbClr val="FFF8D4"/>
                </a:solidFill>
                <a:latin typeface="Montserrat"/>
                <a:ea typeface="Montserrat"/>
                <a:cs typeface="Montserrat"/>
                <a:sym typeface="Montserrat"/>
              </a:rPr>
              <a:t>Action: Build a three-way breakdown of </a:t>
            </a:r>
            <a:r>
              <a:rPr lang="en-US" sz="1252" spc="-62" dirty="0" err="1">
                <a:solidFill>
                  <a:srgbClr val="FFF8D4"/>
                </a:solidFill>
                <a:latin typeface="Montserrat"/>
                <a:ea typeface="Montserrat"/>
                <a:cs typeface="Montserrat"/>
                <a:sym typeface="Montserrat"/>
              </a:rPr>
              <a:t>Sales_Method</a:t>
            </a:r>
            <a:r>
              <a:rPr lang="en-US" sz="1252" spc="-62" dirty="0">
                <a:solidFill>
                  <a:srgbClr val="FFF8D4"/>
                </a:solidFill>
                <a:latin typeface="Montserrat"/>
                <a:ea typeface="Montserrat"/>
                <a:cs typeface="Montserrat"/>
                <a:sym typeface="Montserrat"/>
              </a:rPr>
              <a:t> by Retailer and Region for both years.</a:t>
            </a:r>
          </a:p>
          <a:p>
            <a:pPr defTabSz="609630">
              <a:lnSpc>
                <a:spcPts val="1753"/>
              </a:lnSpc>
            </a:pPr>
            <a:r>
              <a:rPr lang="en-US" sz="1252" spc="-62" dirty="0">
                <a:solidFill>
                  <a:srgbClr val="FFF8D4"/>
                </a:solidFill>
                <a:latin typeface="Montserrat"/>
                <a:ea typeface="Montserrat"/>
                <a:cs typeface="Montserrat"/>
                <a:sym typeface="Montserrat"/>
              </a:rPr>
              <a:t>Why it matters: It's plausible that newer retailer relationships (Amazon, expanded Sports Direct/Kohl's) and newly-entered regions (Midwest) lean more heavily on online/outlet channels than legacy in-store-dominant retailers like West Gear meaning three sections of this report may be describing the same underlying shift rather than three independent trends.</a:t>
            </a:r>
          </a:p>
          <a:p>
            <a:pPr defTabSz="609630">
              <a:lnSpc>
                <a:spcPts val="1753"/>
              </a:lnSpc>
            </a:pPr>
            <a:r>
              <a:rPr lang="en-US" sz="1252" spc="-62" dirty="0">
                <a:solidFill>
                  <a:srgbClr val="FFF8D4"/>
                </a:solidFill>
                <a:latin typeface="Montserrat"/>
                <a:ea typeface="Montserrat"/>
                <a:cs typeface="Montserrat"/>
                <a:sym typeface="Montserrat"/>
              </a:rPr>
              <a:t>Expected outcome: A clearer, unified explanation of 2021's growth structure, which would strengthen (or revise) the recommendations above.</a:t>
            </a:r>
          </a:p>
        </p:txBody>
      </p:sp>
      <p:sp>
        <p:nvSpPr>
          <p:cNvPr id="6" name="TextBox 6"/>
          <p:cNvSpPr txBox="1"/>
          <p:nvPr/>
        </p:nvSpPr>
        <p:spPr>
          <a:xfrm>
            <a:off x="87994" y="4688263"/>
            <a:ext cx="12057452" cy="1331903"/>
          </a:xfrm>
          <a:prstGeom prst="rect">
            <a:avLst/>
          </a:prstGeom>
        </p:spPr>
        <p:txBody>
          <a:bodyPr wrap="square" lIns="0" tIns="0" rIns="0" bIns="0" rtlCol="0" anchor="t">
            <a:spAutoFit/>
          </a:bodyPr>
          <a:lstStyle/>
          <a:p>
            <a:pPr defTabSz="609630">
              <a:lnSpc>
                <a:spcPts val="1479"/>
              </a:lnSpc>
            </a:pPr>
            <a:r>
              <a:rPr lang="en-US" sz="1056" spc="-53" dirty="0">
                <a:solidFill>
                  <a:srgbClr val="FFF8D4"/>
                </a:solidFill>
                <a:latin typeface="Montserrat"/>
                <a:ea typeface="Montserrat"/>
                <a:cs typeface="Montserrat"/>
                <a:sym typeface="Montserrat"/>
              </a:rPr>
              <a:t>8. West region's slower growth rate</a:t>
            </a:r>
          </a:p>
          <a:p>
            <a:pPr defTabSz="609630">
              <a:lnSpc>
                <a:spcPts val="1479"/>
              </a:lnSpc>
            </a:pPr>
            <a:endParaRPr lang="en-US" sz="1056" spc="-53" dirty="0">
              <a:solidFill>
                <a:srgbClr val="FFF8D4"/>
              </a:solidFill>
              <a:latin typeface="Montserrat"/>
              <a:ea typeface="Montserrat"/>
              <a:cs typeface="Montserrat"/>
              <a:sym typeface="Montserrat"/>
            </a:endParaRPr>
          </a:p>
          <a:p>
            <a:pPr defTabSz="609630">
              <a:lnSpc>
                <a:spcPts val="1479"/>
              </a:lnSpc>
            </a:pPr>
            <a:r>
              <a:rPr lang="en-US" sz="1056" spc="-53" dirty="0">
                <a:solidFill>
                  <a:srgbClr val="FFF8D4"/>
                </a:solidFill>
                <a:latin typeface="Montserrat"/>
                <a:ea typeface="Montserrat"/>
                <a:cs typeface="Montserrat"/>
                <a:sym typeface="Montserrat"/>
              </a:rPr>
              <a:t>West grew 151.1% the slowest of all regions and the only one below the company average but this reflects market maturity (a large, already-developed region has less room for the explosive percentage growth seen in smaller expanding regions like Midwest) rather than a performance problem. Recommendation: monitor West's absolute revenue trend next year to confirm continued growth; no corrective action needed at this time.</a:t>
            </a:r>
          </a:p>
          <a:p>
            <a:pPr algn="ctr" defTabSz="609630">
              <a:lnSpc>
                <a:spcPts val="1479"/>
              </a:lnSpc>
            </a:pPr>
            <a:endParaRPr lang="en-US" sz="1056" spc="-53" dirty="0">
              <a:solidFill>
                <a:srgbClr val="FFF8D4"/>
              </a:solidFill>
              <a:latin typeface="Montserrat"/>
              <a:ea typeface="Montserrat"/>
              <a:cs typeface="Montserrat"/>
              <a:sym typeface="Montserrat"/>
            </a:endParaRPr>
          </a:p>
          <a:p>
            <a:pPr algn="ctr" defTabSz="609630">
              <a:lnSpc>
                <a:spcPts val="1479"/>
              </a:lnSpc>
              <a:spcBef>
                <a:spcPct val="0"/>
              </a:spcBef>
            </a:pPr>
            <a:endParaRPr lang="en-US" sz="1056" spc="-53" dirty="0">
              <a:solidFill>
                <a:srgbClr val="FFF8D4"/>
              </a:solidFill>
              <a:latin typeface="Montserrat"/>
              <a:ea typeface="Montserrat"/>
              <a:cs typeface="Montserrat"/>
              <a:sym typeface="Montserrat"/>
            </a:endParaRPr>
          </a:p>
        </p:txBody>
      </p:sp>
    </p:spTree>
    <p:extLst>
      <p:ext uri="{BB962C8B-B14F-4D97-AF65-F5344CB8AC3E}">
        <p14:creationId xmlns:p14="http://schemas.microsoft.com/office/powerpoint/2010/main" val="48039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TextBox 2"/>
          <p:cNvSpPr txBox="1"/>
          <p:nvPr/>
        </p:nvSpPr>
        <p:spPr>
          <a:xfrm>
            <a:off x="4734692" y="154850"/>
            <a:ext cx="4016774" cy="389337"/>
          </a:xfrm>
          <a:prstGeom prst="rect">
            <a:avLst/>
          </a:prstGeom>
        </p:spPr>
        <p:txBody>
          <a:bodyPr lIns="0" tIns="0" rIns="0" bIns="0" rtlCol="0" anchor="t">
            <a:spAutoFit/>
          </a:bodyPr>
          <a:lstStyle/>
          <a:p>
            <a:pPr algn="just" defTabSz="609630">
              <a:lnSpc>
                <a:spcPts val="2996"/>
              </a:lnSpc>
            </a:pPr>
            <a:r>
              <a:rPr lang="en-US" sz="2996" spc="-41">
                <a:solidFill>
                  <a:srgbClr val="FFF8D4"/>
                </a:solidFill>
                <a:latin typeface="Anton"/>
                <a:ea typeface="Anton"/>
                <a:cs typeface="Anton"/>
                <a:sym typeface="Anton"/>
              </a:rPr>
              <a:t>RECOMMENDATIONS</a:t>
            </a:r>
          </a:p>
        </p:txBody>
      </p:sp>
      <p:sp>
        <p:nvSpPr>
          <p:cNvPr id="3" name="TextBox 3"/>
          <p:cNvSpPr txBox="1"/>
          <p:nvPr/>
        </p:nvSpPr>
        <p:spPr>
          <a:xfrm>
            <a:off x="134549" y="610733"/>
            <a:ext cx="12057451" cy="562590"/>
          </a:xfrm>
          <a:prstGeom prst="rect">
            <a:avLst/>
          </a:prstGeom>
        </p:spPr>
        <p:txBody>
          <a:bodyPr lIns="0" tIns="0" rIns="0" bIns="0" rtlCol="0" anchor="t">
            <a:spAutoFit/>
          </a:bodyPr>
          <a:lstStyle/>
          <a:p>
            <a:pPr defTabSz="609630">
              <a:lnSpc>
                <a:spcPts val="1484"/>
              </a:lnSpc>
            </a:pPr>
            <a:r>
              <a:rPr lang="en-US" sz="1060" spc="-53">
                <a:solidFill>
                  <a:srgbClr val="FFF8D4"/>
                </a:solidFill>
                <a:latin typeface="Montserrat"/>
                <a:ea typeface="Montserrat"/>
                <a:cs typeface="Montserrat"/>
                <a:sym typeface="Montserrat"/>
              </a:rPr>
              <a:t>9. Peak revenue timing (month and day)</a:t>
            </a:r>
          </a:p>
          <a:p>
            <a:pPr defTabSz="609630">
              <a:lnSpc>
                <a:spcPts val="1484"/>
              </a:lnSpc>
            </a:pPr>
            <a:r>
              <a:rPr lang="en-US" sz="1060" spc="-53">
                <a:solidFill>
                  <a:srgbClr val="FFF8D4"/>
                </a:solidFill>
                <a:latin typeface="Montserrat"/>
                <a:ea typeface="Montserrat"/>
                <a:cs typeface="Montserrat"/>
                <a:sym typeface="Montserrat"/>
              </a:rPr>
              <a:t>The peak month (April → July) and peak day (Friday → Thursday) both shifted between years. With only two years of data, this cannot yet be distinguished from normal year-to-year variation. Recommendation: re-run this analysis once a third year of data is available before treating either peak as a reliable recurring pattern worth planning around.</a:t>
            </a:r>
          </a:p>
        </p:txBody>
      </p:sp>
      <p:sp>
        <p:nvSpPr>
          <p:cNvPr id="4" name="TextBox 4"/>
          <p:cNvSpPr txBox="1"/>
          <p:nvPr/>
        </p:nvSpPr>
        <p:spPr>
          <a:xfrm>
            <a:off x="134550" y="1361498"/>
            <a:ext cx="12010897" cy="1367426"/>
          </a:xfrm>
          <a:prstGeom prst="rect">
            <a:avLst/>
          </a:prstGeom>
        </p:spPr>
        <p:txBody>
          <a:bodyPr lIns="0" tIns="0" rIns="0" bIns="0" rtlCol="0" anchor="t">
            <a:spAutoFit/>
          </a:bodyPr>
          <a:lstStyle/>
          <a:p>
            <a:pPr algn="just" defTabSz="609630">
              <a:lnSpc>
                <a:spcPts val="1773"/>
              </a:lnSpc>
            </a:pPr>
            <a:r>
              <a:rPr lang="en-US" sz="1266" spc="-63">
                <a:solidFill>
                  <a:srgbClr val="FFF8D4"/>
                </a:solidFill>
                <a:latin typeface="Montserrat"/>
                <a:ea typeface="Montserrat"/>
                <a:cs typeface="Montserrat"/>
                <a:sym typeface="Montserrat"/>
              </a:rPr>
              <a:t>10. Walmart's modest growth</a:t>
            </a:r>
          </a:p>
          <a:p>
            <a:pPr defTabSz="609630">
              <a:lnSpc>
                <a:spcPts val="1773"/>
              </a:lnSpc>
            </a:pPr>
            <a:r>
              <a:rPr lang="en-US" sz="1266" spc="-63">
                <a:solidFill>
                  <a:srgbClr val="FFF8D4"/>
                </a:solidFill>
                <a:latin typeface="Montserrat"/>
                <a:ea typeface="Montserrat"/>
                <a:cs typeface="Montserrat"/>
                <a:sym typeface="Montserrat"/>
              </a:rPr>
              <a:t>At +26.7%, Walmart was the slowest-growing retailer and the only one to underperform the company average by a wide margin  but its revenue did not decline, and no evidence in this dataset points to a specific problem. Recommendation: monitor next year's figures before treating this as an issue requiring investigation; a single below-average year is not yet a trend.</a:t>
            </a:r>
          </a:p>
          <a:p>
            <a:pPr defTabSz="609630">
              <a:lnSpc>
                <a:spcPts val="1773"/>
              </a:lnSpc>
            </a:pPr>
            <a:endParaRPr lang="en-US" sz="1266" spc="-63">
              <a:solidFill>
                <a:srgbClr val="FFF8D4"/>
              </a:solidFill>
              <a:latin typeface="Montserrat"/>
              <a:ea typeface="Montserrat"/>
              <a:cs typeface="Montserrat"/>
              <a:sym typeface="Montserrat"/>
            </a:endParaRPr>
          </a:p>
          <a:p>
            <a:pPr defTabSz="609630">
              <a:lnSpc>
                <a:spcPts val="1773"/>
              </a:lnSpc>
            </a:pPr>
            <a:endParaRPr lang="en-US" sz="1266" spc="-63">
              <a:solidFill>
                <a:srgbClr val="FFF8D4"/>
              </a:solidFill>
              <a:latin typeface="Montserrat"/>
              <a:ea typeface="Montserrat"/>
              <a:cs typeface="Montserrat"/>
              <a:sym typeface="Montserrat"/>
            </a:endParaRPr>
          </a:p>
        </p:txBody>
      </p:sp>
    </p:spTree>
    <p:extLst>
      <p:ext uri="{BB962C8B-B14F-4D97-AF65-F5344CB8AC3E}">
        <p14:creationId xmlns:p14="http://schemas.microsoft.com/office/powerpoint/2010/main" val="3423404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grpSp>
        <p:nvGrpSpPr>
          <p:cNvPr id="2" name="Group 2"/>
          <p:cNvGrpSpPr/>
          <p:nvPr/>
        </p:nvGrpSpPr>
        <p:grpSpPr>
          <a:xfrm>
            <a:off x="6853677" y="-177547"/>
            <a:ext cx="2057400" cy="7548478"/>
            <a:chOff x="0" y="0"/>
            <a:chExt cx="812800" cy="2982115"/>
          </a:xfrm>
        </p:grpSpPr>
        <p:sp>
          <p:nvSpPr>
            <p:cNvPr id="3" name="Freeform 3"/>
            <p:cNvSpPr/>
            <p:nvPr/>
          </p:nvSpPr>
          <p:spPr>
            <a:xfrm>
              <a:off x="0" y="0"/>
              <a:ext cx="812800" cy="2982115"/>
            </a:xfrm>
            <a:custGeom>
              <a:avLst/>
              <a:gdLst/>
              <a:ahLst/>
              <a:cxnLst/>
              <a:rect l="l" t="t" r="r" b="b"/>
              <a:pathLst>
                <a:path w="812800" h="2982115">
                  <a:moveTo>
                    <a:pt x="0" y="0"/>
                  </a:moveTo>
                  <a:lnTo>
                    <a:pt x="812800" y="0"/>
                  </a:lnTo>
                  <a:lnTo>
                    <a:pt x="812800" y="2982115"/>
                  </a:lnTo>
                  <a:lnTo>
                    <a:pt x="0" y="2982115"/>
                  </a:lnTo>
                  <a:close/>
                </a:path>
              </a:pathLst>
            </a:custGeom>
            <a:solidFill>
              <a:srgbClr val="FFF8D4">
                <a:alpha val="62745"/>
              </a:srgbClr>
            </a:solidFill>
          </p:spPr>
        </p:sp>
        <p:sp>
          <p:nvSpPr>
            <p:cNvPr id="4" name="TextBox 4"/>
            <p:cNvSpPr txBox="1"/>
            <p:nvPr/>
          </p:nvSpPr>
          <p:spPr>
            <a:xfrm>
              <a:off x="0" y="-38100"/>
              <a:ext cx="812800" cy="302021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p:cNvSpPr/>
          <p:nvPr/>
        </p:nvSpPr>
        <p:spPr>
          <a:xfrm>
            <a:off x="7038597" y="-799162"/>
            <a:ext cx="5214303" cy="7814351"/>
          </a:xfrm>
          <a:custGeom>
            <a:avLst/>
            <a:gdLst/>
            <a:ahLst/>
            <a:cxnLst/>
            <a:rect l="l" t="t" r="r" b="b"/>
            <a:pathLst>
              <a:path w="7821455" h="11721527">
                <a:moveTo>
                  <a:pt x="0" y="0"/>
                </a:moveTo>
                <a:lnTo>
                  <a:pt x="7821455" y="0"/>
                </a:lnTo>
                <a:lnTo>
                  <a:pt x="7821455" y="11721526"/>
                </a:lnTo>
                <a:lnTo>
                  <a:pt x="0" y="11721526"/>
                </a:lnTo>
                <a:lnTo>
                  <a:pt x="0" y="0"/>
                </a:lnTo>
                <a:close/>
              </a:path>
            </a:pathLst>
          </a:custGeom>
          <a:blipFill>
            <a:blip r:embed="rId2"/>
            <a:stretch>
              <a:fillRect/>
            </a:stretch>
          </a:blipFill>
        </p:spPr>
      </p:sp>
      <p:sp>
        <p:nvSpPr>
          <p:cNvPr id="6" name="TextBox 6"/>
          <p:cNvSpPr txBox="1"/>
          <p:nvPr/>
        </p:nvSpPr>
        <p:spPr>
          <a:xfrm>
            <a:off x="685800" y="177800"/>
            <a:ext cx="7082726" cy="1218988"/>
          </a:xfrm>
          <a:prstGeom prst="rect">
            <a:avLst/>
          </a:prstGeom>
        </p:spPr>
        <p:txBody>
          <a:bodyPr lIns="0" tIns="0" rIns="0" bIns="0" rtlCol="0" anchor="t">
            <a:spAutoFit/>
          </a:bodyPr>
          <a:lstStyle/>
          <a:p>
            <a:pPr algn="just" defTabSz="609630">
              <a:lnSpc>
                <a:spcPts val="9360"/>
              </a:lnSpc>
            </a:pPr>
            <a:r>
              <a:rPr lang="en-US" sz="9360" spc="-131">
                <a:solidFill>
                  <a:srgbClr val="FFF8D4"/>
                </a:solidFill>
                <a:latin typeface="Anton"/>
                <a:ea typeface="Anton"/>
                <a:cs typeface="Anton"/>
                <a:sym typeface="Anton"/>
              </a:rPr>
              <a:t>CONCLUSION</a:t>
            </a:r>
          </a:p>
        </p:txBody>
      </p:sp>
      <p:sp>
        <p:nvSpPr>
          <p:cNvPr id="7" name="TextBox 7"/>
          <p:cNvSpPr txBox="1"/>
          <p:nvPr/>
        </p:nvSpPr>
        <p:spPr>
          <a:xfrm>
            <a:off x="98702" y="1308302"/>
            <a:ext cx="6648779" cy="1243482"/>
          </a:xfrm>
          <a:prstGeom prst="rect">
            <a:avLst/>
          </a:prstGeom>
        </p:spPr>
        <p:txBody>
          <a:bodyPr lIns="0" tIns="0" rIns="0" bIns="0" rtlCol="0" anchor="t">
            <a:spAutoFit/>
          </a:bodyPr>
          <a:lstStyle/>
          <a:p>
            <a:pPr defTabSz="609630">
              <a:lnSpc>
                <a:spcPts val="1399"/>
              </a:lnSpc>
              <a:spcBef>
                <a:spcPct val="0"/>
              </a:spcBef>
            </a:pPr>
            <a:r>
              <a:rPr lang="en-US" sz="999" spc="-49" dirty="0">
                <a:solidFill>
                  <a:srgbClr val="FFF8D4"/>
                </a:solidFill>
                <a:latin typeface="Montserrat"/>
                <a:ea typeface="Montserrat"/>
                <a:cs typeface="Montserrat"/>
                <a:sym typeface="Montserrat"/>
              </a:rPr>
              <a:t>Adidas generated $899.9M in combined revenue across 2020 and 2021, with 2021 alone growing 294.3% year-over-year a genuine, structural expansion rather than an isolated event, evidenced by consistent outsized growth across products, retailers, and regions rather than concentration in a single area. This growth was driven by three parallel forces: retailer-network expansion (new partners like Amazon and dramatic scale-up from Kohl's and Sports Direct), regional diversification (Midwest's 1,640.6% growth, confirmed to stem from new retailer entry into a previously underserved market), and continued strength from the company's top product, Men's Street Footwear, which held the #1 revenue position in both years.</a:t>
            </a:r>
          </a:p>
        </p:txBody>
      </p:sp>
      <p:sp>
        <p:nvSpPr>
          <p:cNvPr id="8" name="TextBox 8"/>
          <p:cNvSpPr txBox="1"/>
          <p:nvPr/>
        </p:nvSpPr>
        <p:spPr>
          <a:xfrm>
            <a:off x="0" y="2747607"/>
            <a:ext cx="6839521" cy="1910075"/>
          </a:xfrm>
          <a:prstGeom prst="rect">
            <a:avLst/>
          </a:prstGeom>
        </p:spPr>
        <p:txBody>
          <a:bodyPr lIns="0" tIns="0" rIns="0" bIns="0" rtlCol="0" anchor="t">
            <a:spAutoFit/>
          </a:bodyPr>
          <a:lstStyle/>
          <a:p>
            <a:pPr defTabSz="609630">
              <a:lnSpc>
                <a:spcPts val="1526"/>
              </a:lnSpc>
              <a:spcBef>
                <a:spcPct val="0"/>
              </a:spcBef>
            </a:pPr>
            <a:r>
              <a:rPr lang="en-US" sz="1090" spc="-54" dirty="0">
                <a:solidFill>
                  <a:srgbClr val="FFF8D4"/>
                </a:solidFill>
                <a:latin typeface="Montserrat"/>
                <a:ea typeface="Montserrat"/>
                <a:cs typeface="Montserrat"/>
                <a:sym typeface="Montserrat"/>
              </a:rPr>
              <a:t>At the same time, this analysis surfaced a consistent secondary pattern worth carrying into 2022 planning: several of the business's largest movers showed signs of value dilution alongside their growth  West Gear and the West region both saw meaningful declines in revenue-per-unit, and </a:t>
            </a:r>
            <a:r>
              <a:rPr lang="en-US" sz="1090" spc="-54" dirty="0" err="1">
                <a:solidFill>
                  <a:srgbClr val="FFF8D4"/>
                </a:solidFill>
                <a:latin typeface="Montserrat"/>
                <a:ea typeface="Montserrat"/>
                <a:cs typeface="Montserrat"/>
                <a:sym typeface="Montserrat"/>
              </a:rPr>
              <a:t>Online's</a:t>
            </a:r>
            <a:r>
              <a:rPr lang="en-US" sz="1090" spc="-54" dirty="0">
                <a:solidFill>
                  <a:srgbClr val="FFF8D4"/>
                </a:solidFill>
                <a:latin typeface="Montserrat"/>
                <a:ea typeface="Montserrat"/>
                <a:cs typeface="Montserrat"/>
                <a:sym typeface="Montserrat"/>
              </a:rPr>
              <a:t> dramatic transaction-value growth still requires validation against its 2020 launch timeline before being treated as confirmed. None of these findings currently justify major corrective action on their own, but together they suggest the same underlying question worth resolving before 2022 budget and retailer decisions are finalized: how much of 2021's growth reflects sustainable expansion in scale, and how much reflects a shift in pricing or channel mix that should be actively managed rather than left to continue unexamined. The recommended next steps in this report  particularly the four "Investigate Before Acting" items  are the fastest path to answering that question with the data already available.</a:t>
            </a:r>
          </a:p>
        </p:txBody>
      </p:sp>
    </p:spTree>
    <p:extLst>
      <p:ext uri="{BB962C8B-B14F-4D97-AF65-F5344CB8AC3E}">
        <p14:creationId xmlns:p14="http://schemas.microsoft.com/office/powerpoint/2010/main" val="3279793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93232" y="4540340"/>
            <a:ext cx="11998769" cy="2169230"/>
            <a:chOff x="0" y="0"/>
            <a:chExt cx="4740254" cy="1196035"/>
          </a:xfrm>
        </p:grpSpPr>
        <p:sp>
          <p:nvSpPr>
            <p:cNvPr id="3" name="Freeform 3"/>
            <p:cNvSpPr/>
            <p:nvPr/>
          </p:nvSpPr>
          <p:spPr>
            <a:xfrm>
              <a:off x="0" y="0"/>
              <a:ext cx="4740254" cy="1196035"/>
            </a:xfrm>
            <a:custGeom>
              <a:avLst/>
              <a:gdLst/>
              <a:ahLst/>
              <a:cxnLst/>
              <a:rect l="l" t="t" r="r" b="b"/>
              <a:pathLst>
                <a:path w="4740254" h="1196035">
                  <a:moveTo>
                    <a:pt x="0" y="0"/>
                  </a:moveTo>
                  <a:lnTo>
                    <a:pt x="4740254" y="0"/>
                  </a:lnTo>
                  <a:lnTo>
                    <a:pt x="4740254" y="1196035"/>
                  </a:lnTo>
                  <a:lnTo>
                    <a:pt x="0" y="1196035"/>
                  </a:lnTo>
                  <a:close/>
                </a:path>
              </a:pathLst>
            </a:custGeom>
            <a:solidFill>
              <a:srgbClr val="0C0C0C"/>
            </a:solidFill>
          </p:spPr>
        </p:sp>
        <p:sp>
          <p:nvSpPr>
            <p:cNvPr id="4" name="TextBox 4"/>
            <p:cNvSpPr txBox="1"/>
            <p:nvPr/>
          </p:nvSpPr>
          <p:spPr>
            <a:xfrm>
              <a:off x="0" y="-38100"/>
              <a:ext cx="4740254" cy="1234135"/>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378006" y="5627044"/>
            <a:ext cx="9338630" cy="634916"/>
          </a:xfrm>
          <a:custGeom>
            <a:avLst/>
            <a:gdLst/>
            <a:ahLst/>
            <a:cxnLst/>
            <a:rect l="l" t="t" r="r" b="b"/>
            <a:pathLst>
              <a:path w="14007945" h="952374">
                <a:moveTo>
                  <a:pt x="0" y="0"/>
                </a:moveTo>
                <a:lnTo>
                  <a:pt x="14007945" y="0"/>
                </a:lnTo>
                <a:lnTo>
                  <a:pt x="14007945" y="952374"/>
                </a:lnTo>
                <a:lnTo>
                  <a:pt x="0" y="952374"/>
                </a:lnTo>
                <a:lnTo>
                  <a:pt x="0" y="0"/>
                </a:lnTo>
                <a:close/>
              </a:path>
            </a:pathLst>
          </a:custGeom>
          <a:blipFill>
            <a:blip r:embed="rId2"/>
            <a:stretch>
              <a:fillRect t="-2584"/>
            </a:stretch>
          </a:blipFill>
        </p:spPr>
      </p:sp>
      <p:sp>
        <p:nvSpPr>
          <p:cNvPr id="6" name="TextBox 6"/>
          <p:cNvSpPr txBox="1"/>
          <p:nvPr/>
        </p:nvSpPr>
        <p:spPr>
          <a:xfrm>
            <a:off x="2799218" y="128649"/>
            <a:ext cx="5881660" cy="1194622"/>
          </a:xfrm>
          <a:prstGeom prst="rect">
            <a:avLst/>
          </a:prstGeom>
        </p:spPr>
        <p:txBody>
          <a:bodyPr lIns="0" tIns="0" rIns="0" bIns="0" rtlCol="0" anchor="t">
            <a:spAutoFit/>
          </a:bodyPr>
          <a:lstStyle/>
          <a:p>
            <a:pPr algn="ctr" defTabSz="609630">
              <a:lnSpc>
                <a:spcPts val="3173"/>
              </a:lnSpc>
            </a:pPr>
            <a:r>
              <a:rPr lang="en-US" sz="2266" b="1" dirty="0">
                <a:solidFill>
                  <a:srgbClr val="0C0C0C"/>
                </a:solidFill>
                <a:latin typeface="Canva Sans Bold"/>
                <a:ea typeface="Canva Sans Bold"/>
                <a:cs typeface="Canva Sans Bold"/>
                <a:sym typeface="Canva Sans Bold"/>
              </a:rPr>
              <a:t>APPENDIX</a:t>
            </a:r>
          </a:p>
          <a:p>
            <a:pPr algn="ctr" defTabSz="609630">
              <a:lnSpc>
                <a:spcPts val="3173"/>
              </a:lnSpc>
            </a:pPr>
            <a:r>
              <a:rPr lang="en-US" sz="2266" b="1" dirty="0">
                <a:solidFill>
                  <a:srgbClr val="0C0C0C"/>
                </a:solidFill>
                <a:latin typeface="Canva Sans Bold"/>
                <a:ea typeface="Canva Sans Bold"/>
                <a:cs typeface="Canva Sans Bold"/>
                <a:sym typeface="Canva Sans Bold"/>
              </a:rPr>
              <a:t>Revenue overview</a:t>
            </a:r>
          </a:p>
          <a:p>
            <a:pPr algn="ctr" defTabSz="609630">
              <a:lnSpc>
                <a:spcPts val="3173"/>
              </a:lnSpc>
            </a:pPr>
            <a:endParaRPr lang="en-US" sz="2266" b="1" dirty="0">
              <a:solidFill>
                <a:srgbClr val="0C0C0C"/>
              </a:solidFill>
              <a:latin typeface="Canva Sans Bold"/>
              <a:ea typeface="Canva Sans Bold"/>
              <a:cs typeface="Canva Sans Bold"/>
              <a:sym typeface="Canva Sans Bold"/>
            </a:endParaRPr>
          </a:p>
        </p:txBody>
      </p:sp>
      <p:sp>
        <p:nvSpPr>
          <p:cNvPr id="7" name="TextBox 7"/>
          <p:cNvSpPr txBox="1"/>
          <p:nvPr/>
        </p:nvSpPr>
        <p:spPr>
          <a:xfrm>
            <a:off x="313637" y="1741463"/>
            <a:ext cx="10852822" cy="2695225"/>
          </a:xfrm>
          <a:prstGeom prst="rect">
            <a:avLst/>
          </a:prstGeom>
        </p:spPr>
        <p:txBody>
          <a:bodyPr lIns="0" tIns="0" rIns="0" bIns="0" rtlCol="0" anchor="t">
            <a:spAutoFit/>
          </a:bodyPr>
          <a:lstStyle/>
          <a:p>
            <a:pPr defTabSz="609630">
              <a:lnSpc>
                <a:spcPts val="1399"/>
              </a:lnSpc>
            </a:pPr>
            <a:r>
              <a:rPr lang="en-US" sz="1399" spc="-19" dirty="0">
                <a:solidFill>
                  <a:srgbClr val="525045"/>
                </a:solidFill>
                <a:latin typeface="Anton"/>
                <a:ea typeface="Anton"/>
                <a:cs typeface="Anton"/>
                <a:sym typeface="Anton"/>
              </a:rPr>
              <a:t>WITH REVENUE_OVERVIEW AS (</a:t>
            </a:r>
          </a:p>
          <a:p>
            <a:pPr defTabSz="609630">
              <a:lnSpc>
                <a:spcPts val="1399"/>
              </a:lnSpc>
            </a:pPr>
            <a:r>
              <a:rPr lang="en-US" sz="1399" spc="-19" dirty="0">
                <a:solidFill>
                  <a:srgbClr val="525045"/>
                </a:solidFill>
                <a:latin typeface="Anton"/>
                <a:ea typeface="Anton"/>
                <a:cs typeface="Anton"/>
                <a:sym typeface="Anton"/>
              </a:rPr>
              <a:t>    SELECT</a:t>
            </a:r>
          </a:p>
          <a:p>
            <a:pPr defTabSz="609630">
              <a:lnSpc>
                <a:spcPts val="1399"/>
              </a:lnSpc>
            </a:pPr>
            <a:r>
              <a:rPr lang="en-US" sz="1399" spc="-19" dirty="0">
                <a:solidFill>
                  <a:srgbClr val="525045"/>
                </a:solidFill>
                <a:latin typeface="Anton"/>
                <a:ea typeface="Anton"/>
                <a:cs typeface="Anton"/>
                <a:sym typeface="Anton"/>
              </a:rPr>
              <a:t>        SUM(</a:t>
            </a:r>
            <a:r>
              <a:rPr lang="en-US" sz="1399" spc="-19" dirty="0" err="1">
                <a:solidFill>
                  <a:srgbClr val="525045"/>
                </a:solidFill>
                <a:latin typeface="Anton"/>
                <a:ea typeface="Anton"/>
                <a:cs typeface="Anton"/>
                <a:sym typeface="Anton"/>
              </a:rPr>
              <a:t>Total_Sales</a:t>
            </a:r>
            <a:r>
              <a:rPr lang="en-US" sz="1399" spc="-19" dirty="0">
                <a:solidFill>
                  <a:srgbClr val="525045"/>
                </a:solidFill>
                <a:latin typeface="Anton"/>
                <a:ea typeface="Anton"/>
                <a:cs typeface="Anton"/>
                <a:sym typeface="Anton"/>
              </a:rPr>
              <a:t>) AS </a:t>
            </a:r>
            <a:r>
              <a:rPr lang="en-US" sz="1399" spc="-19" dirty="0" err="1">
                <a:solidFill>
                  <a:srgbClr val="525045"/>
                </a:solidFill>
                <a:latin typeface="Anton"/>
                <a:ea typeface="Anton"/>
                <a:cs typeface="Anton"/>
                <a:sym typeface="Anton"/>
              </a:rPr>
              <a:t>Total_Revenue</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SUM(</a:t>
            </a:r>
            <a:r>
              <a:rPr lang="en-US" sz="1399" spc="-19" dirty="0" err="1">
                <a:solidFill>
                  <a:srgbClr val="525045"/>
                </a:solidFill>
                <a:latin typeface="Anton"/>
                <a:ea typeface="Anton"/>
                <a:cs typeface="Anton"/>
                <a:sym typeface="Anton"/>
              </a:rPr>
              <a:t>Units_Sold</a:t>
            </a:r>
            <a:r>
              <a:rPr lang="en-US" sz="1399" spc="-19" dirty="0">
                <a:solidFill>
                  <a:srgbClr val="525045"/>
                </a:solidFill>
                <a:latin typeface="Anton"/>
                <a:ea typeface="Anton"/>
                <a:cs typeface="Anton"/>
                <a:sym typeface="Anton"/>
              </a:rPr>
              <a:t>) AS </a:t>
            </a:r>
            <a:r>
              <a:rPr lang="en-US" sz="1399" spc="-19" dirty="0" err="1">
                <a:solidFill>
                  <a:srgbClr val="525045"/>
                </a:solidFill>
                <a:latin typeface="Anton"/>
                <a:ea typeface="Anton"/>
                <a:cs typeface="Anton"/>
                <a:sym typeface="Anton"/>
              </a:rPr>
              <a:t>Total_Units_Sold</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SUM(</a:t>
            </a:r>
            <a:r>
              <a:rPr lang="en-US" sz="1399" spc="-19" dirty="0" err="1">
                <a:solidFill>
                  <a:srgbClr val="525045"/>
                </a:solidFill>
                <a:latin typeface="Anton"/>
                <a:ea typeface="Anton"/>
                <a:cs typeface="Anton"/>
                <a:sym typeface="Anton"/>
              </a:rPr>
              <a:t>Operating_Profit</a:t>
            </a:r>
            <a:r>
              <a:rPr lang="en-US" sz="1399" spc="-19" dirty="0">
                <a:solidFill>
                  <a:srgbClr val="525045"/>
                </a:solidFill>
                <a:latin typeface="Anton"/>
                <a:ea typeface="Anton"/>
                <a:cs typeface="Anton"/>
                <a:sym typeface="Anton"/>
              </a:rPr>
              <a:t>) AS </a:t>
            </a:r>
            <a:r>
              <a:rPr lang="en-US" sz="1399" spc="-19" dirty="0" err="1">
                <a:solidFill>
                  <a:srgbClr val="525045"/>
                </a:solidFill>
                <a:latin typeface="Anton"/>
                <a:ea typeface="Anton"/>
                <a:cs typeface="Anton"/>
                <a:sym typeface="Anton"/>
              </a:rPr>
              <a:t>Total_Profits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 AS </a:t>
            </a:r>
            <a:r>
              <a:rPr lang="en-US" sz="1399" spc="-19" dirty="0" err="1">
                <a:solidFill>
                  <a:srgbClr val="525045"/>
                </a:solidFill>
                <a:latin typeface="Anton"/>
                <a:ea typeface="Anton"/>
                <a:cs typeface="Anton"/>
                <a:sym typeface="Anton"/>
              </a:rPr>
              <a:t>Total_Orders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Product) AS </a:t>
            </a:r>
            <a:r>
              <a:rPr lang="en-US" sz="1399" spc="-19" dirty="0" err="1">
                <a:solidFill>
                  <a:srgbClr val="525045"/>
                </a:solidFill>
                <a:latin typeface="Anton"/>
                <a:ea typeface="Anton"/>
                <a:cs typeface="Anton"/>
                <a:sym typeface="Anton"/>
              </a:rPr>
              <a:t>Total_Products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Retailer) AS </a:t>
            </a:r>
            <a:r>
              <a:rPr lang="en-US" sz="1399" spc="-19" dirty="0" err="1">
                <a:solidFill>
                  <a:srgbClr val="525045"/>
                </a:solidFill>
                <a:latin typeface="Anton"/>
                <a:ea typeface="Anton"/>
                <a:cs typeface="Anton"/>
                <a:sym typeface="Anton"/>
              </a:rPr>
              <a:t>Total_Retailers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Region) AS </a:t>
            </a:r>
            <a:r>
              <a:rPr lang="en-US" sz="1399" spc="-19" dirty="0" err="1">
                <a:solidFill>
                  <a:srgbClr val="525045"/>
                </a:solidFill>
                <a:latin typeface="Anton"/>
                <a:ea typeface="Anton"/>
                <a:cs typeface="Anton"/>
                <a:sym typeface="Anton"/>
              </a:rPr>
              <a:t>Total_Region</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State) AS </a:t>
            </a:r>
            <a:r>
              <a:rPr lang="en-US" sz="1399" spc="-19" dirty="0" err="1">
                <a:solidFill>
                  <a:srgbClr val="525045"/>
                </a:solidFill>
                <a:latin typeface="Anton"/>
                <a:ea typeface="Anton"/>
                <a:cs typeface="Anton"/>
                <a:sym typeface="Anton"/>
              </a:rPr>
              <a:t>Total_States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City) AS </a:t>
            </a:r>
            <a:r>
              <a:rPr lang="en-US" sz="1399" spc="-19" dirty="0" err="1">
                <a:solidFill>
                  <a:srgbClr val="525045"/>
                </a:solidFill>
                <a:latin typeface="Anton"/>
                <a:ea typeface="Anton"/>
                <a:cs typeface="Anton"/>
                <a:sym typeface="Anton"/>
              </a:rPr>
              <a:t>Total_Cities</a:t>
            </a:r>
            <a:r>
              <a:rPr lang="en-US" sz="1399" spc="-19" dirty="0">
                <a:solidFill>
                  <a:srgbClr val="525045"/>
                </a:solidFill>
                <a:latin typeface="Anton"/>
                <a:ea typeface="Anton"/>
                <a:cs typeface="Anton"/>
                <a:sym typeface="Anton"/>
              </a:rPr>
              <a:t>,</a:t>
            </a:r>
          </a:p>
          <a:p>
            <a:pPr defTabSz="609630">
              <a:lnSpc>
                <a:spcPts val="1399"/>
              </a:lnSpc>
            </a:pPr>
            <a:r>
              <a:rPr lang="en-US" sz="1399" spc="-19" dirty="0">
                <a:solidFill>
                  <a:srgbClr val="525045"/>
                </a:solidFill>
                <a:latin typeface="Anton"/>
                <a:ea typeface="Anton"/>
                <a:cs typeface="Anton"/>
                <a:sym typeface="Anton"/>
              </a:rPr>
              <a:t>        COUNT(DISTINCT </a:t>
            </a:r>
            <a:r>
              <a:rPr lang="en-US" sz="1399" spc="-19" dirty="0" err="1">
                <a:solidFill>
                  <a:srgbClr val="525045"/>
                </a:solidFill>
                <a:latin typeface="Anton"/>
                <a:ea typeface="Anton"/>
                <a:cs typeface="Anton"/>
                <a:sym typeface="Anton"/>
              </a:rPr>
              <a:t>Sales_Method</a:t>
            </a:r>
            <a:r>
              <a:rPr lang="en-US" sz="1399" spc="-19" dirty="0">
                <a:solidFill>
                  <a:srgbClr val="525045"/>
                </a:solidFill>
                <a:latin typeface="Anton"/>
                <a:ea typeface="Anton"/>
                <a:cs typeface="Anton"/>
                <a:sym typeface="Anton"/>
              </a:rPr>
              <a:t>) AS Total_Sales_Method</a:t>
            </a:r>
          </a:p>
          <a:p>
            <a:pPr defTabSz="609630">
              <a:lnSpc>
                <a:spcPts val="1399"/>
              </a:lnSpc>
            </a:pPr>
            <a:r>
              <a:rPr lang="en-US" sz="1399" spc="-19" dirty="0">
                <a:solidFill>
                  <a:srgbClr val="525045"/>
                </a:solidFill>
                <a:latin typeface="Anton"/>
                <a:ea typeface="Anton"/>
                <a:cs typeface="Anton"/>
                <a:sym typeface="Anton"/>
              </a:rPr>
              <a:t>    FROM </a:t>
            </a:r>
            <a:r>
              <a:rPr lang="en-US" sz="1399" spc="-19" dirty="0" err="1">
                <a:solidFill>
                  <a:srgbClr val="525045"/>
                </a:solidFill>
                <a:latin typeface="Anton"/>
                <a:ea typeface="Anton"/>
                <a:cs typeface="Anton"/>
                <a:sym typeface="Anton"/>
              </a:rPr>
              <a:t>adidas_analytics_table</a:t>
            </a:r>
            <a:endParaRPr lang="en-US" sz="1399" spc="-19" dirty="0">
              <a:solidFill>
                <a:srgbClr val="525045"/>
              </a:solidFill>
              <a:latin typeface="Anton"/>
              <a:ea typeface="Anton"/>
              <a:cs typeface="Anton"/>
              <a:sym typeface="Anton"/>
            </a:endParaRPr>
          </a:p>
          <a:p>
            <a:pPr defTabSz="609630">
              <a:lnSpc>
                <a:spcPts val="1399"/>
              </a:lnSpc>
            </a:pPr>
            <a:r>
              <a:rPr lang="en-US" sz="1399" spc="-19" dirty="0">
                <a:solidFill>
                  <a:srgbClr val="525045"/>
                </a:solidFill>
                <a:latin typeface="Anton"/>
                <a:ea typeface="Anton"/>
                <a:cs typeface="Anton"/>
                <a:sym typeface="Anton"/>
              </a:rPr>
              <a:t>)</a:t>
            </a:r>
          </a:p>
          <a:p>
            <a:pPr defTabSz="609630">
              <a:lnSpc>
                <a:spcPts val="1399"/>
              </a:lnSpc>
              <a:spcBef>
                <a:spcPct val="0"/>
              </a:spcBef>
            </a:pPr>
            <a:r>
              <a:rPr lang="en-US" sz="1399" spc="-19" dirty="0">
                <a:solidFill>
                  <a:srgbClr val="525045"/>
                </a:solidFill>
                <a:latin typeface="Anton"/>
                <a:ea typeface="Anton"/>
                <a:cs typeface="Anton"/>
                <a:sym typeface="Anton"/>
              </a:rPr>
              <a:t>SELECT * FROM </a:t>
            </a:r>
            <a:r>
              <a:rPr lang="en-US" sz="1399" spc="-19" dirty="0" err="1">
                <a:solidFill>
                  <a:srgbClr val="525045"/>
                </a:solidFill>
                <a:latin typeface="Anton"/>
                <a:ea typeface="Anton"/>
                <a:cs typeface="Anton"/>
                <a:sym typeface="Anton"/>
              </a:rPr>
              <a:t>Revenue_Overview</a:t>
            </a:r>
            <a:r>
              <a:rPr lang="en-US" sz="1399" spc="-19" dirty="0">
                <a:solidFill>
                  <a:srgbClr val="525045"/>
                </a:solidFill>
                <a:latin typeface="Anton"/>
                <a:ea typeface="Anton"/>
                <a:cs typeface="Anton"/>
                <a:sym typeface="Anton"/>
              </a:rPr>
              <a:t>;</a:t>
            </a:r>
          </a:p>
        </p:txBody>
      </p:sp>
    </p:spTree>
    <p:extLst>
      <p:ext uri="{BB962C8B-B14F-4D97-AF65-F5344CB8AC3E}">
        <p14:creationId xmlns:p14="http://schemas.microsoft.com/office/powerpoint/2010/main" val="4144934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93232" y="3429000"/>
            <a:ext cx="11998769" cy="3280569"/>
            <a:chOff x="0" y="0"/>
            <a:chExt cx="4740254" cy="1296027"/>
          </a:xfrm>
        </p:grpSpPr>
        <p:sp>
          <p:nvSpPr>
            <p:cNvPr id="3" name="Freeform 3"/>
            <p:cNvSpPr/>
            <p:nvPr/>
          </p:nvSpPr>
          <p:spPr>
            <a:xfrm>
              <a:off x="0" y="0"/>
              <a:ext cx="4740254" cy="1296027"/>
            </a:xfrm>
            <a:custGeom>
              <a:avLst/>
              <a:gdLst/>
              <a:ahLst/>
              <a:cxnLst/>
              <a:rect l="l" t="t" r="r" b="b"/>
              <a:pathLst>
                <a:path w="4740254" h="1296027">
                  <a:moveTo>
                    <a:pt x="0" y="0"/>
                  </a:moveTo>
                  <a:lnTo>
                    <a:pt x="4740254" y="0"/>
                  </a:lnTo>
                  <a:lnTo>
                    <a:pt x="4740254" y="1296027"/>
                  </a:lnTo>
                  <a:lnTo>
                    <a:pt x="0" y="1296027"/>
                  </a:lnTo>
                  <a:close/>
                </a:path>
              </a:pathLst>
            </a:custGeom>
            <a:solidFill>
              <a:srgbClr val="0C0C0C"/>
            </a:solidFill>
          </p:spPr>
        </p:sp>
        <p:sp>
          <p:nvSpPr>
            <p:cNvPr id="4" name="TextBox 4"/>
            <p:cNvSpPr txBox="1"/>
            <p:nvPr/>
          </p:nvSpPr>
          <p:spPr>
            <a:xfrm>
              <a:off x="0" y="-38100"/>
              <a:ext cx="4740254" cy="1334127"/>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313637" y="3602715"/>
            <a:ext cx="6946539" cy="1329481"/>
          </a:xfrm>
          <a:custGeom>
            <a:avLst/>
            <a:gdLst/>
            <a:ahLst/>
            <a:cxnLst/>
            <a:rect l="l" t="t" r="r" b="b"/>
            <a:pathLst>
              <a:path w="10419808" h="1994222">
                <a:moveTo>
                  <a:pt x="0" y="0"/>
                </a:moveTo>
                <a:lnTo>
                  <a:pt x="10419808" y="0"/>
                </a:lnTo>
                <a:lnTo>
                  <a:pt x="10419808" y="1994222"/>
                </a:lnTo>
                <a:lnTo>
                  <a:pt x="0" y="1994222"/>
                </a:lnTo>
                <a:lnTo>
                  <a:pt x="0" y="0"/>
                </a:lnTo>
                <a:close/>
              </a:path>
            </a:pathLst>
          </a:custGeom>
          <a:blipFill>
            <a:blip r:embed="rId2"/>
            <a:stretch>
              <a:fillRect/>
            </a:stretch>
          </a:blipFill>
        </p:spPr>
      </p:sp>
      <p:sp>
        <p:nvSpPr>
          <p:cNvPr id="6" name="TextBox 6"/>
          <p:cNvSpPr txBox="1"/>
          <p:nvPr/>
        </p:nvSpPr>
        <p:spPr>
          <a:xfrm>
            <a:off x="2799217" y="153069"/>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Supporting data-quality check</a:t>
            </a:r>
          </a:p>
        </p:txBody>
      </p:sp>
      <p:sp>
        <p:nvSpPr>
          <p:cNvPr id="7" name="TextBox 7"/>
          <p:cNvSpPr txBox="1"/>
          <p:nvPr/>
        </p:nvSpPr>
        <p:spPr>
          <a:xfrm>
            <a:off x="313637" y="1249447"/>
            <a:ext cx="10852822" cy="1184555"/>
          </a:xfrm>
          <a:prstGeom prst="rect">
            <a:avLst/>
          </a:prstGeom>
        </p:spPr>
        <p:txBody>
          <a:bodyPr lIns="0" tIns="0" rIns="0" bIns="0" rtlCol="0" anchor="t">
            <a:spAutoFit/>
          </a:bodyPr>
          <a:lstStyle/>
          <a:p>
            <a:pPr defTabSz="609630">
              <a:lnSpc>
                <a:spcPts val="2333"/>
              </a:lnSpc>
            </a:pPr>
            <a:r>
              <a:rPr lang="en-US" sz="2333" spc="-32">
                <a:solidFill>
                  <a:srgbClr val="525045"/>
                </a:solidFill>
                <a:latin typeface="Anton"/>
                <a:ea typeface="Anton"/>
                <a:cs typeface="Anton"/>
                <a:sym typeface="Anton"/>
              </a:rPr>
              <a:t>SELECT Year_Num, COUNT(DISTINCT Invoice_Date) AS days_with_data,</a:t>
            </a:r>
          </a:p>
          <a:p>
            <a:pPr defTabSz="609630">
              <a:lnSpc>
                <a:spcPts val="2333"/>
              </a:lnSpc>
            </a:pPr>
            <a:r>
              <a:rPr lang="en-US" sz="2333" spc="-32">
                <a:solidFill>
                  <a:srgbClr val="525045"/>
                </a:solidFill>
                <a:latin typeface="Anton"/>
                <a:ea typeface="Anton"/>
                <a:cs typeface="Anton"/>
                <a:sym typeface="Anton"/>
              </a:rPr>
              <a:t>       MIN(Invoice_Date) AS earliest, MAX(Invoice_Date) AS latest</a:t>
            </a:r>
          </a:p>
          <a:p>
            <a:pPr defTabSz="609630">
              <a:lnSpc>
                <a:spcPts val="2333"/>
              </a:lnSpc>
            </a:pPr>
            <a:r>
              <a:rPr lang="en-US" sz="2333" spc="-32">
                <a:solidFill>
                  <a:srgbClr val="525045"/>
                </a:solidFill>
                <a:latin typeface="Anton"/>
                <a:ea typeface="Anton"/>
                <a:cs typeface="Anton"/>
                <a:sym typeface="Anton"/>
              </a:rPr>
              <a:t>FROM adidas_analytics_table</a:t>
            </a:r>
          </a:p>
          <a:p>
            <a:pPr defTabSz="609630">
              <a:lnSpc>
                <a:spcPts val="2333"/>
              </a:lnSpc>
              <a:spcBef>
                <a:spcPct val="0"/>
              </a:spcBef>
            </a:pPr>
            <a:r>
              <a:rPr lang="en-US" sz="2333" spc="-32">
                <a:solidFill>
                  <a:srgbClr val="525045"/>
                </a:solidFill>
                <a:latin typeface="Anton"/>
                <a:ea typeface="Anton"/>
                <a:cs typeface="Anton"/>
                <a:sym typeface="Anton"/>
              </a:rPr>
              <a:t>GROUP BY Year_Num;</a:t>
            </a:r>
          </a:p>
        </p:txBody>
      </p:sp>
    </p:spTree>
    <p:extLst>
      <p:ext uri="{BB962C8B-B14F-4D97-AF65-F5344CB8AC3E}">
        <p14:creationId xmlns:p14="http://schemas.microsoft.com/office/powerpoint/2010/main" val="2260315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93232" y="4091708"/>
            <a:ext cx="11998769" cy="2617861"/>
            <a:chOff x="0" y="0"/>
            <a:chExt cx="4740254" cy="1034217"/>
          </a:xfrm>
        </p:grpSpPr>
        <p:sp>
          <p:nvSpPr>
            <p:cNvPr id="3" name="Freeform 3"/>
            <p:cNvSpPr/>
            <p:nvPr/>
          </p:nvSpPr>
          <p:spPr>
            <a:xfrm>
              <a:off x="0" y="0"/>
              <a:ext cx="4740254" cy="1034217"/>
            </a:xfrm>
            <a:custGeom>
              <a:avLst/>
              <a:gdLst/>
              <a:ahLst/>
              <a:cxnLst/>
              <a:rect l="l" t="t" r="r" b="b"/>
              <a:pathLst>
                <a:path w="4740254" h="1034217">
                  <a:moveTo>
                    <a:pt x="0" y="0"/>
                  </a:moveTo>
                  <a:lnTo>
                    <a:pt x="4740254" y="0"/>
                  </a:lnTo>
                  <a:lnTo>
                    <a:pt x="4740254" y="1034217"/>
                  </a:lnTo>
                  <a:lnTo>
                    <a:pt x="0" y="1034217"/>
                  </a:lnTo>
                  <a:close/>
                </a:path>
              </a:pathLst>
            </a:custGeom>
            <a:solidFill>
              <a:srgbClr val="0C0C0C"/>
            </a:solidFill>
          </p:spPr>
        </p:sp>
        <p:sp>
          <p:nvSpPr>
            <p:cNvPr id="4" name="TextBox 4"/>
            <p:cNvSpPr txBox="1"/>
            <p:nvPr/>
          </p:nvSpPr>
          <p:spPr>
            <a:xfrm>
              <a:off x="0" y="-38100"/>
              <a:ext cx="4740254" cy="1072317"/>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283329" y="4421109"/>
            <a:ext cx="8272899" cy="979530"/>
          </a:xfrm>
          <a:custGeom>
            <a:avLst/>
            <a:gdLst/>
            <a:ahLst/>
            <a:cxnLst/>
            <a:rect l="l" t="t" r="r" b="b"/>
            <a:pathLst>
              <a:path w="12409349" h="1469295">
                <a:moveTo>
                  <a:pt x="0" y="0"/>
                </a:moveTo>
                <a:lnTo>
                  <a:pt x="12409350" y="0"/>
                </a:lnTo>
                <a:lnTo>
                  <a:pt x="12409350" y="1469295"/>
                </a:lnTo>
                <a:lnTo>
                  <a:pt x="0" y="1469295"/>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Peak Month Revenue Per Year</a:t>
            </a:r>
          </a:p>
        </p:txBody>
      </p:sp>
      <p:sp>
        <p:nvSpPr>
          <p:cNvPr id="7" name="TextBox 7"/>
          <p:cNvSpPr txBox="1"/>
          <p:nvPr/>
        </p:nvSpPr>
        <p:spPr>
          <a:xfrm>
            <a:off x="685801" y="684363"/>
            <a:ext cx="5268051" cy="3247299"/>
          </a:xfrm>
          <a:prstGeom prst="rect">
            <a:avLst/>
          </a:prstGeom>
        </p:spPr>
        <p:txBody>
          <a:bodyPr lIns="0" tIns="0" rIns="0" bIns="0" rtlCol="0" anchor="t">
            <a:spAutoFit/>
          </a:bodyPr>
          <a:lstStyle/>
          <a:p>
            <a:pPr defTabSz="609630">
              <a:lnSpc>
                <a:spcPts val="1132"/>
              </a:lnSpc>
            </a:pPr>
            <a:r>
              <a:rPr lang="en-US" sz="1132" spc="-15">
                <a:solidFill>
                  <a:srgbClr val="525045"/>
                </a:solidFill>
                <a:latin typeface="Anton"/>
                <a:ea typeface="Anton"/>
                <a:cs typeface="Anton"/>
                <a:sym typeface="Anton"/>
              </a:rPr>
              <a:t>WITH Monthly_Revenue AS (</a:t>
            </a:r>
          </a:p>
          <a:p>
            <a:pPr defTabSz="609630">
              <a:lnSpc>
                <a:spcPts val="1132"/>
              </a:lnSpc>
            </a:pPr>
            <a:r>
              <a:rPr lang="en-US" sz="1132" spc="-15">
                <a:solidFill>
                  <a:srgbClr val="525045"/>
                </a:solidFill>
                <a:latin typeface="Anton"/>
                <a:ea typeface="Anton"/>
                <a:cs typeface="Anton"/>
                <a:sym typeface="Anton"/>
              </a:rPr>
              <a:t>    SELECT </a:t>
            </a:r>
          </a:p>
          <a:p>
            <a:pPr defTabSz="609630">
              <a:lnSpc>
                <a:spcPts val="1132"/>
              </a:lnSpc>
            </a:pPr>
            <a:r>
              <a:rPr lang="en-US" sz="1132" spc="-15">
                <a:solidFill>
                  <a:srgbClr val="525045"/>
                </a:solidFill>
                <a:latin typeface="Anton"/>
                <a:ea typeface="Anton"/>
                <a:cs typeface="Anton"/>
                <a:sym typeface="Anton"/>
              </a:rPr>
              <a:t>        Month_Name,</a:t>
            </a:r>
          </a:p>
          <a:p>
            <a:pPr defTabSz="609630">
              <a:lnSpc>
                <a:spcPts val="1132"/>
              </a:lnSpc>
            </a:pPr>
            <a:r>
              <a:rPr lang="en-US" sz="1132" spc="-15">
                <a:solidFill>
                  <a:srgbClr val="525045"/>
                </a:solidFill>
                <a:latin typeface="Anton"/>
                <a:ea typeface="Anton"/>
                <a:cs typeface="Anton"/>
                <a:sym typeface="Anton"/>
              </a:rPr>
              <a:t>        Year_Num,</a:t>
            </a:r>
          </a:p>
          <a:p>
            <a:pPr defTabSz="609630">
              <a:lnSpc>
                <a:spcPts val="1132"/>
              </a:lnSpc>
            </a:pPr>
            <a:r>
              <a:rPr lang="en-US" sz="1132" spc="-15">
                <a:solidFill>
                  <a:srgbClr val="525045"/>
                </a:solidFill>
                <a:latin typeface="Anton"/>
                <a:ea typeface="Anton"/>
                <a:cs typeface="Anton"/>
                <a:sym typeface="Anton"/>
              </a:rPr>
              <a:t>        SUM(Total_Sales) AS Highest_Total_Revenue,</a:t>
            </a:r>
          </a:p>
          <a:p>
            <a:pPr defTabSz="609630">
              <a:lnSpc>
                <a:spcPts val="1132"/>
              </a:lnSpc>
            </a:pPr>
            <a:r>
              <a:rPr lang="en-US" sz="1132" spc="-15">
                <a:solidFill>
                  <a:srgbClr val="525045"/>
                </a:solidFill>
                <a:latin typeface="Anton"/>
                <a:ea typeface="Anton"/>
                <a:cs typeface="Anton"/>
                <a:sym typeface="Anton"/>
              </a:rPr>
              <a:t>        RANK() OVER (PARTITION BY Year_Num ORDER BY SUM(Total_Sales) DESC) AS Ranked_Revenue</a:t>
            </a:r>
          </a:p>
          <a:p>
            <a:pPr defTabSz="609630">
              <a:lnSpc>
                <a:spcPts val="1132"/>
              </a:lnSpc>
            </a:pPr>
            <a:r>
              <a:rPr lang="en-US" sz="1132" spc="-15">
                <a:solidFill>
                  <a:srgbClr val="525045"/>
                </a:solidFill>
                <a:latin typeface="Anton"/>
                <a:ea typeface="Anton"/>
                <a:cs typeface="Anton"/>
                <a:sym typeface="Anton"/>
              </a:rPr>
              <a:t>    FROM adidas_analytics_table</a:t>
            </a:r>
          </a:p>
          <a:p>
            <a:pPr defTabSz="609630">
              <a:lnSpc>
                <a:spcPts val="1132"/>
              </a:lnSpc>
            </a:pPr>
            <a:r>
              <a:rPr lang="en-US" sz="1132" spc="-15">
                <a:solidFill>
                  <a:srgbClr val="525045"/>
                </a:solidFill>
                <a:latin typeface="Anton"/>
                <a:ea typeface="Anton"/>
                <a:cs typeface="Anton"/>
                <a:sym typeface="Anton"/>
              </a:rPr>
              <a:t>    GROUP BY Month_Name, Year_Num</a:t>
            </a:r>
          </a:p>
          <a:p>
            <a:pPr defTabSz="609630">
              <a:lnSpc>
                <a:spcPts val="1132"/>
              </a:lnSpc>
            </a:pPr>
            <a:r>
              <a:rPr lang="en-US" sz="1132" spc="-15">
                <a:solidFill>
                  <a:srgbClr val="525045"/>
                </a:solidFill>
                <a:latin typeface="Anton"/>
                <a:ea typeface="Anton"/>
                <a:cs typeface="Anton"/>
                <a:sym typeface="Anton"/>
              </a:rPr>
              <a:t>),</a:t>
            </a:r>
          </a:p>
          <a:p>
            <a:pPr defTabSz="609630">
              <a:lnSpc>
                <a:spcPts val="1132"/>
              </a:lnSpc>
            </a:pPr>
            <a:r>
              <a:rPr lang="en-US" sz="1132" spc="-15">
                <a:solidFill>
                  <a:srgbClr val="525045"/>
                </a:solidFill>
                <a:latin typeface="Anton"/>
                <a:ea typeface="Anton"/>
                <a:cs typeface="Anton"/>
                <a:sym typeface="Anton"/>
              </a:rPr>
              <a:t>Yearly_Revenue AS (</a:t>
            </a:r>
          </a:p>
          <a:p>
            <a:pPr defTabSz="609630">
              <a:lnSpc>
                <a:spcPts val="1132"/>
              </a:lnSpc>
            </a:pPr>
            <a:r>
              <a:rPr lang="en-US" sz="1132" spc="-15">
                <a:solidFill>
                  <a:srgbClr val="525045"/>
                </a:solidFill>
                <a:latin typeface="Anton"/>
                <a:ea typeface="Anton"/>
                <a:cs typeface="Anton"/>
                <a:sym typeface="Anton"/>
              </a:rPr>
              <a:t>    SELECT Year_Num, SUM(Total_Sales) AS Total_Yearly_Revenue</a:t>
            </a:r>
          </a:p>
          <a:p>
            <a:pPr defTabSz="609630">
              <a:lnSpc>
                <a:spcPts val="1132"/>
              </a:lnSpc>
            </a:pPr>
            <a:r>
              <a:rPr lang="en-US" sz="1132" spc="-15">
                <a:solidFill>
                  <a:srgbClr val="525045"/>
                </a:solidFill>
                <a:latin typeface="Anton"/>
                <a:ea typeface="Anton"/>
                <a:cs typeface="Anton"/>
                <a:sym typeface="Anton"/>
              </a:rPr>
              <a:t>    FROM adidas_analytics_table</a:t>
            </a:r>
          </a:p>
          <a:p>
            <a:pPr defTabSz="609630">
              <a:lnSpc>
                <a:spcPts val="1132"/>
              </a:lnSpc>
            </a:pPr>
            <a:r>
              <a:rPr lang="en-US" sz="1132" spc="-15">
                <a:solidFill>
                  <a:srgbClr val="525045"/>
                </a:solidFill>
                <a:latin typeface="Anton"/>
                <a:ea typeface="Anton"/>
                <a:cs typeface="Anton"/>
                <a:sym typeface="Anton"/>
              </a:rPr>
              <a:t>    GROUP BY Year_Num</a:t>
            </a:r>
          </a:p>
          <a:p>
            <a:pPr defTabSz="609630">
              <a:lnSpc>
                <a:spcPts val="1132"/>
              </a:lnSpc>
            </a:pPr>
            <a:r>
              <a:rPr lang="en-US" sz="1132" spc="-15">
                <a:solidFill>
                  <a:srgbClr val="525045"/>
                </a:solidFill>
                <a:latin typeface="Anton"/>
                <a:ea typeface="Anton"/>
                <a:cs typeface="Anton"/>
                <a:sym typeface="Anton"/>
              </a:rPr>
              <a:t>)</a:t>
            </a:r>
          </a:p>
          <a:p>
            <a:pPr defTabSz="609630">
              <a:lnSpc>
                <a:spcPts val="1132"/>
              </a:lnSpc>
            </a:pPr>
            <a:r>
              <a:rPr lang="en-US" sz="1132" spc="-15">
                <a:solidFill>
                  <a:srgbClr val="525045"/>
                </a:solidFill>
                <a:latin typeface="Anton"/>
                <a:ea typeface="Anton"/>
                <a:cs typeface="Anton"/>
                <a:sym typeface="Anton"/>
              </a:rPr>
              <a:t>SELECT</a:t>
            </a:r>
          </a:p>
          <a:p>
            <a:pPr defTabSz="609630">
              <a:lnSpc>
                <a:spcPts val="1132"/>
              </a:lnSpc>
            </a:pPr>
            <a:r>
              <a:rPr lang="en-US" sz="1132" spc="-15">
                <a:solidFill>
                  <a:srgbClr val="525045"/>
                </a:solidFill>
                <a:latin typeface="Anton"/>
                <a:ea typeface="Anton"/>
                <a:cs typeface="Anton"/>
                <a:sym typeface="Anton"/>
              </a:rPr>
              <a:t>    m.Year_Num, m.Month_Name, m.Highest_Total_Revenue,</a:t>
            </a:r>
          </a:p>
          <a:p>
            <a:pPr defTabSz="609630">
              <a:lnSpc>
                <a:spcPts val="1132"/>
              </a:lnSpc>
            </a:pPr>
            <a:r>
              <a:rPr lang="en-US" sz="1132" spc="-15">
                <a:solidFill>
                  <a:srgbClr val="525045"/>
                </a:solidFill>
                <a:latin typeface="Anton"/>
                <a:ea typeface="Anton"/>
                <a:cs typeface="Anton"/>
                <a:sym typeface="Anton"/>
              </a:rPr>
              <a:t>    y.Total_Yearly_Revenue,</a:t>
            </a:r>
          </a:p>
          <a:p>
            <a:pPr defTabSz="609630">
              <a:lnSpc>
                <a:spcPts val="1132"/>
              </a:lnSpc>
            </a:pPr>
            <a:r>
              <a:rPr lang="en-US" sz="1132" spc="-15">
                <a:solidFill>
                  <a:srgbClr val="525045"/>
                </a:solidFill>
                <a:latin typeface="Anton"/>
                <a:ea typeface="Anton"/>
                <a:cs typeface="Anton"/>
                <a:sym typeface="Anton"/>
              </a:rPr>
              <a:t>    (m.Highest_Total_Revenue / y.Total_Yearly_Revenue) * 100 AS Percentage_Revenue_Difference,</a:t>
            </a:r>
          </a:p>
          <a:p>
            <a:pPr defTabSz="609630">
              <a:lnSpc>
                <a:spcPts val="1132"/>
              </a:lnSpc>
            </a:pPr>
            <a:r>
              <a:rPr lang="en-US" sz="1132" spc="-15">
                <a:solidFill>
                  <a:srgbClr val="525045"/>
                </a:solidFill>
                <a:latin typeface="Anton"/>
                <a:ea typeface="Anton"/>
                <a:cs typeface="Anton"/>
                <a:sym typeface="Anton"/>
              </a:rPr>
              <a:t>    m.Ranked_Revenue</a:t>
            </a:r>
          </a:p>
          <a:p>
            <a:pPr defTabSz="609630">
              <a:lnSpc>
                <a:spcPts val="1132"/>
              </a:lnSpc>
            </a:pPr>
            <a:r>
              <a:rPr lang="en-US" sz="1132" spc="-15">
                <a:solidFill>
                  <a:srgbClr val="525045"/>
                </a:solidFill>
                <a:latin typeface="Anton"/>
                <a:ea typeface="Anton"/>
                <a:cs typeface="Anton"/>
                <a:sym typeface="Anton"/>
              </a:rPr>
              <a:t>FROM Monthly_Revenue m</a:t>
            </a:r>
          </a:p>
          <a:p>
            <a:pPr defTabSz="609630">
              <a:lnSpc>
                <a:spcPts val="1132"/>
              </a:lnSpc>
            </a:pPr>
            <a:r>
              <a:rPr lang="en-US" sz="1132" spc="-15">
                <a:solidFill>
                  <a:srgbClr val="525045"/>
                </a:solidFill>
                <a:latin typeface="Anton"/>
                <a:ea typeface="Anton"/>
                <a:cs typeface="Anton"/>
                <a:sym typeface="Anton"/>
              </a:rPr>
              <a:t>JOIN Yearly_Revenue y ON m.Year_Num = y.Year_Num</a:t>
            </a:r>
          </a:p>
          <a:p>
            <a:pPr defTabSz="609630">
              <a:lnSpc>
                <a:spcPts val="1132"/>
              </a:lnSpc>
              <a:spcBef>
                <a:spcPct val="0"/>
              </a:spcBef>
            </a:pPr>
            <a:r>
              <a:rPr lang="en-US" sz="1132" spc="-15">
                <a:solidFill>
                  <a:srgbClr val="525045"/>
                </a:solidFill>
                <a:latin typeface="Anton"/>
                <a:ea typeface="Anton"/>
                <a:cs typeface="Anton"/>
                <a:sym typeface="Anton"/>
              </a:rPr>
              <a:t>WHERE m.Ranked_Revenue = 1;</a:t>
            </a:r>
          </a:p>
        </p:txBody>
      </p:sp>
    </p:spTree>
    <p:extLst>
      <p:ext uri="{BB962C8B-B14F-4D97-AF65-F5344CB8AC3E}">
        <p14:creationId xmlns:p14="http://schemas.microsoft.com/office/powerpoint/2010/main" val="2295732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193232" y="4091708"/>
            <a:ext cx="11998769" cy="2617861"/>
            <a:chOff x="0" y="0"/>
            <a:chExt cx="4740254" cy="1034217"/>
          </a:xfrm>
        </p:grpSpPr>
        <p:sp>
          <p:nvSpPr>
            <p:cNvPr id="3" name="Freeform 3"/>
            <p:cNvSpPr/>
            <p:nvPr/>
          </p:nvSpPr>
          <p:spPr>
            <a:xfrm>
              <a:off x="0" y="0"/>
              <a:ext cx="4740254" cy="1034217"/>
            </a:xfrm>
            <a:custGeom>
              <a:avLst/>
              <a:gdLst/>
              <a:ahLst/>
              <a:cxnLst/>
              <a:rect l="l" t="t" r="r" b="b"/>
              <a:pathLst>
                <a:path w="4740254" h="1034217">
                  <a:moveTo>
                    <a:pt x="0" y="0"/>
                  </a:moveTo>
                  <a:lnTo>
                    <a:pt x="4740254" y="0"/>
                  </a:lnTo>
                  <a:lnTo>
                    <a:pt x="4740254" y="1034217"/>
                  </a:lnTo>
                  <a:lnTo>
                    <a:pt x="0" y="1034217"/>
                  </a:lnTo>
                  <a:close/>
                </a:path>
              </a:pathLst>
            </a:custGeom>
            <a:solidFill>
              <a:srgbClr val="0C0C0C"/>
            </a:solidFill>
          </p:spPr>
        </p:sp>
        <p:sp>
          <p:nvSpPr>
            <p:cNvPr id="4" name="TextBox 4"/>
            <p:cNvSpPr txBox="1"/>
            <p:nvPr/>
          </p:nvSpPr>
          <p:spPr>
            <a:xfrm>
              <a:off x="0" y="-38100"/>
              <a:ext cx="4740254" cy="1072317"/>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306033" y="4447708"/>
            <a:ext cx="8029525" cy="1100729"/>
          </a:xfrm>
          <a:custGeom>
            <a:avLst/>
            <a:gdLst/>
            <a:ahLst/>
            <a:cxnLst/>
            <a:rect l="l" t="t" r="r" b="b"/>
            <a:pathLst>
              <a:path w="12044287" h="1651093">
                <a:moveTo>
                  <a:pt x="0" y="0"/>
                </a:moveTo>
                <a:lnTo>
                  <a:pt x="12044287" y="0"/>
                </a:lnTo>
                <a:lnTo>
                  <a:pt x="12044287" y="1651093"/>
                </a:lnTo>
                <a:lnTo>
                  <a:pt x="0" y="1651093"/>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Peak Day Revenue</a:t>
            </a:r>
          </a:p>
        </p:txBody>
      </p:sp>
      <p:sp>
        <p:nvSpPr>
          <p:cNvPr id="7" name="TextBox 7"/>
          <p:cNvSpPr txBox="1"/>
          <p:nvPr/>
        </p:nvSpPr>
        <p:spPr>
          <a:xfrm>
            <a:off x="685801" y="684363"/>
            <a:ext cx="5268051" cy="3247299"/>
          </a:xfrm>
          <a:prstGeom prst="rect">
            <a:avLst/>
          </a:prstGeom>
        </p:spPr>
        <p:txBody>
          <a:bodyPr lIns="0" tIns="0" rIns="0" bIns="0" rtlCol="0" anchor="t">
            <a:spAutoFit/>
          </a:bodyPr>
          <a:lstStyle/>
          <a:p>
            <a:pPr defTabSz="609630">
              <a:lnSpc>
                <a:spcPts val="1132"/>
              </a:lnSpc>
            </a:pPr>
            <a:r>
              <a:rPr lang="en-US" sz="1132" spc="-15">
                <a:solidFill>
                  <a:srgbClr val="525045"/>
                </a:solidFill>
                <a:latin typeface="Anton"/>
                <a:ea typeface="Anton"/>
                <a:cs typeface="Anton"/>
                <a:sym typeface="Anton"/>
              </a:rPr>
              <a:t>WWITH Daily_Revenue AS (</a:t>
            </a:r>
          </a:p>
          <a:p>
            <a:pPr defTabSz="609630">
              <a:lnSpc>
                <a:spcPts val="1132"/>
              </a:lnSpc>
            </a:pPr>
            <a:r>
              <a:rPr lang="en-US" sz="1132" spc="-15">
                <a:solidFill>
                  <a:srgbClr val="525045"/>
                </a:solidFill>
                <a:latin typeface="Anton"/>
                <a:ea typeface="Anton"/>
                <a:cs typeface="Anton"/>
                <a:sym typeface="Anton"/>
              </a:rPr>
              <a:t>    SELECT </a:t>
            </a:r>
          </a:p>
          <a:p>
            <a:pPr defTabSz="609630">
              <a:lnSpc>
                <a:spcPts val="1132"/>
              </a:lnSpc>
            </a:pPr>
            <a:r>
              <a:rPr lang="en-US" sz="1132" spc="-15">
                <a:solidFill>
                  <a:srgbClr val="525045"/>
                </a:solidFill>
                <a:latin typeface="Anton"/>
                <a:ea typeface="Anton"/>
                <a:cs typeface="Anton"/>
                <a:sym typeface="Anton"/>
              </a:rPr>
              <a:t>        Day_Name,</a:t>
            </a:r>
          </a:p>
          <a:p>
            <a:pPr defTabSz="609630">
              <a:lnSpc>
                <a:spcPts val="1132"/>
              </a:lnSpc>
            </a:pPr>
            <a:r>
              <a:rPr lang="en-US" sz="1132" spc="-15">
                <a:solidFill>
                  <a:srgbClr val="525045"/>
                </a:solidFill>
                <a:latin typeface="Anton"/>
                <a:ea typeface="Anton"/>
                <a:cs typeface="Anton"/>
                <a:sym typeface="Anton"/>
              </a:rPr>
              <a:t>        Year_Num,</a:t>
            </a:r>
          </a:p>
          <a:p>
            <a:pPr defTabSz="609630">
              <a:lnSpc>
                <a:spcPts val="1132"/>
              </a:lnSpc>
            </a:pPr>
            <a:r>
              <a:rPr lang="en-US" sz="1132" spc="-15">
                <a:solidFill>
                  <a:srgbClr val="525045"/>
                </a:solidFill>
                <a:latin typeface="Anton"/>
                <a:ea typeface="Anton"/>
                <a:cs typeface="Anton"/>
                <a:sym typeface="Anton"/>
              </a:rPr>
              <a:t>        SUM(Total_Sales) AS Highest_Total_Revenue,</a:t>
            </a:r>
          </a:p>
          <a:p>
            <a:pPr defTabSz="609630">
              <a:lnSpc>
                <a:spcPts val="1132"/>
              </a:lnSpc>
            </a:pPr>
            <a:r>
              <a:rPr lang="en-US" sz="1132" spc="-15">
                <a:solidFill>
                  <a:srgbClr val="525045"/>
                </a:solidFill>
                <a:latin typeface="Anton"/>
                <a:ea typeface="Anton"/>
                <a:cs typeface="Anton"/>
                <a:sym typeface="Anton"/>
              </a:rPr>
              <a:t>        RANK() OVER (PARTITION BY Year_Num ORDER BY SUM(Total_Sales) DESC) AS Ranked_Revenue</a:t>
            </a:r>
          </a:p>
          <a:p>
            <a:pPr defTabSz="609630">
              <a:lnSpc>
                <a:spcPts val="1132"/>
              </a:lnSpc>
            </a:pPr>
            <a:r>
              <a:rPr lang="en-US" sz="1132" spc="-15">
                <a:solidFill>
                  <a:srgbClr val="525045"/>
                </a:solidFill>
                <a:latin typeface="Anton"/>
                <a:ea typeface="Anton"/>
                <a:cs typeface="Anton"/>
                <a:sym typeface="Anton"/>
              </a:rPr>
              <a:t>    FROM adidas_analytics_table</a:t>
            </a:r>
          </a:p>
          <a:p>
            <a:pPr defTabSz="609630">
              <a:lnSpc>
                <a:spcPts val="1132"/>
              </a:lnSpc>
            </a:pPr>
            <a:r>
              <a:rPr lang="en-US" sz="1132" spc="-15">
                <a:solidFill>
                  <a:srgbClr val="525045"/>
                </a:solidFill>
                <a:latin typeface="Anton"/>
                <a:ea typeface="Anton"/>
                <a:cs typeface="Anton"/>
                <a:sym typeface="Anton"/>
              </a:rPr>
              <a:t>    GROUP BY Day_Name, Year_Num</a:t>
            </a:r>
          </a:p>
          <a:p>
            <a:pPr defTabSz="609630">
              <a:lnSpc>
                <a:spcPts val="1132"/>
              </a:lnSpc>
            </a:pPr>
            <a:r>
              <a:rPr lang="en-US" sz="1132" spc="-15">
                <a:solidFill>
                  <a:srgbClr val="525045"/>
                </a:solidFill>
                <a:latin typeface="Anton"/>
                <a:ea typeface="Anton"/>
                <a:cs typeface="Anton"/>
                <a:sym typeface="Anton"/>
              </a:rPr>
              <a:t>),</a:t>
            </a:r>
          </a:p>
          <a:p>
            <a:pPr defTabSz="609630">
              <a:lnSpc>
                <a:spcPts val="1132"/>
              </a:lnSpc>
            </a:pPr>
            <a:r>
              <a:rPr lang="en-US" sz="1132" spc="-15">
                <a:solidFill>
                  <a:srgbClr val="525045"/>
                </a:solidFill>
                <a:latin typeface="Anton"/>
                <a:ea typeface="Anton"/>
                <a:cs typeface="Anton"/>
                <a:sym typeface="Anton"/>
              </a:rPr>
              <a:t>Yearly_Revenue AS (</a:t>
            </a:r>
          </a:p>
          <a:p>
            <a:pPr defTabSz="609630">
              <a:lnSpc>
                <a:spcPts val="1132"/>
              </a:lnSpc>
            </a:pPr>
            <a:r>
              <a:rPr lang="en-US" sz="1132" spc="-15">
                <a:solidFill>
                  <a:srgbClr val="525045"/>
                </a:solidFill>
                <a:latin typeface="Anton"/>
                <a:ea typeface="Anton"/>
                <a:cs typeface="Anton"/>
                <a:sym typeface="Anton"/>
              </a:rPr>
              <a:t>    SELECT Year_Num, SUM(Total_Sales) AS Total_Yearly_Revenue</a:t>
            </a:r>
          </a:p>
          <a:p>
            <a:pPr defTabSz="609630">
              <a:lnSpc>
                <a:spcPts val="1132"/>
              </a:lnSpc>
            </a:pPr>
            <a:r>
              <a:rPr lang="en-US" sz="1132" spc="-15">
                <a:solidFill>
                  <a:srgbClr val="525045"/>
                </a:solidFill>
                <a:latin typeface="Anton"/>
                <a:ea typeface="Anton"/>
                <a:cs typeface="Anton"/>
                <a:sym typeface="Anton"/>
              </a:rPr>
              <a:t>    FROM adidas_analytics_table</a:t>
            </a:r>
          </a:p>
          <a:p>
            <a:pPr defTabSz="609630">
              <a:lnSpc>
                <a:spcPts val="1132"/>
              </a:lnSpc>
            </a:pPr>
            <a:r>
              <a:rPr lang="en-US" sz="1132" spc="-15">
                <a:solidFill>
                  <a:srgbClr val="525045"/>
                </a:solidFill>
                <a:latin typeface="Anton"/>
                <a:ea typeface="Anton"/>
                <a:cs typeface="Anton"/>
                <a:sym typeface="Anton"/>
              </a:rPr>
              <a:t>    GROUP BY Year_Num</a:t>
            </a:r>
          </a:p>
          <a:p>
            <a:pPr defTabSz="609630">
              <a:lnSpc>
                <a:spcPts val="1132"/>
              </a:lnSpc>
            </a:pPr>
            <a:r>
              <a:rPr lang="en-US" sz="1132" spc="-15">
                <a:solidFill>
                  <a:srgbClr val="525045"/>
                </a:solidFill>
                <a:latin typeface="Anton"/>
                <a:ea typeface="Anton"/>
                <a:cs typeface="Anton"/>
                <a:sym typeface="Anton"/>
              </a:rPr>
              <a:t>)</a:t>
            </a:r>
          </a:p>
          <a:p>
            <a:pPr defTabSz="609630">
              <a:lnSpc>
                <a:spcPts val="1132"/>
              </a:lnSpc>
            </a:pPr>
            <a:r>
              <a:rPr lang="en-US" sz="1132" spc="-15">
                <a:solidFill>
                  <a:srgbClr val="525045"/>
                </a:solidFill>
                <a:latin typeface="Anton"/>
                <a:ea typeface="Anton"/>
                <a:cs typeface="Anton"/>
                <a:sym typeface="Anton"/>
              </a:rPr>
              <a:t>SELECT</a:t>
            </a:r>
          </a:p>
          <a:p>
            <a:pPr defTabSz="609630">
              <a:lnSpc>
                <a:spcPts val="1132"/>
              </a:lnSpc>
            </a:pPr>
            <a:r>
              <a:rPr lang="en-US" sz="1132" spc="-15">
                <a:solidFill>
                  <a:srgbClr val="525045"/>
                </a:solidFill>
                <a:latin typeface="Anton"/>
                <a:ea typeface="Anton"/>
                <a:cs typeface="Anton"/>
                <a:sym typeface="Anton"/>
              </a:rPr>
              <a:t>    d.Year_Num, d.Day_Name, d.Highest_Total_Revenue,</a:t>
            </a:r>
          </a:p>
          <a:p>
            <a:pPr defTabSz="609630">
              <a:lnSpc>
                <a:spcPts val="1132"/>
              </a:lnSpc>
            </a:pPr>
            <a:r>
              <a:rPr lang="en-US" sz="1132" spc="-15">
                <a:solidFill>
                  <a:srgbClr val="525045"/>
                </a:solidFill>
                <a:latin typeface="Anton"/>
                <a:ea typeface="Anton"/>
                <a:cs typeface="Anton"/>
                <a:sym typeface="Anton"/>
              </a:rPr>
              <a:t>    y.Total_Yearly_Revenue,</a:t>
            </a:r>
          </a:p>
          <a:p>
            <a:pPr defTabSz="609630">
              <a:lnSpc>
                <a:spcPts val="1132"/>
              </a:lnSpc>
            </a:pPr>
            <a:r>
              <a:rPr lang="en-US" sz="1132" spc="-15">
                <a:solidFill>
                  <a:srgbClr val="525045"/>
                </a:solidFill>
                <a:latin typeface="Anton"/>
                <a:ea typeface="Anton"/>
                <a:cs typeface="Anton"/>
                <a:sym typeface="Anton"/>
              </a:rPr>
              <a:t>    (d.Highest_Total_Revenue / y.Total_Yearly_Revenue) * 100 AS Percentage_Revenue_Difference,</a:t>
            </a:r>
          </a:p>
          <a:p>
            <a:pPr defTabSz="609630">
              <a:lnSpc>
                <a:spcPts val="1132"/>
              </a:lnSpc>
            </a:pPr>
            <a:r>
              <a:rPr lang="en-US" sz="1132" spc="-15">
                <a:solidFill>
                  <a:srgbClr val="525045"/>
                </a:solidFill>
                <a:latin typeface="Anton"/>
                <a:ea typeface="Anton"/>
                <a:cs typeface="Anton"/>
                <a:sym typeface="Anton"/>
              </a:rPr>
              <a:t>    d.Ranked_Revenue</a:t>
            </a:r>
          </a:p>
          <a:p>
            <a:pPr defTabSz="609630">
              <a:lnSpc>
                <a:spcPts val="1132"/>
              </a:lnSpc>
            </a:pPr>
            <a:r>
              <a:rPr lang="en-US" sz="1132" spc="-15">
                <a:solidFill>
                  <a:srgbClr val="525045"/>
                </a:solidFill>
                <a:latin typeface="Anton"/>
                <a:ea typeface="Anton"/>
                <a:cs typeface="Anton"/>
                <a:sym typeface="Anton"/>
              </a:rPr>
              <a:t>FROM Daily_Revenue d</a:t>
            </a:r>
          </a:p>
          <a:p>
            <a:pPr defTabSz="609630">
              <a:lnSpc>
                <a:spcPts val="1132"/>
              </a:lnSpc>
            </a:pPr>
            <a:r>
              <a:rPr lang="en-US" sz="1132" spc="-15">
                <a:solidFill>
                  <a:srgbClr val="525045"/>
                </a:solidFill>
                <a:latin typeface="Anton"/>
                <a:ea typeface="Anton"/>
                <a:cs typeface="Anton"/>
                <a:sym typeface="Anton"/>
              </a:rPr>
              <a:t>JOIN Yearly_Revenue y ON d.Year_Num = y.Year_Num</a:t>
            </a:r>
          </a:p>
          <a:p>
            <a:pPr defTabSz="609630">
              <a:lnSpc>
                <a:spcPts val="1132"/>
              </a:lnSpc>
              <a:spcBef>
                <a:spcPct val="0"/>
              </a:spcBef>
            </a:pPr>
            <a:r>
              <a:rPr lang="en-US" sz="1132" spc="-15">
                <a:solidFill>
                  <a:srgbClr val="525045"/>
                </a:solidFill>
                <a:latin typeface="Anton"/>
                <a:ea typeface="Anton"/>
                <a:cs typeface="Anton"/>
                <a:sym typeface="Anton"/>
              </a:rPr>
              <a:t>WHERE d.Ranked_Revenue = 1;</a:t>
            </a:r>
          </a:p>
        </p:txBody>
      </p:sp>
    </p:spTree>
    <p:extLst>
      <p:ext uri="{BB962C8B-B14F-4D97-AF65-F5344CB8AC3E}">
        <p14:creationId xmlns:p14="http://schemas.microsoft.com/office/powerpoint/2010/main" val="3764540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3429000"/>
            <a:ext cx="11998769" cy="2743200"/>
            <a:chOff x="0" y="0"/>
            <a:chExt cx="4740254" cy="1083733"/>
          </a:xfrm>
        </p:grpSpPr>
        <p:sp>
          <p:nvSpPr>
            <p:cNvPr id="3" name="Freeform 3"/>
            <p:cNvSpPr/>
            <p:nvPr/>
          </p:nvSpPr>
          <p:spPr>
            <a:xfrm>
              <a:off x="0" y="0"/>
              <a:ext cx="4740254" cy="1083733"/>
            </a:xfrm>
            <a:custGeom>
              <a:avLst/>
              <a:gdLst/>
              <a:ahLst/>
              <a:cxnLst/>
              <a:rect l="l" t="t" r="r" b="b"/>
              <a:pathLst>
                <a:path w="4740254" h="1083733">
                  <a:moveTo>
                    <a:pt x="0" y="0"/>
                  </a:moveTo>
                  <a:lnTo>
                    <a:pt x="4740254" y="0"/>
                  </a:lnTo>
                  <a:lnTo>
                    <a:pt x="4740254" y="1083733"/>
                  </a:lnTo>
                  <a:lnTo>
                    <a:pt x="0" y="1083733"/>
                  </a:lnTo>
                  <a:close/>
                </a:path>
              </a:pathLst>
            </a:custGeom>
            <a:solidFill>
              <a:srgbClr val="0C0C0C"/>
            </a:solidFill>
          </p:spPr>
        </p:sp>
        <p:sp>
          <p:nvSpPr>
            <p:cNvPr id="4" name="TextBox 4"/>
            <p:cNvSpPr txBox="1"/>
            <p:nvPr/>
          </p:nvSpPr>
          <p:spPr>
            <a:xfrm>
              <a:off x="0" y="-38100"/>
              <a:ext cx="4740254" cy="1121833"/>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96616" y="3675844"/>
            <a:ext cx="7427057" cy="2376658"/>
          </a:xfrm>
          <a:custGeom>
            <a:avLst/>
            <a:gdLst/>
            <a:ahLst/>
            <a:cxnLst/>
            <a:rect l="l" t="t" r="r" b="b"/>
            <a:pathLst>
              <a:path w="11140586" h="3564987">
                <a:moveTo>
                  <a:pt x="0" y="0"/>
                </a:moveTo>
                <a:lnTo>
                  <a:pt x="11140586" y="0"/>
                </a:lnTo>
                <a:lnTo>
                  <a:pt x="11140586" y="3564988"/>
                </a:lnTo>
                <a:lnTo>
                  <a:pt x="0" y="3564988"/>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Product Revenue Analysis</a:t>
            </a:r>
          </a:p>
        </p:txBody>
      </p:sp>
      <p:sp>
        <p:nvSpPr>
          <p:cNvPr id="7" name="TextBox 7"/>
          <p:cNvSpPr txBox="1"/>
          <p:nvPr/>
        </p:nvSpPr>
        <p:spPr>
          <a:xfrm>
            <a:off x="220494" y="671663"/>
            <a:ext cx="4359475" cy="2618602"/>
          </a:xfrm>
          <a:prstGeom prst="rect">
            <a:avLst/>
          </a:prstGeom>
        </p:spPr>
        <p:txBody>
          <a:bodyPr lIns="0" tIns="0" rIns="0" bIns="0" rtlCol="0" anchor="t">
            <a:spAutoFit/>
          </a:bodyPr>
          <a:lstStyle/>
          <a:p>
            <a:pPr defTabSz="609630">
              <a:lnSpc>
                <a:spcPts val="738"/>
              </a:lnSpc>
            </a:pPr>
            <a:r>
              <a:rPr lang="en-US" sz="738" spc="-10">
                <a:solidFill>
                  <a:srgbClr val="525045"/>
                </a:solidFill>
                <a:latin typeface="Anton"/>
                <a:ea typeface="Anton"/>
                <a:cs typeface="Anton"/>
                <a:sym typeface="Anton"/>
              </a:rPr>
              <a:t>WWITH Product_Revenue AS (</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SELECT</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Year_Num,</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Product,</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SUM(Total_Sales) AS Total_Product_Revenue,</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SUM(Units_Sold) AS Total_Products_Sold,</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RANK() OVER (PARTITION BY Year_Num ORDER BY SUM(Total_Sales) DESC) AS</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Ranked_Product_Revenue</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FROM adidas_analytics_table</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GROUP BY Product, Year_Num</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a:t>
            </a:r>
          </a:p>
          <a:p>
            <a:pPr defTabSz="609630">
              <a:lnSpc>
                <a:spcPts val="738"/>
              </a:lnSpc>
            </a:pPr>
            <a:r>
              <a:rPr lang="en-US" sz="738" spc="-10">
                <a:solidFill>
                  <a:srgbClr val="525045"/>
                </a:solidFill>
                <a:latin typeface="Anton"/>
                <a:ea typeface="Anton"/>
                <a:cs typeface="Anton"/>
                <a:sym typeface="Anton"/>
              </a:rPr>
              <a:t>Yearly_Revenue AS (</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SELECT Year_Num, SUM(Total_Sales) AS Yearly_Total_Revenue</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FROM adidas_analytics_table</a:t>
            </a:r>
          </a:p>
          <a:p>
            <a:pPr defTabSz="609630">
              <a:lnSpc>
                <a:spcPts val="738"/>
              </a:lnSpc>
            </a:pPr>
            <a:endParaRPr lang="en-US" sz="738" spc="-10">
              <a:solidFill>
                <a:srgbClr val="525045"/>
              </a:solidFill>
              <a:latin typeface="Anton"/>
              <a:ea typeface="Anton"/>
              <a:cs typeface="Anton"/>
              <a:sym typeface="Anton"/>
            </a:endParaRPr>
          </a:p>
          <a:p>
            <a:pPr defTabSz="609630">
              <a:lnSpc>
                <a:spcPts val="738"/>
              </a:lnSpc>
            </a:pPr>
            <a:r>
              <a:rPr lang="en-US" sz="738" spc="-10">
                <a:solidFill>
                  <a:srgbClr val="525045"/>
                </a:solidFill>
                <a:latin typeface="Anton"/>
                <a:ea typeface="Anton"/>
                <a:cs typeface="Anton"/>
                <a:sym typeface="Anton"/>
              </a:rPr>
              <a:t>    GROUP BY Year_Num</a:t>
            </a:r>
          </a:p>
          <a:p>
            <a:pPr defTabSz="609630">
              <a:lnSpc>
                <a:spcPts val="837"/>
              </a:lnSpc>
              <a:spcBef>
                <a:spcPct val="0"/>
              </a:spcBef>
            </a:pPr>
            <a:r>
              <a:rPr lang="en-US" sz="837" spc="-11">
                <a:solidFill>
                  <a:srgbClr val="525045"/>
                </a:solidFill>
                <a:latin typeface="Anton"/>
                <a:ea typeface="Anton"/>
                <a:cs typeface="Anton"/>
                <a:sym typeface="Anton"/>
              </a:rPr>
              <a:t>)</a:t>
            </a:r>
          </a:p>
        </p:txBody>
      </p:sp>
      <p:sp>
        <p:nvSpPr>
          <p:cNvPr id="8" name="TextBox 8"/>
          <p:cNvSpPr txBox="1"/>
          <p:nvPr/>
        </p:nvSpPr>
        <p:spPr>
          <a:xfrm>
            <a:off x="7520417" y="260080"/>
            <a:ext cx="3938985" cy="3386761"/>
          </a:xfrm>
          <a:prstGeom prst="rect">
            <a:avLst/>
          </a:prstGeom>
        </p:spPr>
        <p:txBody>
          <a:bodyPr lIns="0" tIns="0" rIns="0" bIns="0" rtlCol="0" anchor="t">
            <a:spAutoFit/>
          </a:bodyPr>
          <a:lstStyle/>
          <a:p>
            <a:pPr defTabSz="609630">
              <a:lnSpc>
                <a:spcPts val="5456"/>
              </a:lnSpc>
              <a:spcBef>
                <a:spcPct val="0"/>
              </a:spcBef>
            </a:pPr>
            <a:endParaRPr sz="1200">
              <a:solidFill>
                <a:prstClr val="black"/>
              </a:solidFill>
              <a:latin typeface="Calibri"/>
            </a:endParaRPr>
          </a:p>
          <a:p>
            <a:pPr defTabSz="609630">
              <a:lnSpc>
                <a:spcPts val="1084"/>
              </a:lnSpc>
              <a:spcBef>
                <a:spcPct val="0"/>
              </a:spcBef>
            </a:pPr>
            <a:r>
              <a:rPr lang="en-US" sz="1084" spc="-15">
                <a:solidFill>
                  <a:srgbClr val="525045"/>
                </a:solidFill>
                <a:latin typeface="Anton"/>
                <a:ea typeface="Anton"/>
                <a:cs typeface="Anton"/>
                <a:sym typeface="Anton"/>
              </a:rPr>
              <a:t>SELECT </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 Y.YEAR_NUM, P.PRODUCT, P.TOTAL_PRODUCT_REVENUE, P.TOTAL_PRODUCTS_SOLD,</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 Y.YEARLY_TOTAL_REVENUE,</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 (P.TOTAL_PRODUCT_REVENUE / Y.YEARLY_TOTAL_REVENUE) * 100 AS</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 PRODUCT_REVENUE_PER_YEAR</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FROM PRODUCT_REVENUE P</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JOIN YEARLY_REVENUE Y ON P.YEAR_NUM = Y.YEAR_NUM</a:t>
            </a:r>
          </a:p>
          <a:p>
            <a:pPr defTabSz="609630">
              <a:lnSpc>
                <a:spcPts val="1084"/>
              </a:lnSpc>
              <a:spcBef>
                <a:spcPct val="0"/>
              </a:spcBef>
            </a:pPr>
            <a:endParaRPr lang="en-US" sz="1084" spc="-15">
              <a:solidFill>
                <a:srgbClr val="525045"/>
              </a:solidFill>
              <a:latin typeface="Anton"/>
              <a:ea typeface="Anton"/>
              <a:cs typeface="Anton"/>
              <a:sym typeface="Anton"/>
            </a:endParaRPr>
          </a:p>
          <a:p>
            <a:pPr defTabSz="609630">
              <a:lnSpc>
                <a:spcPts val="1084"/>
              </a:lnSpc>
              <a:spcBef>
                <a:spcPct val="0"/>
              </a:spcBef>
            </a:pPr>
            <a:r>
              <a:rPr lang="en-US" sz="1084" spc="-15">
                <a:solidFill>
                  <a:srgbClr val="525045"/>
                </a:solidFill>
                <a:latin typeface="Anton"/>
                <a:ea typeface="Anton"/>
                <a:cs typeface="Anton"/>
                <a:sym typeface="Anton"/>
              </a:rPr>
              <a:t>ORDER BY P.TOTAL_PRODUCT_REVENUE DESC;</a:t>
            </a:r>
          </a:p>
          <a:p>
            <a:pPr defTabSz="609630">
              <a:lnSpc>
                <a:spcPts val="5456"/>
              </a:lnSpc>
              <a:spcBef>
                <a:spcPct val="0"/>
              </a:spcBef>
            </a:pPr>
            <a:endParaRPr lang="en-US" sz="1084" spc="-15">
              <a:solidFill>
                <a:srgbClr val="525045"/>
              </a:solidFill>
              <a:latin typeface="Anton"/>
              <a:ea typeface="Anton"/>
              <a:cs typeface="Anton"/>
              <a:sym typeface="Anton"/>
            </a:endParaRPr>
          </a:p>
        </p:txBody>
      </p:sp>
    </p:spTree>
    <p:extLst>
      <p:ext uri="{BB962C8B-B14F-4D97-AF65-F5344CB8AC3E}">
        <p14:creationId xmlns:p14="http://schemas.microsoft.com/office/powerpoint/2010/main" val="2389211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3429000"/>
            <a:ext cx="11998769" cy="2743200"/>
            <a:chOff x="0" y="0"/>
            <a:chExt cx="4740254" cy="1083733"/>
          </a:xfrm>
        </p:grpSpPr>
        <p:sp>
          <p:nvSpPr>
            <p:cNvPr id="3" name="Freeform 3"/>
            <p:cNvSpPr/>
            <p:nvPr/>
          </p:nvSpPr>
          <p:spPr>
            <a:xfrm>
              <a:off x="0" y="0"/>
              <a:ext cx="4740254" cy="1083733"/>
            </a:xfrm>
            <a:custGeom>
              <a:avLst/>
              <a:gdLst/>
              <a:ahLst/>
              <a:cxnLst/>
              <a:rect l="l" t="t" r="r" b="b"/>
              <a:pathLst>
                <a:path w="4740254" h="1083733">
                  <a:moveTo>
                    <a:pt x="0" y="0"/>
                  </a:moveTo>
                  <a:lnTo>
                    <a:pt x="4740254" y="0"/>
                  </a:lnTo>
                  <a:lnTo>
                    <a:pt x="4740254" y="1083733"/>
                  </a:lnTo>
                  <a:lnTo>
                    <a:pt x="0" y="1083733"/>
                  </a:lnTo>
                  <a:close/>
                </a:path>
              </a:pathLst>
            </a:custGeom>
            <a:solidFill>
              <a:srgbClr val="0C0C0C"/>
            </a:solidFill>
          </p:spPr>
        </p:sp>
        <p:sp>
          <p:nvSpPr>
            <p:cNvPr id="4" name="TextBox 4"/>
            <p:cNvSpPr txBox="1"/>
            <p:nvPr/>
          </p:nvSpPr>
          <p:spPr>
            <a:xfrm>
              <a:off x="0" y="-38100"/>
              <a:ext cx="4740254" cy="1121833"/>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220494" y="3429000"/>
            <a:ext cx="7198380" cy="2547119"/>
          </a:xfrm>
          <a:custGeom>
            <a:avLst/>
            <a:gdLst/>
            <a:ahLst/>
            <a:cxnLst/>
            <a:rect l="l" t="t" r="r" b="b"/>
            <a:pathLst>
              <a:path w="10797570" h="3820678">
                <a:moveTo>
                  <a:pt x="0" y="0"/>
                </a:moveTo>
                <a:lnTo>
                  <a:pt x="10797570" y="0"/>
                </a:lnTo>
                <a:lnTo>
                  <a:pt x="10797570" y="3820678"/>
                </a:lnTo>
                <a:lnTo>
                  <a:pt x="0" y="3820678"/>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Retailer Revenue Analysis</a:t>
            </a:r>
          </a:p>
        </p:txBody>
      </p:sp>
      <p:sp>
        <p:nvSpPr>
          <p:cNvPr id="7" name="TextBox 7"/>
          <p:cNvSpPr txBox="1"/>
          <p:nvPr/>
        </p:nvSpPr>
        <p:spPr>
          <a:xfrm>
            <a:off x="319196" y="640140"/>
            <a:ext cx="4012561" cy="2628989"/>
          </a:xfrm>
          <a:prstGeom prst="rect">
            <a:avLst/>
          </a:prstGeom>
        </p:spPr>
        <p:txBody>
          <a:bodyPr lIns="0" tIns="0" rIns="0" bIns="0" rtlCol="0" anchor="t">
            <a:spAutoFit/>
          </a:bodyPr>
          <a:lstStyle/>
          <a:p>
            <a:pPr defTabSz="609630">
              <a:lnSpc>
                <a:spcPts val="840"/>
              </a:lnSpc>
            </a:pPr>
            <a:r>
              <a:rPr lang="en-US" sz="840" spc="-11">
                <a:solidFill>
                  <a:srgbClr val="525045"/>
                </a:solidFill>
                <a:latin typeface="Anton"/>
                <a:ea typeface="Anton"/>
                <a:cs typeface="Anton"/>
                <a:sym typeface="Anton"/>
              </a:rPr>
              <a:t>SELECT</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Year_Num,</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Retailer,</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SUM(Total_Sales) AS Total_Retailer_Revenue,</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SUM(Units_Sold) AS Total_Units_Sold,</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(SUM(Total_Sales) / SUM(SUM(Total_Sales)) OVER</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(PARTITION BY Year_Num)) * 100 AS</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Revenue_Share_Per_Retailer,</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RANK() OVER (PARTITION BY Year_Num ORDER BY</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 SUM(Total_Sales) DESC) AS Ranked_Revenue</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FROM adidas_analytics_table</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GROUP BY Year_Num, Retailer</a:t>
            </a:r>
          </a:p>
          <a:p>
            <a:pPr defTabSz="609630">
              <a:lnSpc>
                <a:spcPts val="840"/>
              </a:lnSpc>
            </a:pPr>
            <a:endParaRPr lang="en-US" sz="840" spc="-11">
              <a:solidFill>
                <a:srgbClr val="525045"/>
              </a:solidFill>
              <a:latin typeface="Anton"/>
              <a:ea typeface="Anton"/>
              <a:cs typeface="Anton"/>
              <a:sym typeface="Anton"/>
            </a:endParaRPr>
          </a:p>
          <a:p>
            <a:pPr defTabSz="609630">
              <a:lnSpc>
                <a:spcPts val="840"/>
              </a:lnSpc>
            </a:pPr>
            <a:r>
              <a:rPr lang="en-US" sz="840" spc="-11">
                <a:solidFill>
                  <a:srgbClr val="525045"/>
                </a:solidFill>
                <a:latin typeface="Anton"/>
                <a:ea typeface="Anton"/>
                <a:cs typeface="Anton"/>
                <a:sym typeface="Anton"/>
              </a:rPr>
              <a:t>ORDER BY Year_Num, Total_Retailer_Revenue DESC;</a:t>
            </a:r>
          </a:p>
          <a:p>
            <a:pPr defTabSz="609630">
              <a:lnSpc>
                <a:spcPts val="478"/>
              </a:lnSpc>
              <a:spcBef>
                <a:spcPct val="0"/>
              </a:spcBef>
            </a:pPr>
            <a:r>
              <a:rPr lang="en-US" sz="478" spc="-7">
                <a:solidFill>
                  <a:srgbClr val="525045"/>
                </a:solidFill>
                <a:latin typeface="Anton"/>
                <a:ea typeface="Anton"/>
                <a:cs typeface="Anton"/>
                <a:sym typeface="Anton"/>
              </a:rPr>
              <a:t>)</a:t>
            </a:r>
          </a:p>
        </p:txBody>
      </p:sp>
    </p:spTree>
    <p:extLst>
      <p:ext uri="{BB962C8B-B14F-4D97-AF65-F5344CB8AC3E}">
        <p14:creationId xmlns:p14="http://schemas.microsoft.com/office/powerpoint/2010/main" val="1141387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2681085"/>
            <a:ext cx="11998769" cy="3491115"/>
            <a:chOff x="0" y="0"/>
            <a:chExt cx="4740254" cy="1379206"/>
          </a:xfrm>
        </p:grpSpPr>
        <p:sp>
          <p:nvSpPr>
            <p:cNvPr id="3" name="Freeform 3"/>
            <p:cNvSpPr/>
            <p:nvPr/>
          </p:nvSpPr>
          <p:spPr>
            <a:xfrm>
              <a:off x="0" y="0"/>
              <a:ext cx="4740254" cy="1379206"/>
            </a:xfrm>
            <a:custGeom>
              <a:avLst/>
              <a:gdLst/>
              <a:ahLst/>
              <a:cxnLst/>
              <a:rect l="l" t="t" r="r" b="b"/>
              <a:pathLst>
                <a:path w="4740254" h="1379206">
                  <a:moveTo>
                    <a:pt x="0" y="0"/>
                  </a:moveTo>
                  <a:lnTo>
                    <a:pt x="4740254" y="0"/>
                  </a:lnTo>
                  <a:lnTo>
                    <a:pt x="4740254" y="1379206"/>
                  </a:lnTo>
                  <a:lnTo>
                    <a:pt x="0" y="1379206"/>
                  </a:lnTo>
                  <a:close/>
                </a:path>
              </a:pathLst>
            </a:custGeom>
            <a:solidFill>
              <a:srgbClr val="0C0C0C"/>
            </a:solidFill>
          </p:spPr>
        </p:sp>
        <p:sp>
          <p:nvSpPr>
            <p:cNvPr id="4" name="TextBox 4"/>
            <p:cNvSpPr txBox="1"/>
            <p:nvPr/>
          </p:nvSpPr>
          <p:spPr>
            <a:xfrm>
              <a:off x="0" y="-38100"/>
              <a:ext cx="4740254" cy="1417306"/>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122158" y="2681085"/>
            <a:ext cx="5489166" cy="3235719"/>
          </a:xfrm>
          <a:custGeom>
            <a:avLst/>
            <a:gdLst/>
            <a:ahLst/>
            <a:cxnLst/>
            <a:rect l="l" t="t" r="r" b="b"/>
            <a:pathLst>
              <a:path w="8233749" h="4853578">
                <a:moveTo>
                  <a:pt x="0" y="0"/>
                </a:moveTo>
                <a:lnTo>
                  <a:pt x="8233750" y="0"/>
                </a:lnTo>
                <a:lnTo>
                  <a:pt x="8233750" y="4853578"/>
                </a:lnTo>
                <a:lnTo>
                  <a:pt x="0" y="4853578"/>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SE Midwest retailer breakdown</a:t>
            </a:r>
          </a:p>
        </p:txBody>
      </p:sp>
      <p:sp>
        <p:nvSpPr>
          <p:cNvPr id="7" name="TextBox 7"/>
          <p:cNvSpPr txBox="1"/>
          <p:nvPr/>
        </p:nvSpPr>
        <p:spPr>
          <a:xfrm>
            <a:off x="319196" y="633790"/>
            <a:ext cx="4012561" cy="64185"/>
          </a:xfrm>
          <a:prstGeom prst="rect">
            <a:avLst/>
          </a:prstGeom>
        </p:spPr>
        <p:txBody>
          <a:bodyPr lIns="0" tIns="0" rIns="0" bIns="0" rtlCol="0" anchor="t">
            <a:spAutoFit/>
          </a:bodyPr>
          <a:lstStyle/>
          <a:p>
            <a:pPr defTabSz="609630">
              <a:lnSpc>
                <a:spcPts val="478"/>
              </a:lnSpc>
              <a:spcBef>
                <a:spcPct val="0"/>
              </a:spcBef>
            </a:pPr>
            <a:r>
              <a:rPr lang="en-US" sz="478" spc="-7">
                <a:solidFill>
                  <a:srgbClr val="525045"/>
                </a:solidFill>
                <a:latin typeface="Anton"/>
                <a:ea typeface="Anton"/>
                <a:cs typeface="Anton"/>
                <a:sym typeface="Anton"/>
              </a:rPr>
              <a:t>)</a:t>
            </a:r>
          </a:p>
        </p:txBody>
      </p:sp>
      <p:sp>
        <p:nvSpPr>
          <p:cNvPr id="8" name="TextBox 8"/>
          <p:cNvSpPr txBox="1"/>
          <p:nvPr/>
        </p:nvSpPr>
        <p:spPr>
          <a:xfrm>
            <a:off x="122158" y="944748"/>
            <a:ext cx="4210734" cy="1503938"/>
          </a:xfrm>
          <a:prstGeom prst="rect">
            <a:avLst/>
          </a:prstGeom>
        </p:spPr>
        <p:txBody>
          <a:bodyPr lIns="0" tIns="0" rIns="0" bIns="0" rtlCol="0" anchor="t">
            <a:spAutoFit/>
          </a:bodyPr>
          <a:lstStyle/>
          <a:p>
            <a:pPr defTabSz="609630">
              <a:lnSpc>
                <a:spcPts val="1344"/>
              </a:lnSpc>
            </a:pPr>
            <a:r>
              <a:rPr lang="en-US" sz="1344" spc="-19">
                <a:solidFill>
                  <a:srgbClr val="525045"/>
                </a:solidFill>
                <a:latin typeface="Anton"/>
                <a:ea typeface="Anton"/>
                <a:cs typeface="Anton"/>
                <a:sym typeface="Anton"/>
              </a:rPr>
              <a:t>SELECT YEAR_NUM, REGION, RETAILER, SUM(TOTAL_SALES) AS REVENUE</a:t>
            </a:r>
          </a:p>
          <a:p>
            <a:pPr defTabSz="609630">
              <a:lnSpc>
                <a:spcPts val="1344"/>
              </a:lnSpc>
            </a:pPr>
            <a:endParaRPr lang="en-US" sz="1344" spc="-19">
              <a:solidFill>
                <a:srgbClr val="525045"/>
              </a:solidFill>
              <a:latin typeface="Anton"/>
              <a:ea typeface="Anton"/>
              <a:cs typeface="Anton"/>
              <a:sym typeface="Anton"/>
            </a:endParaRPr>
          </a:p>
          <a:p>
            <a:pPr defTabSz="609630">
              <a:lnSpc>
                <a:spcPts val="1344"/>
              </a:lnSpc>
            </a:pPr>
            <a:r>
              <a:rPr lang="en-US" sz="1344" spc="-19">
                <a:solidFill>
                  <a:srgbClr val="525045"/>
                </a:solidFill>
                <a:latin typeface="Anton"/>
                <a:ea typeface="Anton"/>
                <a:cs typeface="Anton"/>
                <a:sym typeface="Anton"/>
              </a:rPr>
              <a:t>FROM adidas_analytics_table</a:t>
            </a:r>
          </a:p>
          <a:p>
            <a:pPr defTabSz="609630">
              <a:lnSpc>
                <a:spcPts val="1344"/>
              </a:lnSpc>
            </a:pPr>
            <a:endParaRPr lang="en-US" sz="1344" spc="-19">
              <a:solidFill>
                <a:srgbClr val="525045"/>
              </a:solidFill>
              <a:latin typeface="Anton"/>
              <a:ea typeface="Anton"/>
              <a:cs typeface="Anton"/>
              <a:sym typeface="Anton"/>
            </a:endParaRPr>
          </a:p>
          <a:p>
            <a:pPr defTabSz="609630">
              <a:lnSpc>
                <a:spcPts val="1344"/>
              </a:lnSpc>
            </a:pPr>
            <a:r>
              <a:rPr lang="en-US" sz="1344" spc="-19">
                <a:solidFill>
                  <a:srgbClr val="525045"/>
                </a:solidFill>
                <a:latin typeface="Anton"/>
                <a:ea typeface="Anton"/>
                <a:cs typeface="Anton"/>
                <a:sym typeface="Anton"/>
              </a:rPr>
              <a:t>WHERE Region = 'Midwest'</a:t>
            </a:r>
          </a:p>
          <a:p>
            <a:pPr defTabSz="609630">
              <a:lnSpc>
                <a:spcPts val="1344"/>
              </a:lnSpc>
            </a:pPr>
            <a:endParaRPr lang="en-US" sz="1344" spc="-19">
              <a:solidFill>
                <a:srgbClr val="525045"/>
              </a:solidFill>
              <a:latin typeface="Anton"/>
              <a:ea typeface="Anton"/>
              <a:cs typeface="Anton"/>
              <a:sym typeface="Anton"/>
            </a:endParaRPr>
          </a:p>
          <a:p>
            <a:pPr defTabSz="609630">
              <a:lnSpc>
                <a:spcPts val="1344"/>
              </a:lnSpc>
            </a:pPr>
            <a:r>
              <a:rPr lang="en-US" sz="1344" spc="-19">
                <a:solidFill>
                  <a:srgbClr val="525045"/>
                </a:solidFill>
                <a:latin typeface="Anton"/>
                <a:ea typeface="Anton"/>
                <a:cs typeface="Anton"/>
                <a:sym typeface="Anton"/>
              </a:rPr>
              <a:t>GROUP BY Year_Num, Region, Retailer</a:t>
            </a:r>
          </a:p>
          <a:p>
            <a:pPr defTabSz="609630">
              <a:lnSpc>
                <a:spcPts val="1344"/>
              </a:lnSpc>
            </a:pPr>
            <a:endParaRPr lang="en-US" sz="1344" spc="-19">
              <a:solidFill>
                <a:srgbClr val="525045"/>
              </a:solidFill>
              <a:latin typeface="Anton"/>
              <a:ea typeface="Anton"/>
              <a:cs typeface="Anton"/>
              <a:sym typeface="Anton"/>
            </a:endParaRPr>
          </a:p>
          <a:p>
            <a:pPr defTabSz="609630">
              <a:lnSpc>
                <a:spcPts val="1344"/>
              </a:lnSpc>
              <a:spcBef>
                <a:spcPct val="0"/>
              </a:spcBef>
            </a:pPr>
            <a:r>
              <a:rPr lang="en-US" sz="1344" spc="-19">
                <a:solidFill>
                  <a:srgbClr val="525045"/>
                </a:solidFill>
                <a:latin typeface="Anton"/>
                <a:ea typeface="Anton"/>
                <a:cs typeface="Anton"/>
                <a:sym typeface="Anton"/>
              </a:rPr>
              <a:t>ORDER BY Year_Num, Revenue DESC;</a:t>
            </a:r>
          </a:p>
        </p:txBody>
      </p:sp>
    </p:spTree>
    <p:extLst>
      <p:ext uri="{BB962C8B-B14F-4D97-AF65-F5344CB8AC3E}">
        <p14:creationId xmlns:p14="http://schemas.microsoft.com/office/powerpoint/2010/main" val="3089020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3429000"/>
            <a:ext cx="11998769" cy="2743200"/>
            <a:chOff x="0" y="0"/>
            <a:chExt cx="4740254" cy="1083733"/>
          </a:xfrm>
        </p:grpSpPr>
        <p:sp>
          <p:nvSpPr>
            <p:cNvPr id="3" name="Freeform 3"/>
            <p:cNvSpPr/>
            <p:nvPr/>
          </p:nvSpPr>
          <p:spPr>
            <a:xfrm>
              <a:off x="0" y="0"/>
              <a:ext cx="4740254" cy="1083733"/>
            </a:xfrm>
            <a:custGeom>
              <a:avLst/>
              <a:gdLst/>
              <a:ahLst/>
              <a:cxnLst/>
              <a:rect l="l" t="t" r="r" b="b"/>
              <a:pathLst>
                <a:path w="4740254" h="1083733">
                  <a:moveTo>
                    <a:pt x="0" y="0"/>
                  </a:moveTo>
                  <a:lnTo>
                    <a:pt x="4740254" y="0"/>
                  </a:lnTo>
                  <a:lnTo>
                    <a:pt x="4740254" y="1083733"/>
                  </a:lnTo>
                  <a:lnTo>
                    <a:pt x="0" y="1083733"/>
                  </a:lnTo>
                  <a:close/>
                </a:path>
              </a:pathLst>
            </a:custGeom>
            <a:solidFill>
              <a:srgbClr val="0C0C0C"/>
            </a:solidFill>
          </p:spPr>
        </p:sp>
        <p:sp>
          <p:nvSpPr>
            <p:cNvPr id="4" name="TextBox 4"/>
            <p:cNvSpPr txBox="1"/>
            <p:nvPr/>
          </p:nvSpPr>
          <p:spPr>
            <a:xfrm>
              <a:off x="0" y="-38100"/>
              <a:ext cx="4740254" cy="1121833"/>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188307" y="3542963"/>
            <a:ext cx="7162330" cy="2515275"/>
          </a:xfrm>
          <a:custGeom>
            <a:avLst/>
            <a:gdLst/>
            <a:ahLst/>
            <a:cxnLst/>
            <a:rect l="l" t="t" r="r" b="b"/>
            <a:pathLst>
              <a:path w="10743495" h="3772912">
                <a:moveTo>
                  <a:pt x="0" y="0"/>
                </a:moveTo>
                <a:lnTo>
                  <a:pt x="10743494" y="0"/>
                </a:lnTo>
                <a:lnTo>
                  <a:pt x="10743494" y="3772912"/>
                </a:lnTo>
                <a:lnTo>
                  <a:pt x="0" y="3772912"/>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Regional Revenue Analysis </a:t>
            </a:r>
          </a:p>
        </p:txBody>
      </p:sp>
      <p:sp>
        <p:nvSpPr>
          <p:cNvPr id="7" name="TextBox 7"/>
          <p:cNvSpPr txBox="1"/>
          <p:nvPr/>
        </p:nvSpPr>
        <p:spPr>
          <a:xfrm>
            <a:off x="319196" y="633790"/>
            <a:ext cx="4012561" cy="64185"/>
          </a:xfrm>
          <a:prstGeom prst="rect">
            <a:avLst/>
          </a:prstGeom>
        </p:spPr>
        <p:txBody>
          <a:bodyPr lIns="0" tIns="0" rIns="0" bIns="0" rtlCol="0" anchor="t">
            <a:spAutoFit/>
          </a:bodyPr>
          <a:lstStyle/>
          <a:p>
            <a:pPr defTabSz="609630">
              <a:lnSpc>
                <a:spcPts val="478"/>
              </a:lnSpc>
              <a:spcBef>
                <a:spcPct val="0"/>
              </a:spcBef>
            </a:pPr>
            <a:r>
              <a:rPr lang="en-US" sz="478" spc="-7">
                <a:solidFill>
                  <a:srgbClr val="525045"/>
                </a:solidFill>
                <a:latin typeface="Anton"/>
                <a:ea typeface="Anton"/>
                <a:cs typeface="Anton"/>
                <a:sym typeface="Anton"/>
              </a:rPr>
              <a:t>)</a:t>
            </a:r>
          </a:p>
        </p:txBody>
      </p:sp>
      <p:sp>
        <p:nvSpPr>
          <p:cNvPr id="8" name="TextBox 8"/>
          <p:cNvSpPr txBox="1"/>
          <p:nvPr/>
        </p:nvSpPr>
        <p:spPr>
          <a:xfrm>
            <a:off x="96616" y="710335"/>
            <a:ext cx="5906382" cy="2681183"/>
          </a:xfrm>
          <a:prstGeom prst="rect">
            <a:avLst/>
          </a:prstGeom>
        </p:spPr>
        <p:txBody>
          <a:bodyPr lIns="0" tIns="0" rIns="0" bIns="0" rtlCol="0" anchor="t">
            <a:spAutoFit/>
          </a:bodyPr>
          <a:lstStyle/>
          <a:p>
            <a:pPr defTabSz="609630">
              <a:lnSpc>
                <a:spcPts val="1077"/>
              </a:lnSpc>
            </a:pPr>
            <a:r>
              <a:rPr lang="en-US" sz="1077" spc="-15">
                <a:solidFill>
                  <a:srgbClr val="525045"/>
                </a:solidFill>
                <a:latin typeface="Anton"/>
                <a:ea typeface="Anton"/>
                <a:cs typeface="Anton"/>
                <a:sym typeface="Anton"/>
              </a:rPr>
              <a:t>SSELECT</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    YEAR_NUM,</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    REGION,</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    SUM(TOTAL_SALES) AS TOTAL_REGION_REVENUE,</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    SUM(UNITS_SOLD) AS TOTAL_UNITS_SOLD,</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    (SUM(TOTAL_SALES) / SUM(SUM(TOTAL_SALES)) OVER (PARTITION BY YEAR_NUM)) * 100 AS REVENUE_SHARE_PER_REGION</a:t>
            </a:r>
          </a:p>
          <a:p>
            <a:pPr defTabSz="609630">
              <a:lnSpc>
                <a:spcPts val="1077"/>
              </a:lnSpc>
            </a:pPr>
            <a:r>
              <a:rPr lang="en-US" sz="1077" spc="-15">
                <a:solidFill>
                  <a:srgbClr val="525045"/>
                </a:solidFill>
                <a:latin typeface="Anton"/>
                <a:ea typeface="Anton"/>
                <a:cs typeface="Anton"/>
                <a:sym typeface="Anton"/>
              </a:rPr>
              <a:t>,</a:t>
            </a:r>
          </a:p>
          <a:p>
            <a:pPr defTabSz="609630">
              <a:lnSpc>
                <a:spcPts val="1077"/>
              </a:lnSpc>
            </a:pPr>
            <a:r>
              <a:rPr lang="en-US" sz="1077" spc="-15">
                <a:solidFill>
                  <a:srgbClr val="525045"/>
                </a:solidFill>
                <a:latin typeface="Anton"/>
                <a:ea typeface="Anton"/>
                <a:cs typeface="Anton"/>
                <a:sym typeface="Anton"/>
              </a:rPr>
              <a:t>    RANK() OVER (PARTITION BY YEAR_NUM ORDER BY SUM(TOTAL_SALES) DESC) AS RANKED_REVENUE</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FROM adidas_analytics_table</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pPr>
            <a:r>
              <a:rPr lang="en-US" sz="1077" spc="-15">
                <a:solidFill>
                  <a:srgbClr val="525045"/>
                </a:solidFill>
                <a:latin typeface="Anton"/>
                <a:ea typeface="Anton"/>
                <a:cs typeface="Anton"/>
                <a:sym typeface="Anton"/>
              </a:rPr>
              <a:t>GROUP BY Year_Num, Region</a:t>
            </a:r>
          </a:p>
          <a:p>
            <a:pPr defTabSz="609630">
              <a:lnSpc>
                <a:spcPts val="1077"/>
              </a:lnSpc>
            </a:pPr>
            <a:endParaRPr lang="en-US" sz="1077" spc="-15">
              <a:solidFill>
                <a:srgbClr val="525045"/>
              </a:solidFill>
              <a:latin typeface="Anton"/>
              <a:ea typeface="Anton"/>
              <a:cs typeface="Anton"/>
              <a:sym typeface="Anton"/>
            </a:endParaRPr>
          </a:p>
          <a:p>
            <a:pPr defTabSz="609630">
              <a:lnSpc>
                <a:spcPts val="1077"/>
              </a:lnSpc>
              <a:spcBef>
                <a:spcPct val="0"/>
              </a:spcBef>
            </a:pPr>
            <a:r>
              <a:rPr lang="en-US" sz="1077" spc="-15">
                <a:solidFill>
                  <a:srgbClr val="525045"/>
                </a:solidFill>
                <a:latin typeface="Anton"/>
                <a:ea typeface="Anton"/>
                <a:cs typeface="Anton"/>
                <a:sym typeface="Anton"/>
              </a:rPr>
              <a:t>ORDER BY Year_Num, Total_Region_Revenue DESC;</a:t>
            </a:r>
          </a:p>
        </p:txBody>
      </p:sp>
    </p:spTree>
    <p:extLst>
      <p:ext uri="{BB962C8B-B14F-4D97-AF65-F5344CB8AC3E}">
        <p14:creationId xmlns:p14="http://schemas.microsoft.com/office/powerpoint/2010/main" val="4001828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3968471"/>
            <a:ext cx="11998769" cy="2203729"/>
            <a:chOff x="0" y="0"/>
            <a:chExt cx="4740254" cy="870609"/>
          </a:xfrm>
        </p:grpSpPr>
        <p:sp>
          <p:nvSpPr>
            <p:cNvPr id="3" name="Freeform 3"/>
            <p:cNvSpPr/>
            <p:nvPr/>
          </p:nvSpPr>
          <p:spPr>
            <a:xfrm>
              <a:off x="0" y="0"/>
              <a:ext cx="4740254" cy="870609"/>
            </a:xfrm>
            <a:custGeom>
              <a:avLst/>
              <a:gdLst/>
              <a:ahLst/>
              <a:cxnLst/>
              <a:rect l="l" t="t" r="r" b="b"/>
              <a:pathLst>
                <a:path w="4740254" h="870609">
                  <a:moveTo>
                    <a:pt x="0" y="0"/>
                  </a:moveTo>
                  <a:lnTo>
                    <a:pt x="4740254" y="0"/>
                  </a:lnTo>
                  <a:lnTo>
                    <a:pt x="4740254" y="870609"/>
                  </a:lnTo>
                  <a:lnTo>
                    <a:pt x="0" y="870609"/>
                  </a:lnTo>
                  <a:close/>
                </a:path>
              </a:pathLst>
            </a:custGeom>
            <a:solidFill>
              <a:srgbClr val="0C0C0C"/>
            </a:solidFill>
          </p:spPr>
        </p:sp>
        <p:sp>
          <p:nvSpPr>
            <p:cNvPr id="4" name="TextBox 4"/>
            <p:cNvSpPr txBox="1"/>
            <p:nvPr/>
          </p:nvSpPr>
          <p:spPr>
            <a:xfrm>
              <a:off x="0" y="-38100"/>
              <a:ext cx="4740254" cy="908709"/>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96616" y="4061793"/>
            <a:ext cx="8129869" cy="1506270"/>
          </a:xfrm>
          <a:custGeom>
            <a:avLst/>
            <a:gdLst/>
            <a:ahLst/>
            <a:cxnLst/>
            <a:rect l="l" t="t" r="r" b="b"/>
            <a:pathLst>
              <a:path w="12194803" h="2259405">
                <a:moveTo>
                  <a:pt x="0" y="0"/>
                </a:moveTo>
                <a:lnTo>
                  <a:pt x="12194804" y="0"/>
                </a:lnTo>
                <a:lnTo>
                  <a:pt x="12194804" y="2259405"/>
                </a:lnTo>
                <a:lnTo>
                  <a:pt x="0" y="2259405"/>
                </a:lnTo>
                <a:lnTo>
                  <a:pt x="0" y="0"/>
                </a:lnTo>
                <a:close/>
              </a:path>
            </a:pathLst>
          </a:custGeom>
          <a:blipFill>
            <a:blip r:embed="rId2"/>
            <a:stretch>
              <a:fillRect/>
            </a:stretch>
          </a:blipFill>
        </p:spPr>
      </p:sp>
      <p:sp>
        <p:nvSpPr>
          <p:cNvPr id="6" name="TextBox 6"/>
          <p:cNvSpPr txBox="1"/>
          <p:nvPr/>
        </p:nvSpPr>
        <p:spPr>
          <a:xfrm>
            <a:off x="2799217" y="107680"/>
            <a:ext cx="5881660"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Sales Method Analysis</a:t>
            </a:r>
          </a:p>
        </p:txBody>
      </p:sp>
      <p:sp>
        <p:nvSpPr>
          <p:cNvPr id="7" name="TextBox 7"/>
          <p:cNvSpPr txBox="1"/>
          <p:nvPr/>
        </p:nvSpPr>
        <p:spPr>
          <a:xfrm>
            <a:off x="319196" y="633790"/>
            <a:ext cx="4012561" cy="64185"/>
          </a:xfrm>
          <a:prstGeom prst="rect">
            <a:avLst/>
          </a:prstGeom>
        </p:spPr>
        <p:txBody>
          <a:bodyPr lIns="0" tIns="0" rIns="0" bIns="0" rtlCol="0" anchor="t">
            <a:spAutoFit/>
          </a:bodyPr>
          <a:lstStyle/>
          <a:p>
            <a:pPr defTabSz="609630">
              <a:lnSpc>
                <a:spcPts val="478"/>
              </a:lnSpc>
              <a:spcBef>
                <a:spcPct val="0"/>
              </a:spcBef>
            </a:pPr>
            <a:r>
              <a:rPr lang="en-US" sz="478" spc="-7">
                <a:solidFill>
                  <a:srgbClr val="525045"/>
                </a:solidFill>
                <a:latin typeface="Anton"/>
                <a:ea typeface="Anton"/>
                <a:cs typeface="Anton"/>
                <a:sym typeface="Anton"/>
              </a:rPr>
              <a:t>)</a:t>
            </a:r>
          </a:p>
        </p:txBody>
      </p:sp>
      <p:sp>
        <p:nvSpPr>
          <p:cNvPr id="8" name="TextBox 8"/>
          <p:cNvSpPr txBox="1"/>
          <p:nvPr/>
        </p:nvSpPr>
        <p:spPr>
          <a:xfrm>
            <a:off x="186417" y="578647"/>
            <a:ext cx="4145340" cy="3453318"/>
          </a:xfrm>
          <a:prstGeom prst="rect">
            <a:avLst/>
          </a:prstGeom>
        </p:spPr>
        <p:txBody>
          <a:bodyPr lIns="0" tIns="0" rIns="0" bIns="0" rtlCol="0" anchor="t">
            <a:spAutoFit/>
          </a:bodyPr>
          <a:lstStyle/>
          <a:p>
            <a:pPr algn="just" defTabSz="609630">
              <a:lnSpc>
                <a:spcPts val="611"/>
              </a:lnSpc>
            </a:pPr>
            <a:r>
              <a:rPr lang="en-US" sz="611" spc="-8">
                <a:solidFill>
                  <a:srgbClr val="525045"/>
                </a:solidFill>
                <a:latin typeface="Anton"/>
                <a:ea typeface="Anton"/>
                <a:cs typeface="Anton"/>
                <a:sym typeface="Anton"/>
              </a:rPr>
              <a:t>WITH SALES_METHOD_OVERVIEW AS (</a:t>
            </a:r>
          </a:p>
          <a:p>
            <a:pPr algn="just" defTabSz="609630">
              <a:lnSpc>
                <a:spcPts val="611"/>
              </a:lnSpc>
            </a:pPr>
            <a:endParaRPr lang="en-US" sz="611" spc="-8">
              <a:solidFill>
                <a:srgbClr val="525045"/>
              </a:solidFill>
              <a:latin typeface="Anton"/>
              <a:ea typeface="Anton"/>
              <a:cs typeface="Anton"/>
              <a:sym typeface="Anton"/>
            </a:endParaRPr>
          </a:p>
          <a:p>
            <a:pPr algn="just" defTabSz="609630">
              <a:lnSpc>
                <a:spcPts val="611"/>
              </a:lnSpc>
            </a:pPr>
            <a:r>
              <a:rPr lang="en-US" sz="611" spc="-8">
                <a:solidFill>
                  <a:srgbClr val="525045"/>
                </a:solidFill>
                <a:latin typeface="Anton"/>
                <a:ea typeface="Anton"/>
                <a:cs typeface="Anton"/>
                <a:sym typeface="Anton"/>
              </a:rPr>
              <a:t>  SELECT</a:t>
            </a:r>
          </a:p>
          <a:p>
            <a:pPr algn="just" defTabSz="609630">
              <a:lnSpc>
                <a:spcPts val="611"/>
              </a:lnSpc>
            </a:pPr>
            <a:endParaRPr lang="en-US" sz="611" spc="-8">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YEAR_NUM,</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SALES_METHOD,</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COUNT(*) AS TOTAL_TIMES_USED,</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SUM(TOTAL_SALES) AS TOTAL_REVENUE,</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RANK() OVER(PARTITION BY YEAR_NUM ORDER BY COUNT(*) DESC) AS RANKED_COUNTS</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FROM  ADIDAS_ANALYTICS_TABLE</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GROUP BY SALES_METHOD,YEAR_NUM</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a:t>
            </a:r>
          </a:p>
          <a:p>
            <a:pPr algn="just" defTabSz="609630">
              <a:lnSpc>
                <a:spcPts val="680"/>
              </a:lnSpc>
            </a:pPr>
            <a:r>
              <a:rPr lang="en-US" sz="680" spc="-9">
                <a:solidFill>
                  <a:srgbClr val="525045"/>
                </a:solidFill>
                <a:latin typeface="Anton"/>
                <a:ea typeface="Anton"/>
                <a:cs typeface="Anton"/>
                <a:sym typeface="Anton"/>
              </a:rPr>
              <a:t>    YEARLY_OUTCOMES AS (   </a:t>
            </a:r>
          </a:p>
          <a:p>
            <a:pPr algn="just" defTabSz="609630">
              <a:lnSpc>
                <a:spcPts val="680"/>
              </a:lnSpc>
            </a:pPr>
            <a:r>
              <a:rPr lang="en-US" sz="680" spc="-9">
                <a:solidFill>
                  <a:srgbClr val="525045"/>
                </a:solidFill>
                <a:latin typeface="Anton"/>
                <a:ea typeface="Anton"/>
                <a:cs typeface="Anton"/>
                <a:sym typeface="Anton"/>
              </a:rPr>
              <a:t> </a:t>
            </a:r>
          </a:p>
          <a:p>
            <a:pPr algn="just" defTabSz="609630">
              <a:lnSpc>
                <a:spcPts val="680"/>
              </a:lnSpc>
            </a:pPr>
            <a:r>
              <a:rPr lang="en-US" sz="680" spc="-9">
                <a:solidFill>
                  <a:srgbClr val="525045"/>
                </a:solidFill>
                <a:latin typeface="Anton"/>
                <a:ea typeface="Anton"/>
                <a:cs typeface="Anton"/>
                <a:sym typeface="Anton"/>
              </a:rPr>
              <a:t>   SELECT</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YEAR_NUM,</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COUNT(*) AS TOTAL_SALES_METHODS,</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SUM(TOTAL_SALES) AS YEARLY_TOTAL_REVENUE</a:t>
            </a:r>
          </a:p>
          <a:p>
            <a:pPr algn="just" defTabSz="609630">
              <a:lnSpc>
                <a:spcPts val="680"/>
              </a:lnSpc>
            </a:pPr>
            <a:endParaRPr lang="en-US" sz="680" spc="-9">
              <a:solidFill>
                <a:srgbClr val="525045"/>
              </a:solidFill>
              <a:latin typeface="Anton"/>
              <a:ea typeface="Anton"/>
              <a:cs typeface="Anton"/>
              <a:sym typeface="Anton"/>
            </a:endParaRPr>
          </a:p>
          <a:p>
            <a:pPr algn="just" defTabSz="609630">
              <a:lnSpc>
                <a:spcPts val="680"/>
              </a:lnSpc>
            </a:pPr>
            <a:r>
              <a:rPr lang="en-US" sz="680" spc="-9">
                <a:solidFill>
                  <a:srgbClr val="525045"/>
                </a:solidFill>
                <a:latin typeface="Anton"/>
                <a:ea typeface="Anton"/>
                <a:cs typeface="Anton"/>
                <a:sym typeface="Anton"/>
              </a:rPr>
              <a:t>            FROM adidas_analytics_table</a:t>
            </a:r>
          </a:p>
          <a:p>
            <a:pPr algn="just" defTabSz="609630">
              <a:lnSpc>
                <a:spcPts val="680"/>
              </a:lnSpc>
            </a:pPr>
            <a:r>
              <a:rPr lang="en-US" sz="680" spc="-9">
                <a:solidFill>
                  <a:srgbClr val="525045"/>
                </a:solidFill>
                <a:latin typeface="Anton"/>
                <a:ea typeface="Anton"/>
                <a:cs typeface="Anton"/>
                <a:sym typeface="Anton"/>
              </a:rPr>
              <a:t> </a:t>
            </a:r>
          </a:p>
          <a:p>
            <a:pPr algn="just" defTabSz="609630">
              <a:lnSpc>
                <a:spcPts val="680"/>
              </a:lnSpc>
            </a:pPr>
            <a:r>
              <a:rPr lang="en-US" sz="680" spc="-9">
                <a:solidFill>
                  <a:srgbClr val="525045"/>
                </a:solidFill>
                <a:latin typeface="Anton"/>
                <a:ea typeface="Anton"/>
                <a:cs typeface="Anton"/>
                <a:sym typeface="Anton"/>
              </a:rPr>
              <a:t>            GROUP BY Year_Num</a:t>
            </a:r>
          </a:p>
          <a:p>
            <a:pPr algn="just" defTabSz="609630">
              <a:lnSpc>
                <a:spcPts val="680"/>
              </a:lnSpc>
            </a:pPr>
            <a:r>
              <a:rPr lang="en-US" sz="680" spc="-9">
                <a:solidFill>
                  <a:srgbClr val="525045"/>
                </a:solidFill>
                <a:latin typeface="Anton"/>
                <a:ea typeface="Anton"/>
                <a:cs typeface="Anton"/>
                <a:sym typeface="Anton"/>
              </a:rPr>
              <a:t>            )</a:t>
            </a: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a:p>
            <a:pPr defTabSz="609630">
              <a:lnSpc>
                <a:spcPts val="611"/>
              </a:lnSpc>
              <a:spcBef>
                <a:spcPct val="0"/>
              </a:spcBef>
            </a:pPr>
            <a:endParaRPr lang="en-US" sz="680" spc="-9">
              <a:solidFill>
                <a:srgbClr val="525045"/>
              </a:solidFill>
              <a:latin typeface="Anton"/>
              <a:ea typeface="Anton"/>
              <a:cs typeface="Anton"/>
              <a:sym typeface="Anton"/>
            </a:endParaRPr>
          </a:p>
        </p:txBody>
      </p:sp>
      <p:sp>
        <p:nvSpPr>
          <p:cNvPr id="9" name="TextBox 9"/>
          <p:cNvSpPr txBox="1"/>
          <p:nvPr/>
        </p:nvSpPr>
        <p:spPr>
          <a:xfrm>
            <a:off x="6661066" y="578647"/>
            <a:ext cx="3794566" cy="3349571"/>
          </a:xfrm>
          <a:prstGeom prst="rect">
            <a:avLst/>
          </a:prstGeom>
        </p:spPr>
        <p:txBody>
          <a:bodyPr lIns="0" tIns="0" rIns="0" bIns="0" rtlCol="0" anchor="t">
            <a:spAutoFit/>
          </a:bodyPr>
          <a:lstStyle/>
          <a:p>
            <a:pPr defTabSz="609630">
              <a:lnSpc>
                <a:spcPts val="933"/>
              </a:lnSpc>
              <a:spcBef>
                <a:spcPct val="0"/>
              </a:spcBef>
            </a:pPr>
            <a:endParaRPr sz="1200">
              <a:solidFill>
                <a:prstClr val="black"/>
              </a:solidFill>
              <a:latin typeface="Calibri"/>
            </a:endParaRPr>
          </a:p>
          <a:p>
            <a:pPr defTabSz="609630">
              <a:lnSpc>
                <a:spcPts val="933"/>
              </a:lnSpc>
              <a:spcBef>
                <a:spcPct val="0"/>
              </a:spcBef>
            </a:pPr>
            <a:r>
              <a:rPr lang="en-US" sz="933" spc="-13">
                <a:solidFill>
                  <a:srgbClr val="4A4A4A"/>
                </a:solidFill>
                <a:latin typeface="Anton"/>
                <a:ea typeface="Anton"/>
                <a:cs typeface="Anton"/>
                <a:sym typeface="Anton"/>
              </a:rPr>
              <a:t> SELECT </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Y.YEAR_NUM,</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S.SALES_METHOD,</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S.TOTAL_TIMES_USED,</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S.TOTAL_REVENUE,</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Y.TOTAL_SALES_METHODS</a:t>
            </a:r>
          </a:p>
          <a:p>
            <a:pPr defTabSz="609630">
              <a:lnSpc>
                <a:spcPts val="933"/>
              </a:lnSpc>
              <a:spcBef>
                <a:spcPct val="0"/>
              </a:spcBef>
            </a:pPr>
            <a:r>
              <a:rPr lang="en-US" sz="933" spc="-13">
                <a:solidFill>
                  <a:srgbClr val="4A4A4A"/>
                </a:solidFill>
                <a:latin typeface="Anton"/>
                <a:ea typeface="Anton"/>
                <a:cs typeface="Anton"/>
                <a:sym typeface="Anton"/>
              </a:rPr>
              <a:t>,</a:t>
            </a:r>
          </a:p>
          <a:p>
            <a:pPr defTabSz="609630">
              <a:lnSpc>
                <a:spcPts val="933"/>
              </a:lnSpc>
              <a:spcBef>
                <a:spcPct val="0"/>
              </a:spcBef>
            </a:pPr>
            <a:r>
              <a:rPr lang="en-US" sz="933" spc="-13">
                <a:solidFill>
                  <a:srgbClr val="4A4A4A"/>
                </a:solidFill>
                <a:latin typeface="Anton"/>
                <a:ea typeface="Anton"/>
                <a:cs typeface="Anton"/>
                <a:sym typeface="Anton"/>
              </a:rPr>
              <a:t> (S.TOTAL_TIMES_USED/Y.TOTAL_SALES_METHODS)*100 AS TOTAL_SALES_METHOD_BY_YEAR</a:t>
            </a:r>
          </a:p>
          <a:p>
            <a:pPr defTabSz="609630">
              <a:lnSpc>
                <a:spcPts val="933"/>
              </a:lnSpc>
              <a:spcBef>
                <a:spcPct val="0"/>
              </a:spcBef>
            </a:pPr>
            <a:r>
              <a:rPr lang="en-US" sz="933" spc="-13">
                <a:solidFill>
                  <a:srgbClr val="4A4A4A"/>
                </a:solidFill>
                <a:latin typeface="Anton"/>
                <a:ea typeface="Anton"/>
                <a:cs typeface="Anton"/>
                <a:sym typeface="Anton"/>
              </a:rPr>
              <a:t>,</a:t>
            </a:r>
          </a:p>
          <a:p>
            <a:pPr defTabSz="609630">
              <a:lnSpc>
                <a:spcPts val="933"/>
              </a:lnSpc>
              <a:spcBef>
                <a:spcPct val="0"/>
              </a:spcBef>
            </a:pPr>
            <a:r>
              <a:rPr lang="en-US" sz="933" spc="-13">
                <a:solidFill>
                  <a:srgbClr val="4A4A4A"/>
                </a:solidFill>
                <a:latin typeface="Anton"/>
                <a:ea typeface="Anton"/>
                <a:cs typeface="Anton"/>
                <a:sym typeface="Anton"/>
              </a:rPr>
              <a:t> (S.TOTAL_REVENUE/Y.YEARLY_TOTAL_REVENUE)*100 AS TOTAL_REVENUE_BY_SALES_METHOD</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FROM SALES_METHOD_OVERVIEW S</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JOIN YEARLY_OUTCOMES Y</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ON S.YEAR_NUM=Y.YEAR_NUM</a:t>
            </a:r>
          </a:p>
          <a:p>
            <a:pPr defTabSz="609630">
              <a:lnSpc>
                <a:spcPts val="933"/>
              </a:lnSpc>
              <a:spcBef>
                <a:spcPct val="0"/>
              </a:spcBef>
            </a:pPr>
            <a:endParaRPr lang="en-US" sz="933" spc="-13">
              <a:solidFill>
                <a:srgbClr val="4A4A4A"/>
              </a:solidFill>
              <a:latin typeface="Anton"/>
              <a:ea typeface="Anton"/>
              <a:cs typeface="Anton"/>
              <a:sym typeface="Anton"/>
            </a:endParaRPr>
          </a:p>
          <a:p>
            <a:pPr defTabSz="609630">
              <a:lnSpc>
                <a:spcPts val="933"/>
              </a:lnSpc>
              <a:spcBef>
                <a:spcPct val="0"/>
              </a:spcBef>
            </a:pPr>
            <a:r>
              <a:rPr lang="en-US" sz="933" spc="-13">
                <a:solidFill>
                  <a:srgbClr val="4A4A4A"/>
                </a:solidFill>
                <a:latin typeface="Anton"/>
                <a:ea typeface="Anton"/>
                <a:cs typeface="Anton"/>
                <a:sym typeface="Anton"/>
              </a:rPr>
              <a:t> ORDER BY S.TOTAL_TIMES_USED DESC;</a:t>
            </a:r>
          </a:p>
          <a:p>
            <a:pPr algn="ctr" defTabSz="609630">
              <a:lnSpc>
                <a:spcPts val="933"/>
              </a:lnSpc>
              <a:spcBef>
                <a:spcPct val="0"/>
              </a:spcBef>
            </a:pPr>
            <a:endParaRPr lang="en-US" sz="933" spc="-13">
              <a:solidFill>
                <a:srgbClr val="4A4A4A"/>
              </a:solidFill>
              <a:latin typeface="Anton"/>
              <a:ea typeface="Anton"/>
              <a:cs typeface="Anton"/>
              <a:sym typeface="Anton"/>
            </a:endParaRPr>
          </a:p>
          <a:p>
            <a:pPr algn="ctr" defTabSz="609630">
              <a:lnSpc>
                <a:spcPts val="933"/>
              </a:lnSpc>
              <a:spcBef>
                <a:spcPct val="0"/>
              </a:spcBef>
            </a:pPr>
            <a:endParaRPr lang="en-US" sz="933" spc="-13">
              <a:solidFill>
                <a:srgbClr val="4A4A4A"/>
              </a:solidFill>
              <a:latin typeface="Anton"/>
              <a:ea typeface="Anton"/>
              <a:cs typeface="Anton"/>
              <a:sym typeface="Anton"/>
            </a:endParaRPr>
          </a:p>
          <a:p>
            <a:pPr algn="ctr" defTabSz="609630">
              <a:lnSpc>
                <a:spcPts val="933"/>
              </a:lnSpc>
              <a:spcBef>
                <a:spcPct val="0"/>
              </a:spcBef>
            </a:pPr>
            <a:endParaRPr lang="en-US" sz="933" spc="-13">
              <a:solidFill>
                <a:srgbClr val="4A4A4A"/>
              </a:solidFill>
              <a:latin typeface="Anton"/>
              <a:ea typeface="Anton"/>
              <a:cs typeface="Anton"/>
              <a:sym typeface="Anton"/>
            </a:endParaRPr>
          </a:p>
          <a:p>
            <a:pPr algn="ctr" defTabSz="609630">
              <a:lnSpc>
                <a:spcPts val="933"/>
              </a:lnSpc>
              <a:spcBef>
                <a:spcPct val="0"/>
              </a:spcBef>
            </a:pPr>
            <a:endParaRPr lang="en-US" sz="933" spc="-13">
              <a:solidFill>
                <a:srgbClr val="4A4A4A"/>
              </a:solidFill>
              <a:latin typeface="Anton"/>
              <a:ea typeface="Anton"/>
              <a:cs typeface="Anton"/>
              <a:sym typeface="Anton"/>
            </a:endParaRPr>
          </a:p>
        </p:txBody>
      </p:sp>
    </p:spTree>
    <p:extLst>
      <p:ext uri="{BB962C8B-B14F-4D97-AF65-F5344CB8AC3E}">
        <p14:creationId xmlns:p14="http://schemas.microsoft.com/office/powerpoint/2010/main" val="1580637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3968471"/>
            <a:ext cx="11998769" cy="2203729"/>
            <a:chOff x="0" y="0"/>
            <a:chExt cx="4740254" cy="870609"/>
          </a:xfrm>
        </p:grpSpPr>
        <p:sp>
          <p:nvSpPr>
            <p:cNvPr id="3" name="Freeform 3"/>
            <p:cNvSpPr/>
            <p:nvPr/>
          </p:nvSpPr>
          <p:spPr>
            <a:xfrm>
              <a:off x="0" y="0"/>
              <a:ext cx="4740254" cy="870609"/>
            </a:xfrm>
            <a:custGeom>
              <a:avLst/>
              <a:gdLst/>
              <a:ahLst/>
              <a:cxnLst/>
              <a:rect l="l" t="t" r="r" b="b"/>
              <a:pathLst>
                <a:path w="4740254" h="870609">
                  <a:moveTo>
                    <a:pt x="0" y="0"/>
                  </a:moveTo>
                  <a:lnTo>
                    <a:pt x="4740254" y="0"/>
                  </a:lnTo>
                  <a:lnTo>
                    <a:pt x="4740254" y="870609"/>
                  </a:lnTo>
                  <a:lnTo>
                    <a:pt x="0" y="870609"/>
                  </a:lnTo>
                  <a:close/>
                </a:path>
              </a:pathLst>
            </a:custGeom>
            <a:solidFill>
              <a:srgbClr val="0C0C0C"/>
            </a:solidFill>
          </p:spPr>
        </p:sp>
        <p:sp>
          <p:nvSpPr>
            <p:cNvPr id="4" name="TextBox 4"/>
            <p:cNvSpPr txBox="1"/>
            <p:nvPr/>
          </p:nvSpPr>
          <p:spPr>
            <a:xfrm>
              <a:off x="0" y="-38100"/>
              <a:ext cx="4740254" cy="908709"/>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96616" y="3939654"/>
            <a:ext cx="6154554" cy="2187280"/>
          </a:xfrm>
          <a:custGeom>
            <a:avLst/>
            <a:gdLst/>
            <a:ahLst/>
            <a:cxnLst/>
            <a:rect l="l" t="t" r="r" b="b"/>
            <a:pathLst>
              <a:path w="9231831" h="3280920">
                <a:moveTo>
                  <a:pt x="0" y="0"/>
                </a:moveTo>
                <a:lnTo>
                  <a:pt x="9231832" y="0"/>
                </a:lnTo>
                <a:lnTo>
                  <a:pt x="9231832" y="3280920"/>
                </a:lnTo>
                <a:lnTo>
                  <a:pt x="0" y="3280920"/>
                </a:lnTo>
                <a:lnTo>
                  <a:pt x="0" y="0"/>
                </a:lnTo>
                <a:close/>
              </a:path>
            </a:pathLst>
          </a:custGeom>
          <a:blipFill>
            <a:blip r:embed="rId2"/>
            <a:stretch>
              <a:fillRect/>
            </a:stretch>
          </a:blipFill>
        </p:spPr>
      </p:sp>
      <p:sp>
        <p:nvSpPr>
          <p:cNvPr id="6" name="TextBox 6"/>
          <p:cNvSpPr txBox="1"/>
          <p:nvPr/>
        </p:nvSpPr>
        <p:spPr>
          <a:xfrm>
            <a:off x="2799217" y="107680"/>
            <a:ext cx="7656415"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Test West Gear vs. West region pricing-decline link</a:t>
            </a:r>
          </a:p>
        </p:txBody>
      </p:sp>
      <p:sp>
        <p:nvSpPr>
          <p:cNvPr id="7" name="TextBox 7"/>
          <p:cNvSpPr txBox="1"/>
          <p:nvPr/>
        </p:nvSpPr>
        <p:spPr>
          <a:xfrm>
            <a:off x="319196" y="633790"/>
            <a:ext cx="4012561" cy="64185"/>
          </a:xfrm>
          <a:prstGeom prst="rect">
            <a:avLst/>
          </a:prstGeom>
        </p:spPr>
        <p:txBody>
          <a:bodyPr lIns="0" tIns="0" rIns="0" bIns="0" rtlCol="0" anchor="t">
            <a:spAutoFit/>
          </a:bodyPr>
          <a:lstStyle/>
          <a:p>
            <a:pPr defTabSz="609630">
              <a:lnSpc>
                <a:spcPts val="478"/>
              </a:lnSpc>
              <a:spcBef>
                <a:spcPct val="0"/>
              </a:spcBef>
            </a:pPr>
            <a:r>
              <a:rPr lang="en-US" sz="478" spc="-7">
                <a:solidFill>
                  <a:srgbClr val="525045"/>
                </a:solidFill>
                <a:latin typeface="Anton"/>
                <a:ea typeface="Anton"/>
                <a:cs typeface="Anton"/>
                <a:sym typeface="Anton"/>
              </a:rPr>
              <a:t>)</a:t>
            </a:r>
          </a:p>
        </p:txBody>
      </p:sp>
      <p:sp>
        <p:nvSpPr>
          <p:cNvPr id="8" name="TextBox 8"/>
          <p:cNvSpPr txBox="1"/>
          <p:nvPr/>
        </p:nvSpPr>
        <p:spPr>
          <a:xfrm>
            <a:off x="186417" y="591347"/>
            <a:ext cx="4145340" cy="3904017"/>
          </a:xfrm>
          <a:prstGeom prst="rect">
            <a:avLst/>
          </a:prstGeom>
        </p:spPr>
        <p:txBody>
          <a:bodyPr lIns="0" tIns="0" rIns="0" bIns="0" rtlCol="0" anchor="t">
            <a:spAutoFit/>
          </a:bodyPr>
          <a:lstStyle/>
          <a:p>
            <a:pPr defTabSz="609630">
              <a:lnSpc>
                <a:spcPts val="1811"/>
              </a:lnSpc>
            </a:pPr>
            <a:endParaRPr sz="1200">
              <a:solidFill>
                <a:prstClr val="black"/>
              </a:solidFill>
              <a:latin typeface="Calibri"/>
            </a:endParaRPr>
          </a:p>
          <a:p>
            <a:pPr defTabSz="609630">
              <a:lnSpc>
                <a:spcPts val="1880"/>
              </a:lnSpc>
            </a:pPr>
            <a:r>
              <a:rPr lang="en-US" sz="1880" spc="-26">
                <a:solidFill>
                  <a:srgbClr val="525045"/>
                </a:solidFill>
                <a:latin typeface="Anton"/>
                <a:ea typeface="Anton"/>
                <a:cs typeface="Anton"/>
                <a:sym typeface="Anton"/>
              </a:rPr>
              <a:t>        </a:t>
            </a:r>
            <a:r>
              <a:rPr lang="en-US" sz="1880" spc="-26">
                <a:solidFill>
                  <a:srgbClr val="737373"/>
                </a:solidFill>
                <a:latin typeface="Anton"/>
                <a:ea typeface="Anton"/>
                <a:cs typeface="Anton"/>
                <a:sym typeface="Anton"/>
              </a:rPr>
              <a:t>SELECT Year_Num, Retailer, Region, Sales_Method,</a:t>
            </a:r>
          </a:p>
          <a:p>
            <a:pPr defTabSz="609630">
              <a:lnSpc>
                <a:spcPts val="1880"/>
              </a:lnSpc>
            </a:pPr>
            <a:endParaRPr lang="en-US" sz="1880" spc="-26">
              <a:solidFill>
                <a:srgbClr val="737373"/>
              </a:solidFill>
              <a:latin typeface="Anton"/>
              <a:ea typeface="Anton"/>
              <a:cs typeface="Anton"/>
              <a:sym typeface="Anton"/>
            </a:endParaRPr>
          </a:p>
          <a:p>
            <a:pPr defTabSz="609630">
              <a:lnSpc>
                <a:spcPts val="1880"/>
              </a:lnSpc>
            </a:pPr>
            <a:r>
              <a:rPr lang="en-US" sz="1880" spc="-26">
                <a:solidFill>
                  <a:srgbClr val="737373"/>
                </a:solidFill>
                <a:latin typeface="Anton"/>
                <a:ea typeface="Anton"/>
                <a:cs typeface="Anton"/>
                <a:sym typeface="Anton"/>
              </a:rPr>
              <a:t>       AVG(Price_Per_Unit) AS Avg_Price</a:t>
            </a:r>
          </a:p>
          <a:p>
            <a:pPr defTabSz="609630">
              <a:lnSpc>
                <a:spcPts val="1880"/>
              </a:lnSpc>
            </a:pPr>
            <a:endParaRPr lang="en-US" sz="1880" spc="-26">
              <a:solidFill>
                <a:srgbClr val="737373"/>
              </a:solidFill>
              <a:latin typeface="Anton"/>
              <a:ea typeface="Anton"/>
              <a:cs typeface="Anton"/>
              <a:sym typeface="Anton"/>
            </a:endParaRPr>
          </a:p>
          <a:p>
            <a:pPr defTabSz="609630">
              <a:lnSpc>
                <a:spcPts val="1880"/>
              </a:lnSpc>
            </a:pPr>
            <a:r>
              <a:rPr lang="en-US" sz="1880" spc="-26">
                <a:solidFill>
                  <a:srgbClr val="737373"/>
                </a:solidFill>
                <a:latin typeface="Anton"/>
                <a:ea typeface="Anton"/>
                <a:cs typeface="Anton"/>
                <a:sym typeface="Anton"/>
              </a:rPr>
              <a:t>FROM adidas_analytics_table</a:t>
            </a:r>
          </a:p>
          <a:p>
            <a:pPr defTabSz="609630">
              <a:lnSpc>
                <a:spcPts val="1880"/>
              </a:lnSpc>
            </a:pPr>
            <a:endParaRPr lang="en-US" sz="1880" spc="-26">
              <a:solidFill>
                <a:srgbClr val="737373"/>
              </a:solidFill>
              <a:latin typeface="Anton"/>
              <a:ea typeface="Anton"/>
              <a:cs typeface="Anton"/>
              <a:sym typeface="Anton"/>
            </a:endParaRPr>
          </a:p>
          <a:p>
            <a:pPr defTabSz="609630">
              <a:lnSpc>
                <a:spcPts val="1880"/>
              </a:lnSpc>
            </a:pPr>
            <a:r>
              <a:rPr lang="en-US" sz="1880" spc="-26">
                <a:solidFill>
                  <a:srgbClr val="737373"/>
                </a:solidFill>
                <a:latin typeface="Anton"/>
                <a:ea typeface="Anton"/>
                <a:cs typeface="Anton"/>
                <a:sym typeface="Anton"/>
              </a:rPr>
              <a:t>WHERE Retailer = 'West Gear' AND Region =</a:t>
            </a:r>
          </a:p>
          <a:p>
            <a:pPr defTabSz="609630">
              <a:lnSpc>
                <a:spcPts val="1880"/>
              </a:lnSpc>
            </a:pPr>
            <a:endParaRPr lang="en-US" sz="1880" spc="-26">
              <a:solidFill>
                <a:srgbClr val="737373"/>
              </a:solidFill>
              <a:latin typeface="Anton"/>
              <a:ea typeface="Anton"/>
              <a:cs typeface="Anton"/>
              <a:sym typeface="Anton"/>
            </a:endParaRPr>
          </a:p>
          <a:p>
            <a:pPr defTabSz="609630">
              <a:lnSpc>
                <a:spcPts val="1880"/>
              </a:lnSpc>
            </a:pPr>
            <a:r>
              <a:rPr lang="en-US" sz="1880" spc="-26">
                <a:solidFill>
                  <a:srgbClr val="737373"/>
                </a:solidFill>
                <a:latin typeface="Anton"/>
                <a:ea typeface="Anton"/>
                <a:cs typeface="Anton"/>
                <a:sym typeface="Anton"/>
              </a:rPr>
              <a:t> 'West'</a:t>
            </a:r>
          </a:p>
          <a:p>
            <a:pPr defTabSz="609630">
              <a:lnSpc>
                <a:spcPts val="1880"/>
              </a:lnSpc>
            </a:pPr>
            <a:r>
              <a:rPr lang="en-US" sz="1880" spc="-26">
                <a:solidFill>
                  <a:srgbClr val="737373"/>
                </a:solidFill>
                <a:latin typeface="Anton"/>
                <a:ea typeface="Anton"/>
                <a:cs typeface="Anton"/>
                <a:sym typeface="Anton"/>
              </a:rPr>
              <a:t>GROUP BY Year_Num, Retailer, Region,</a:t>
            </a:r>
          </a:p>
          <a:p>
            <a:pPr defTabSz="609630">
              <a:lnSpc>
                <a:spcPts val="1880"/>
              </a:lnSpc>
            </a:pPr>
            <a:endParaRPr lang="en-US" sz="1880" spc="-26">
              <a:solidFill>
                <a:srgbClr val="737373"/>
              </a:solidFill>
              <a:latin typeface="Anton"/>
              <a:ea typeface="Anton"/>
              <a:cs typeface="Anton"/>
              <a:sym typeface="Anton"/>
            </a:endParaRPr>
          </a:p>
          <a:p>
            <a:pPr defTabSz="609630">
              <a:lnSpc>
                <a:spcPts val="1880"/>
              </a:lnSpc>
            </a:pPr>
            <a:r>
              <a:rPr lang="en-US" sz="1880" spc="-26">
                <a:solidFill>
                  <a:srgbClr val="737373"/>
                </a:solidFill>
                <a:latin typeface="Anton"/>
                <a:ea typeface="Anton"/>
                <a:cs typeface="Anton"/>
                <a:sym typeface="Anton"/>
              </a:rPr>
              <a:t> Sales_Method;</a:t>
            </a:r>
          </a:p>
          <a:p>
            <a:pPr defTabSz="609630">
              <a:lnSpc>
                <a:spcPts val="611"/>
              </a:lnSpc>
              <a:spcBef>
                <a:spcPct val="0"/>
              </a:spcBef>
            </a:pPr>
            <a:endParaRPr lang="en-US" sz="1880" spc="-26">
              <a:solidFill>
                <a:srgbClr val="737373"/>
              </a:solidFill>
              <a:latin typeface="Anton"/>
              <a:ea typeface="Anton"/>
              <a:cs typeface="Anton"/>
              <a:sym typeface="Anton"/>
            </a:endParaRPr>
          </a:p>
          <a:p>
            <a:pPr defTabSz="609630">
              <a:lnSpc>
                <a:spcPts val="611"/>
              </a:lnSpc>
              <a:spcBef>
                <a:spcPct val="0"/>
              </a:spcBef>
            </a:pPr>
            <a:endParaRPr lang="en-US" sz="1880" spc="-26">
              <a:solidFill>
                <a:srgbClr val="737373"/>
              </a:solidFill>
              <a:latin typeface="Anton"/>
              <a:ea typeface="Anton"/>
              <a:cs typeface="Anton"/>
              <a:sym typeface="Anton"/>
            </a:endParaRPr>
          </a:p>
          <a:p>
            <a:pPr defTabSz="609630">
              <a:lnSpc>
                <a:spcPts val="611"/>
              </a:lnSpc>
              <a:spcBef>
                <a:spcPct val="0"/>
              </a:spcBef>
            </a:pPr>
            <a:endParaRPr lang="en-US" sz="1880" spc="-26">
              <a:solidFill>
                <a:srgbClr val="737373"/>
              </a:solidFill>
              <a:latin typeface="Anton"/>
              <a:ea typeface="Anton"/>
              <a:cs typeface="Anton"/>
              <a:sym typeface="Anton"/>
            </a:endParaRPr>
          </a:p>
          <a:p>
            <a:pPr defTabSz="609630">
              <a:lnSpc>
                <a:spcPts val="611"/>
              </a:lnSpc>
              <a:spcBef>
                <a:spcPct val="0"/>
              </a:spcBef>
            </a:pPr>
            <a:endParaRPr lang="en-US" sz="1880" spc="-26">
              <a:solidFill>
                <a:srgbClr val="737373"/>
              </a:solidFill>
              <a:latin typeface="Anton"/>
              <a:ea typeface="Anton"/>
              <a:cs typeface="Anton"/>
              <a:sym typeface="Anton"/>
            </a:endParaRPr>
          </a:p>
          <a:p>
            <a:pPr defTabSz="609630">
              <a:lnSpc>
                <a:spcPts val="611"/>
              </a:lnSpc>
              <a:spcBef>
                <a:spcPct val="0"/>
              </a:spcBef>
            </a:pPr>
            <a:endParaRPr lang="en-US" sz="1880" spc="-26">
              <a:solidFill>
                <a:srgbClr val="737373"/>
              </a:solidFill>
              <a:latin typeface="Anton"/>
              <a:ea typeface="Anton"/>
              <a:cs typeface="Anton"/>
              <a:sym typeface="Anton"/>
            </a:endParaRPr>
          </a:p>
          <a:p>
            <a:pPr defTabSz="609630">
              <a:lnSpc>
                <a:spcPts val="611"/>
              </a:lnSpc>
              <a:spcBef>
                <a:spcPct val="0"/>
              </a:spcBef>
            </a:pPr>
            <a:endParaRPr lang="en-US" sz="1880" spc="-26">
              <a:solidFill>
                <a:srgbClr val="737373"/>
              </a:solidFill>
              <a:latin typeface="Anton"/>
              <a:ea typeface="Anton"/>
              <a:cs typeface="Anton"/>
              <a:sym typeface="Anton"/>
            </a:endParaRPr>
          </a:p>
        </p:txBody>
      </p:sp>
    </p:spTree>
    <p:extLst>
      <p:ext uri="{BB962C8B-B14F-4D97-AF65-F5344CB8AC3E}">
        <p14:creationId xmlns:p14="http://schemas.microsoft.com/office/powerpoint/2010/main" val="3578293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8D4"/>
        </a:solidFill>
        <a:effectLst/>
      </p:bgPr>
    </p:bg>
    <p:spTree>
      <p:nvGrpSpPr>
        <p:cNvPr id="1" name=""/>
        <p:cNvGrpSpPr/>
        <p:nvPr/>
      </p:nvGrpSpPr>
      <p:grpSpPr>
        <a:xfrm>
          <a:off x="0" y="0"/>
          <a:ext cx="0" cy="0"/>
          <a:chOff x="0" y="0"/>
          <a:chExt cx="0" cy="0"/>
        </a:xfrm>
      </p:grpSpPr>
      <p:grpSp>
        <p:nvGrpSpPr>
          <p:cNvPr id="2" name="Group 2"/>
          <p:cNvGrpSpPr/>
          <p:nvPr/>
        </p:nvGrpSpPr>
        <p:grpSpPr>
          <a:xfrm>
            <a:off x="96616" y="2997464"/>
            <a:ext cx="11998769" cy="3174737"/>
            <a:chOff x="0" y="0"/>
            <a:chExt cx="4740254" cy="1254217"/>
          </a:xfrm>
        </p:grpSpPr>
        <p:sp>
          <p:nvSpPr>
            <p:cNvPr id="3" name="Freeform 3"/>
            <p:cNvSpPr/>
            <p:nvPr/>
          </p:nvSpPr>
          <p:spPr>
            <a:xfrm>
              <a:off x="0" y="0"/>
              <a:ext cx="4740254" cy="1254217"/>
            </a:xfrm>
            <a:custGeom>
              <a:avLst/>
              <a:gdLst/>
              <a:ahLst/>
              <a:cxnLst/>
              <a:rect l="l" t="t" r="r" b="b"/>
              <a:pathLst>
                <a:path w="4740254" h="1254217">
                  <a:moveTo>
                    <a:pt x="0" y="0"/>
                  </a:moveTo>
                  <a:lnTo>
                    <a:pt x="4740254" y="0"/>
                  </a:lnTo>
                  <a:lnTo>
                    <a:pt x="4740254" y="1254217"/>
                  </a:lnTo>
                  <a:lnTo>
                    <a:pt x="0" y="1254217"/>
                  </a:lnTo>
                  <a:close/>
                </a:path>
              </a:pathLst>
            </a:custGeom>
            <a:solidFill>
              <a:srgbClr val="0C0C0C"/>
            </a:solidFill>
          </p:spPr>
        </p:sp>
        <p:sp>
          <p:nvSpPr>
            <p:cNvPr id="4" name="TextBox 4"/>
            <p:cNvSpPr txBox="1"/>
            <p:nvPr/>
          </p:nvSpPr>
          <p:spPr>
            <a:xfrm>
              <a:off x="0" y="-38100"/>
              <a:ext cx="4740254" cy="1292317"/>
            </a:xfrm>
            <a:prstGeom prst="rect">
              <a:avLst/>
            </a:prstGeom>
          </p:spPr>
          <p:txBody>
            <a:bodyPr lIns="33867" tIns="33867" rIns="33867" bIns="33867" rtlCol="0" anchor="ctr"/>
            <a:lstStyle/>
            <a:p>
              <a:pPr defTabSz="609630">
                <a:lnSpc>
                  <a:spcPts val="1773"/>
                </a:lnSpc>
              </a:pPr>
              <a:endParaRPr sz="1200">
                <a:solidFill>
                  <a:prstClr val="black"/>
                </a:solidFill>
                <a:latin typeface="Calibri"/>
              </a:endParaRPr>
            </a:p>
            <a:p>
              <a:pPr defTabSz="609630">
                <a:lnSpc>
                  <a:spcPts val="1773"/>
                </a:lnSpc>
              </a:pPr>
              <a:r>
                <a:rPr lang="en-US" sz="1266" spc="-63">
                  <a:solidFill>
                    <a:srgbClr val="000000"/>
                  </a:solidFill>
                  <a:latin typeface="Montserrat"/>
                  <a:ea typeface="Montserrat"/>
                  <a:cs typeface="Montserrat"/>
                  <a:sym typeface="Montserrat"/>
                </a:rPr>
                <a:t>SELECT * FROM Revenue_Overview;#check the days_with_data per year</a:t>
              </a:r>
            </a:p>
            <a:p>
              <a:pPr defTabSz="609630">
                <a:lnSpc>
                  <a:spcPts val="1773"/>
                </a:lnSpc>
              </a:pPr>
              <a:r>
                <a:rPr lang="en-US" sz="1266" spc="-63">
                  <a:solidFill>
                    <a:srgbClr val="000000"/>
                  </a:solidFill>
                  <a:latin typeface="Montserrat"/>
                  <a:ea typeface="Montserrat"/>
                  <a:cs typeface="Montserrat"/>
                  <a:sym typeface="Montserrat"/>
                </a:rPr>
                <a:t>SELECT Year_Num, COUNT(DISTINCT Invoice_Date) AS days_with_data,</a:t>
              </a:r>
            </a:p>
            <a:p>
              <a:pPr defTabSz="609630">
                <a:lnSpc>
                  <a:spcPts val="1773"/>
                </a:lnSpc>
              </a:pPr>
              <a:r>
                <a:rPr lang="en-US" sz="1266" spc="-63">
                  <a:solidFill>
                    <a:srgbClr val="000000"/>
                  </a:solidFill>
                  <a:latin typeface="Montserrat"/>
                  <a:ea typeface="Montserrat"/>
                  <a:cs typeface="Montserrat"/>
                  <a:sym typeface="Montserrat"/>
                </a:rPr>
                <a:t>       MIN(Invoice_Date) AS earliest, MAX(Invoice_Date) AS latest</a:t>
              </a:r>
            </a:p>
            <a:p>
              <a:pPr defTabSz="609630">
                <a:lnSpc>
                  <a:spcPts val="1773"/>
                </a:lnSpc>
              </a:pPr>
              <a:r>
                <a:rPr lang="en-US" sz="1266" spc="-63">
                  <a:solidFill>
                    <a:srgbClr val="000000"/>
                  </a:solidFill>
                  <a:latin typeface="Montserrat"/>
                  <a:ea typeface="Montserrat"/>
                  <a:cs typeface="Montserrat"/>
                  <a:sym typeface="Montserrat"/>
                </a:rPr>
                <a:t>FROM adidas_analytics_table</a:t>
              </a:r>
            </a:p>
            <a:p>
              <a:pPr defTabSz="609630">
                <a:lnSpc>
                  <a:spcPts val="1773"/>
                </a:lnSpc>
              </a:pPr>
              <a:r>
                <a:rPr lang="en-US" sz="1266" spc="-63">
                  <a:solidFill>
                    <a:srgbClr val="000000"/>
                  </a:solidFill>
                  <a:latin typeface="Montserrat"/>
                  <a:ea typeface="Montserrat"/>
                  <a:cs typeface="Montserrat"/>
                  <a:sym typeface="Montserrat"/>
                </a:rPr>
                <a:t>GROUP BY Year_Num;</a:t>
              </a:r>
            </a:p>
          </p:txBody>
        </p:sp>
      </p:grpSp>
      <p:sp>
        <p:nvSpPr>
          <p:cNvPr id="5" name="Freeform 5"/>
          <p:cNvSpPr/>
          <p:nvPr/>
        </p:nvSpPr>
        <p:spPr>
          <a:xfrm>
            <a:off x="186417" y="2997463"/>
            <a:ext cx="4546971" cy="3039975"/>
          </a:xfrm>
          <a:custGeom>
            <a:avLst/>
            <a:gdLst/>
            <a:ahLst/>
            <a:cxnLst/>
            <a:rect l="l" t="t" r="r" b="b"/>
            <a:pathLst>
              <a:path w="6820456" h="4559962">
                <a:moveTo>
                  <a:pt x="0" y="0"/>
                </a:moveTo>
                <a:lnTo>
                  <a:pt x="6820456" y="0"/>
                </a:lnTo>
                <a:lnTo>
                  <a:pt x="6820456" y="4559963"/>
                </a:lnTo>
                <a:lnTo>
                  <a:pt x="0" y="4559963"/>
                </a:lnTo>
                <a:lnTo>
                  <a:pt x="0" y="0"/>
                </a:lnTo>
                <a:close/>
              </a:path>
            </a:pathLst>
          </a:custGeom>
          <a:blipFill>
            <a:blip r:embed="rId2"/>
            <a:stretch>
              <a:fillRect/>
            </a:stretch>
          </a:blipFill>
        </p:spPr>
      </p:sp>
      <p:sp>
        <p:nvSpPr>
          <p:cNvPr id="6" name="TextBox 6"/>
          <p:cNvSpPr txBox="1"/>
          <p:nvPr/>
        </p:nvSpPr>
        <p:spPr>
          <a:xfrm>
            <a:off x="2164709" y="107680"/>
            <a:ext cx="8290923" cy="397032"/>
          </a:xfrm>
          <a:prstGeom prst="rect">
            <a:avLst/>
          </a:prstGeom>
        </p:spPr>
        <p:txBody>
          <a:bodyPr lIns="0" tIns="0" rIns="0" bIns="0" rtlCol="0" anchor="t">
            <a:spAutoFit/>
          </a:bodyPr>
          <a:lstStyle/>
          <a:p>
            <a:pPr algn="ctr" defTabSz="609630">
              <a:lnSpc>
                <a:spcPts val="3360"/>
              </a:lnSpc>
            </a:pPr>
            <a:r>
              <a:rPr lang="en-US" sz="2399" b="1">
                <a:solidFill>
                  <a:srgbClr val="0C0C0C"/>
                </a:solidFill>
                <a:latin typeface="Canva Sans Bold"/>
                <a:ea typeface="Canva Sans Bold"/>
                <a:cs typeface="Canva Sans Bold"/>
                <a:sym typeface="Canva Sans Bold"/>
              </a:rPr>
              <a:t>Women's Athletic Footwear pricing vs. other products</a:t>
            </a:r>
          </a:p>
        </p:txBody>
      </p:sp>
      <p:sp>
        <p:nvSpPr>
          <p:cNvPr id="7" name="TextBox 7"/>
          <p:cNvSpPr txBox="1"/>
          <p:nvPr/>
        </p:nvSpPr>
        <p:spPr>
          <a:xfrm>
            <a:off x="319196" y="633790"/>
            <a:ext cx="4012561" cy="64185"/>
          </a:xfrm>
          <a:prstGeom prst="rect">
            <a:avLst/>
          </a:prstGeom>
        </p:spPr>
        <p:txBody>
          <a:bodyPr lIns="0" tIns="0" rIns="0" bIns="0" rtlCol="0" anchor="t">
            <a:spAutoFit/>
          </a:bodyPr>
          <a:lstStyle/>
          <a:p>
            <a:pPr defTabSz="609630">
              <a:lnSpc>
                <a:spcPts val="478"/>
              </a:lnSpc>
              <a:spcBef>
                <a:spcPct val="0"/>
              </a:spcBef>
            </a:pPr>
            <a:r>
              <a:rPr lang="en-US" sz="478" spc="-7">
                <a:solidFill>
                  <a:srgbClr val="525045"/>
                </a:solidFill>
                <a:latin typeface="Anton"/>
                <a:ea typeface="Anton"/>
                <a:cs typeface="Anton"/>
                <a:sym typeface="Anton"/>
              </a:rPr>
              <a:t>)</a:t>
            </a:r>
          </a:p>
        </p:txBody>
      </p:sp>
      <p:sp>
        <p:nvSpPr>
          <p:cNvPr id="8" name="TextBox 8"/>
          <p:cNvSpPr txBox="1"/>
          <p:nvPr/>
        </p:nvSpPr>
        <p:spPr>
          <a:xfrm>
            <a:off x="186417" y="591347"/>
            <a:ext cx="4145340" cy="2551404"/>
          </a:xfrm>
          <a:prstGeom prst="rect">
            <a:avLst/>
          </a:prstGeom>
        </p:spPr>
        <p:txBody>
          <a:bodyPr lIns="0" tIns="0" rIns="0" bIns="0" rtlCol="0" anchor="t">
            <a:spAutoFit/>
          </a:bodyPr>
          <a:lstStyle/>
          <a:p>
            <a:pPr defTabSz="609630">
              <a:lnSpc>
                <a:spcPts val="1811"/>
              </a:lnSpc>
            </a:pPr>
            <a:endParaRPr sz="1200">
              <a:solidFill>
                <a:prstClr val="black"/>
              </a:solidFill>
              <a:latin typeface="Calibri"/>
            </a:endParaRPr>
          </a:p>
          <a:p>
            <a:pPr defTabSz="609630">
              <a:lnSpc>
                <a:spcPts val="2080"/>
              </a:lnSpc>
            </a:pPr>
            <a:r>
              <a:rPr lang="en-US" sz="2080" spc="-29">
                <a:solidFill>
                  <a:srgbClr val="525045"/>
                </a:solidFill>
                <a:latin typeface="Anton"/>
                <a:ea typeface="Anton"/>
                <a:cs typeface="Anton"/>
                <a:sym typeface="Anton"/>
              </a:rPr>
              <a:t>        </a:t>
            </a:r>
            <a:r>
              <a:rPr lang="en-US" sz="2080" spc="-29">
                <a:solidFill>
                  <a:srgbClr val="737373"/>
                </a:solidFill>
                <a:latin typeface="Anton"/>
                <a:ea typeface="Anton"/>
                <a:cs typeface="Anton"/>
                <a:sym typeface="Anton"/>
              </a:rPr>
              <a:t>SELECT Year_Num, Product, AVG(Price_Per_Unit) AS Avg_Price_Per_Unit</a:t>
            </a:r>
          </a:p>
          <a:p>
            <a:pPr defTabSz="609630">
              <a:lnSpc>
                <a:spcPts val="2080"/>
              </a:lnSpc>
            </a:pPr>
            <a:r>
              <a:rPr lang="en-US" sz="2080" spc="-29">
                <a:solidFill>
                  <a:srgbClr val="737373"/>
                </a:solidFill>
                <a:latin typeface="Anton"/>
                <a:ea typeface="Anton"/>
                <a:cs typeface="Anton"/>
                <a:sym typeface="Anton"/>
              </a:rPr>
              <a:t>FROM adidas_analytics_table</a:t>
            </a:r>
          </a:p>
          <a:p>
            <a:pPr defTabSz="609630">
              <a:lnSpc>
                <a:spcPts val="2080"/>
              </a:lnSpc>
            </a:pPr>
            <a:r>
              <a:rPr lang="en-US" sz="2080" spc="-29">
                <a:solidFill>
                  <a:srgbClr val="737373"/>
                </a:solidFill>
                <a:latin typeface="Anton"/>
                <a:ea typeface="Anton"/>
                <a:cs typeface="Anton"/>
                <a:sym typeface="Anton"/>
              </a:rPr>
              <a:t>GROUP BY Year_Num, Product</a:t>
            </a:r>
          </a:p>
          <a:p>
            <a:pPr defTabSz="609630">
              <a:lnSpc>
                <a:spcPts val="2080"/>
              </a:lnSpc>
              <a:spcBef>
                <a:spcPct val="0"/>
              </a:spcBef>
            </a:pPr>
            <a:r>
              <a:rPr lang="en-US" sz="2080" spc="-29">
                <a:solidFill>
                  <a:srgbClr val="737373"/>
                </a:solidFill>
                <a:latin typeface="Anton"/>
                <a:ea typeface="Anton"/>
                <a:cs typeface="Anton"/>
                <a:sym typeface="Anton"/>
              </a:rPr>
              <a:t>ORDER BY Year_Num, Avg_Price_Per_Unit ASC;</a:t>
            </a:r>
          </a:p>
          <a:p>
            <a:pPr defTabSz="609630">
              <a:lnSpc>
                <a:spcPts val="611"/>
              </a:lnSpc>
              <a:spcBef>
                <a:spcPct val="0"/>
              </a:spcBef>
            </a:pPr>
            <a:endParaRPr lang="en-US" sz="2080" spc="-29">
              <a:solidFill>
                <a:srgbClr val="737373"/>
              </a:solidFill>
              <a:latin typeface="Anton"/>
              <a:ea typeface="Anton"/>
              <a:cs typeface="Anton"/>
              <a:sym typeface="Anton"/>
            </a:endParaRPr>
          </a:p>
          <a:p>
            <a:pPr defTabSz="609630">
              <a:lnSpc>
                <a:spcPts val="611"/>
              </a:lnSpc>
              <a:spcBef>
                <a:spcPct val="0"/>
              </a:spcBef>
            </a:pPr>
            <a:endParaRPr lang="en-US" sz="2080" spc="-29">
              <a:solidFill>
                <a:srgbClr val="737373"/>
              </a:solidFill>
              <a:latin typeface="Anton"/>
              <a:ea typeface="Anton"/>
              <a:cs typeface="Anton"/>
              <a:sym typeface="Anton"/>
            </a:endParaRPr>
          </a:p>
          <a:p>
            <a:pPr defTabSz="609630">
              <a:lnSpc>
                <a:spcPts val="611"/>
              </a:lnSpc>
              <a:spcBef>
                <a:spcPct val="0"/>
              </a:spcBef>
            </a:pPr>
            <a:endParaRPr lang="en-US" sz="2080" spc="-29">
              <a:solidFill>
                <a:srgbClr val="737373"/>
              </a:solidFill>
              <a:latin typeface="Anton"/>
              <a:ea typeface="Anton"/>
              <a:cs typeface="Anton"/>
              <a:sym typeface="Anton"/>
            </a:endParaRPr>
          </a:p>
          <a:p>
            <a:pPr defTabSz="609630">
              <a:lnSpc>
                <a:spcPts val="611"/>
              </a:lnSpc>
              <a:spcBef>
                <a:spcPct val="0"/>
              </a:spcBef>
            </a:pPr>
            <a:endParaRPr lang="en-US" sz="2080" spc="-29">
              <a:solidFill>
                <a:srgbClr val="737373"/>
              </a:solidFill>
              <a:latin typeface="Anton"/>
              <a:ea typeface="Anton"/>
              <a:cs typeface="Anton"/>
              <a:sym typeface="Anton"/>
            </a:endParaRPr>
          </a:p>
          <a:p>
            <a:pPr defTabSz="609630">
              <a:lnSpc>
                <a:spcPts val="611"/>
              </a:lnSpc>
              <a:spcBef>
                <a:spcPct val="0"/>
              </a:spcBef>
            </a:pPr>
            <a:endParaRPr lang="en-US" sz="2080" spc="-29">
              <a:solidFill>
                <a:srgbClr val="737373"/>
              </a:solidFill>
              <a:latin typeface="Anton"/>
              <a:ea typeface="Anton"/>
              <a:cs typeface="Anton"/>
              <a:sym typeface="Anton"/>
            </a:endParaRPr>
          </a:p>
        </p:txBody>
      </p:sp>
    </p:spTree>
    <p:extLst>
      <p:ext uri="{BB962C8B-B14F-4D97-AF65-F5344CB8AC3E}">
        <p14:creationId xmlns:p14="http://schemas.microsoft.com/office/powerpoint/2010/main" val="973382781"/>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8380</TotalTime>
  <Words>10726</Words>
  <Application>Microsoft Office PowerPoint</Application>
  <PresentationFormat>Widescreen</PresentationFormat>
  <Paragraphs>847</Paragraphs>
  <Slides>34</Slides>
  <Notes>2</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34</vt:i4>
      </vt:variant>
    </vt:vector>
  </HeadingPairs>
  <TitlesOfParts>
    <vt:vector size="51" baseType="lpstr">
      <vt:lpstr>Anton</vt:lpstr>
      <vt:lpstr>Arial</vt:lpstr>
      <vt:lpstr>Calibri</vt:lpstr>
      <vt:lpstr>Calibri Light</vt:lpstr>
      <vt:lpstr>Canva Sans</vt:lpstr>
      <vt:lpstr>Canva Sans Bold</vt:lpstr>
      <vt:lpstr>Consolas</vt:lpstr>
      <vt:lpstr>Garamond</vt:lpstr>
      <vt:lpstr>Georgia</vt:lpstr>
      <vt:lpstr>Montserrat</vt:lpstr>
      <vt:lpstr>Montserrat Bold</vt:lpstr>
      <vt:lpstr>Poppins</vt:lpstr>
      <vt:lpstr>Poppins Bold</vt:lpstr>
      <vt:lpstr>Times New Roman</vt:lpstr>
      <vt:lpstr>Office Theme</vt:lpstr>
      <vt:lpstr>1_Office Theme</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Beatrice Wakonyo</cp:lastModifiedBy>
  <cp:revision>9</cp:revision>
  <dcterms:created xsi:type="dcterms:W3CDTF">2026-07-17T14:26:28Z</dcterms:created>
  <dcterms:modified xsi:type="dcterms:W3CDTF">2026-07-23T13:02:49Z</dcterms:modified>
</cp:coreProperties>
</file>